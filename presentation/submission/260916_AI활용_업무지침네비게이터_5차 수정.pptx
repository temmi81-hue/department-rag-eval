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0" r:id="rId1"/>
  </p:sldMasterIdLst>
  <p:notesMasterIdLst>
    <p:notesMasterId r:id="rId9"/>
  </p:notesMasterIdLst>
  <p:sldIdLst>
    <p:sldId id="256" r:id="rId2"/>
    <p:sldId id="263" r:id="rId3"/>
    <p:sldId id="278" r:id="rId4"/>
    <p:sldId id="279" r:id="rId5"/>
    <p:sldId id="282" r:id="rId6"/>
    <p:sldId id="280" r:id="rId7"/>
    <p:sldId id="281" r:id="rId8"/>
  </p:sldIdLst>
  <p:sldSz cx="9906000" cy="6858000" type="A4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HY견고딕" panose="02030600000101010101" pitchFamily="18" charset="-127"/>
      <p:regular r:id="rId16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6F7"/>
    <a:srgbClr val="F5F6F8"/>
    <a:srgbClr val="DFE2E7"/>
    <a:srgbClr val="DDE0E5"/>
    <a:srgbClr val="F4F5F9"/>
    <a:srgbClr val="E1E6F0"/>
    <a:srgbClr val="779FE0"/>
    <a:srgbClr val="EDF1FA"/>
    <a:srgbClr val="F4F6F8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27" autoAdjust="0"/>
  </p:normalViewPr>
  <p:slideViewPr>
    <p:cSldViewPr snapToGrid="0">
      <p:cViewPr varScale="1">
        <p:scale>
          <a:sx n="74" d="100"/>
          <a:sy n="74" d="100"/>
        </p:scale>
        <p:origin x="14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869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27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272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26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2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44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3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4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2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5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0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11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" descr="PPT-A3.jpg">
            <a:extLst>
              <a:ext uri="{FF2B5EF4-FFF2-40B4-BE49-F238E27FC236}">
                <a16:creationId xmlns:a16="http://schemas.microsoft.com/office/drawing/2014/main" id="{DE8B8C1A-8256-4308-B61E-14996DBA52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88495"/>
          <a:stretch/>
        </p:blipFill>
        <p:spPr>
          <a:xfrm>
            <a:off x="0" y="0"/>
            <a:ext cx="9906000" cy="61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sv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2.svg"/><Relationship Id="rId7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hyperlink" Target="department-workflow-demo-last.mp4" TargetMode="External"/><Relationship Id="rId10" Type="http://schemas.openxmlformats.org/officeDocument/2006/relationships/image" Target="../media/image33.svg"/><Relationship Id="rId4" Type="http://schemas.openxmlformats.org/officeDocument/2006/relationships/image" Target="../media/image4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F7457-F4CC-44F8-B8E5-ABFFB72D5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1" descr="01.jpg">
            <a:extLst>
              <a:ext uri="{FF2B5EF4-FFF2-40B4-BE49-F238E27FC236}">
                <a16:creationId xmlns:a16="http://schemas.microsoft.com/office/drawing/2014/main" id="{132316C5-A493-4055-91A0-050D22AA5C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1" cy="6858000"/>
          </a:xfrm>
          <a:prstGeom prst="rect">
            <a:avLst/>
          </a:prstGeom>
        </p:spPr>
      </p:pic>
      <p:pic>
        <p:nvPicPr>
          <p:cNvPr id="5" name="Picture 2" descr="https://menu.mt.co.kr/moneyweek/thumb/2023/02/24/06/2023022414024538009_1.jpg">
            <a:extLst>
              <a:ext uri="{FF2B5EF4-FFF2-40B4-BE49-F238E27FC236}">
                <a16:creationId xmlns:a16="http://schemas.microsoft.com/office/drawing/2014/main" id="{D10E8ADE-AC02-4C77-A4D3-25F246A9A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542" y="206132"/>
            <a:ext cx="1054351" cy="41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8A812F-28C0-44F1-9199-2D205E7BA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357" y="5533834"/>
            <a:ext cx="1404000" cy="34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’26. </a:t>
            </a:r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16.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D8B51F-1031-48AA-8217-E73F0CB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883" y="6064424"/>
            <a:ext cx="4580949" cy="35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포스코퓨처엠 송다혜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EAFC9585-92B4-4636-A7E1-4FF2DBA94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33" y="2171601"/>
            <a:ext cx="9908133" cy="1389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5738" tIns="75738" rIns="75738" bIns="75738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업무 상황을 입력하면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</a:t>
            </a: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필요한 절차와 협업 부서를 안내합니다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en-US" altLang="ko-KR" sz="3600" b="1" kern="0" spc="-1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F36BC-9235-4E18-B840-B5F6E3DF61ED}"/>
              </a:ext>
            </a:extLst>
          </p:cNvPr>
          <p:cNvSpPr txBox="1"/>
          <p:nvPr/>
        </p:nvSpPr>
        <p:spPr>
          <a:xfrm>
            <a:off x="823961" y="1782172"/>
            <a:ext cx="275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+mn-ea"/>
              </a:rPr>
              <a:t>[</a:t>
            </a:r>
            <a:r>
              <a:rPr lang="ko-KR" altLang="en-US">
                <a:latin typeface="+mn-ea"/>
              </a:rPr>
              <a:t>업무 지침 네비게이터</a:t>
            </a:r>
            <a:r>
              <a:rPr lang="en-US" altLang="ko-KR">
                <a:latin typeface="+mn-ea"/>
              </a:rPr>
              <a:t>]</a:t>
            </a:r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183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0BA70C2-B07D-4FB2-8044-D17828F175C1}"/>
              </a:ext>
            </a:extLst>
          </p:cNvPr>
          <p:cNvSpPr>
            <a:spLocks noGrp="1"/>
          </p:cNvSpPr>
          <p:nvPr/>
        </p:nvSpPr>
        <p:spPr>
          <a:xfrm>
            <a:off x="7252560" y="5147722"/>
            <a:ext cx="2386148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내용 확인</a:t>
            </a:r>
            <a:r>
              <a:rPr lang="en-US" altLang="ko-KR" sz="1400" b="1"/>
              <a:t>, </a:t>
            </a:r>
            <a:r>
              <a:rPr lang="ko-KR" altLang="en-US" sz="1400" b="1"/>
              <a:t>업무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입력만으로 필요 절차와 지침을 한 번에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『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지침 네비게이터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』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/>
          <p:nvPr/>
        </p:nvSpPr>
        <p:spPr>
          <a:xfrm>
            <a:off x="556286" y="709192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검토 배경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누구나 필요한 업무 프로세스를 쉽게 이해하고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,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안정적으로 이행할 수 있는 지원 필요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A7927B-1FC5-4002-88D0-9247A5AECD7B}"/>
              </a:ext>
            </a:extLst>
          </p:cNvPr>
          <p:cNvGrpSpPr/>
          <p:nvPr/>
        </p:nvGrpSpPr>
        <p:grpSpPr>
          <a:xfrm>
            <a:off x="310399" y="819181"/>
            <a:ext cx="194324" cy="180020"/>
            <a:chOff x="416496" y="3577457"/>
            <a:chExt cx="194324" cy="180020"/>
          </a:xfrm>
        </p:grpSpPr>
        <p:sp>
          <p:nvSpPr>
            <p:cNvPr id="9" name="모서리가 둥근 직사각형 320">
              <a:extLst>
                <a:ext uri="{FF2B5EF4-FFF2-40B4-BE49-F238E27FC236}">
                  <a16:creationId xmlns:a16="http://schemas.microsoft.com/office/drawing/2014/main" id="{64991931-304B-4A79-8ABF-F87172C315C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10" name="그림 9" descr="7.png">
              <a:extLst>
                <a:ext uri="{FF2B5EF4-FFF2-40B4-BE49-F238E27FC236}">
                  <a16:creationId xmlns:a16="http://schemas.microsoft.com/office/drawing/2014/main" id="{0EFF1F02-3E3B-4082-8B1A-A822DE53A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56DA0D-7D8A-4307-854A-0B0967B6A766}"/>
              </a:ext>
            </a:extLst>
          </p:cNvPr>
          <p:cNvSpPr/>
          <p:nvPr/>
        </p:nvSpPr>
        <p:spPr>
          <a:xfrm>
            <a:off x="556286" y="4300007"/>
            <a:ext cx="9218275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추진 방향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 </a:t>
            </a:r>
            <a:r>
              <a:rPr lang="ko-KR" altLang="en-US" sz="1400">
                <a:latin typeface="+mn-ea"/>
              </a:rPr>
              <a:t>담당자의 경험과 개별 탐색 방식에서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업무별 처리 절차와 지침을 한 번에 안내하는 방식으로 전환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A108875-0952-48E3-AB80-BF0F0F01D762}"/>
              </a:ext>
            </a:extLst>
          </p:cNvPr>
          <p:cNvGrpSpPr/>
          <p:nvPr/>
        </p:nvGrpSpPr>
        <p:grpSpPr>
          <a:xfrm>
            <a:off x="310399" y="4409996"/>
            <a:ext cx="194324" cy="180020"/>
            <a:chOff x="416496" y="3577457"/>
            <a:chExt cx="194324" cy="180020"/>
          </a:xfrm>
        </p:grpSpPr>
        <p:sp>
          <p:nvSpPr>
            <p:cNvPr id="20" name="모서리가 둥근 직사각형 320">
              <a:extLst>
                <a:ext uri="{FF2B5EF4-FFF2-40B4-BE49-F238E27FC236}">
                  <a16:creationId xmlns:a16="http://schemas.microsoft.com/office/drawing/2014/main" id="{C8058689-94E4-446F-AA2A-B4307B03BD15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21" name="그림 20" descr="7.png">
              <a:extLst>
                <a:ext uri="{FF2B5EF4-FFF2-40B4-BE49-F238E27FC236}">
                  <a16:creationId xmlns:a16="http://schemas.microsoft.com/office/drawing/2014/main" id="{79B5018E-A44B-4CB4-A228-3DB8F42FC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2049F6D-52F7-4288-9113-D28B84A81059}"/>
              </a:ext>
            </a:extLst>
          </p:cNvPr>
          <p:cNvSpPr>
            <a:spLocks noGrp="1"/>
          </p:cNvSpPr>
          <p:nvPr/>
        </p:nvSpPr>
        <p:spPr>
          <a:xfrm>
            <a:off x="431339" y="5147722"/>
            <a:ext cx="2252113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 업무 입력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B59CCF-E875-4AEA-AAD6-272EB49A1CBF}"/>
              </a:ext>
            </a:extLst>
          </p:cNvPr>
          <p:cNvSpPr/>
          <p:nvPr/>
        </p:nvSpPr>
        <p:spPr>
          <a:xfrm>
            <a:off x="438419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BBD58B2-2387-4964-99E8-F34766B9469C}"/>
              </a:ext>
            </a:extLst>
          </p:cNvPr>
          <p:cNvSpPr>
            <a:spLocks noGrp="1"/>
          </p:cNvSpPr>
          <p:nvPr/>
        </p:nvSpPr>
        <p:spPr>
          <a:xfrm>
            <a:off x="2862546" y="5147722"/>
            <a:ext cx="4192537" cy="478467"/>
          </a:xfrm>
          <a:prstGeom prst="roundRect">
            <a:avLst>
              <a:gd name="adj" fmla="val 15236"/>
            </a:avLst>
          </a:prstGeom>
          <a:solidFill>
            <a:srgbClr val="F1ECF8"/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r>
              <a:rPr lang="ko-KR" altLang="en-US" sz="1400" b="1"/>
              <a:t>               키워드 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〮 </a:t>
            </a:r>
            <a:r>
              <a:rPr lang="ko-KR" altLang="en-US" sz="1400" b="1"/>
              <a:t>유형 분석              절차</a:t>
            </a:r>
            <a:r>
              <a:rPr lang="en-US" altLang="ko-KR" sz="1400" b="1"/>
              <a:t> 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〮 </a:t>
            </a:r>
            <a:r>
              <a:rPr lang="ko-KR" altLang="en-US" sz="1400" b="1"/>
              <a:t>지침 안내                   </a:t>
            </a:r>
            <a:r>
              <a:rPr lang="en-US" altLang="ko-KR" sz="1400" b="1"/>
              <a:t> </a:t>
            </a:r>
            <a:endParaRPr lang="ko-KR" altLang="en-US" sz="1400" b="1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5240A7-1ADF-4299-96E9-D69490812910}"/>
              </a:ext>
            </a:extLst>
          </p:cNvPr>
          <p:cNvSpPr/>
          <p:nvPr/>
        </p:nvSpPr>
        <p:spPr>
          <a:xfrm>
            <a:off x="2862546" y="4971163"/>
            <a:ext cx="647700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/>
              <a:t>서비스</a:t>
            </a:r>
          </a:p>
        </p:txBody>
      </p:sp>
      <p:pic>
        <p:nvPicPr>
          <p:cNvPr id="5" name="그래픽 4" descr="아이디어를 가진 사람 단색으로 채워진">
            <a:extLst>
              <a:ext uri="{FF2B5EF4-FFF2-40B4-BE49-F238E27FC236}">
                <a16:creationId xmlns:a16="http://schemas.microsoft.com/office/drawing/2014/main" id="{603765C0-89CB-44A9-A623-57C762AFB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1305" y="5175960"/>
            <a:ext cx="525332" cy="443544"/>
          </a:xfrm>
          <a:prstGeom prst="rect">
            <a:avLst/>
          </a:prstGeom>
        </p:spPr>
      </p:pic>
      <p:pic>
        <p:nvPicPr>
          <p:cNvPr id="24" name="그래픽 23" descr="사용자 단색으로 채워진">
            <a:extLst>
              <a:ext uri="{FF2B5EF4-FFF2-40B4-BE49-F238E27FC236}">
                <a16:creationId xmlns:a16="http://schemas.microsoft.com/office/drawing/2014/main" id="{7C222A63-90C8-4CC3-A48C-632244EF6F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491" y="5101671"/>
            <a:ext cx="597557" cy="597557"/>
          </a:xfrm>
          <a:prstGeom prst="rect">
            <a:avLst/>
          </a:prstGeom>
        </p:spPr>
      </p:pic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AB8D90E4-C1C8-41F3-BEBC-5093CF686F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76431" y="5167171"/>
            <a:ext cx="425550" cy="425550"/>
          </a:xfrm>
          <a:prstGeom prst="rect">
            <a:avLst/>
          </a:prstGeom>
        </p:spPr>
      </p:pic>
      <p:pic>
        <p:nvPicPr>
          <p:cNvPr id="31" name="그래픽 30" descr="클라우드 컴퓨팅 단색으로 채워진">
            <a:extLst>
              <a:ext uri="{FF2B5EF4-FFF2-40B4-BE49-F238E27FC236}">
                <a16:creationId xmlns:a16="http://schemas.microsoft.com/office/drawing/2014/main" id="{A9EBA402-CA77-49DE-9FC9-B6F93C2092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73622" y="5196056"/>
            <a:ext cx="425550" cy="425550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05EFF4C-9138-4C0F-8DE4-9B72063D888C}"/>
              </a:ext>
            </a:extLst>
          </p:cNvPr>
          <p:cNvSpPr/>
          <p:nvPr/>
        </p:nvSpPr>
        <p:spPr>
          <a:xfrm>
            <a:off x="7252560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65F65E2-5821-4B06-A2A3-09E6B588F80E}"/>
              </a:ext>
            </a:extLst>
          </p:cNvPr>
          <p:cNvSpPr/>
          <p:nvPr/>
        </p:nvSpPr>
        <p:spPr>
          <a:xfrm>
            <a:off x="400395" y="598812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필요한 지침을 빠르게 찾아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시작부터 완료까지 정확하게 업무를 처리하도록 체계적으로 지원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707C160-1EC8-44FC-B4D0-7B733975BF70}"/>
              </a:ext>
            </a:extLst>
          </p:cNvPr>
          <p:cNvGrpSpPr/>
          <p:nvPr/>
        </p:nvGrpSpPr>
        <p:grpSpPr>
          <a:xfrm>
            <a:off x="408628" y="6025044"/>
            <a:ext cx="511817" cy="431452"/>
            <a:chOff x="-895525" y="3274733"/>
            <a:chExt cx="619300" cy="474597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A20131F-F70E-4A56-981E-03309AF0D12C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화살표: 오른쪽 40">
              <a:extLst>
                <a:ext uri="{FF2B5EF4-FFF2-40B4-BE49-F238E27FC236}">
                  <a16:creationId xmlns:a16="http://schemas.microsoft.com/office/drawing/2014/main" id="{82487A50-08B9-4EF0-9A7E-A9A654CF1493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FB32620-BF19-4B11-B076-46885445DCD3}"/>
              </a:ext>
            </a:extLst>
          </p:cNvPr>
          <p:cNvSpPr>
            <a:spLocks noGrp="1"/>
          </p:cNvSpPr>
          <p:nvPr/>
        </p:nvSpPr>
        <p:spPr>
          <a:xfrm>
            <a:off x="330495" y="4817740"/>
            <a:ext cx="9409457" cy="99916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CBE0F7A1-7FBC-4044-82C1-997A319E3071}"/>
              </a:ext>
            </a:extLst>
          </p:cNvPr>
          <p:cNvSpPr/>
          <p:nvPr/>
        </p:nvSpPr>
        <p:spPr>
          <a:xfrm rot="5400000">
            <a:off x="2699726" y="5328339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2EDC7E73-7337-42B2-928F-D70EB47D31EC}"/>
              </a:ext>
            </a:extLst>
          </p:cNvPr>
          <p:cNvSpPr/>
          <p:nvPr/>
        </p:nvSpPr>
        <p:spPr>
          <a:xfrm rot="5400000">
            <a:off x="7072446" y="5330017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30FD96-B91F-4CF6-97C0-E4128ECEA73A}"/>
              </a:ext>
            </a:extLst>
          </p:cNvPr>
          <p:cNvSpPr/>
          <p:nvPr/>
        </p:nvSpPr>
        <p:spPr>
          <a:xfrm>
            <a:off x="330495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1C99C70-2C60-484C-89CD-FC823E3E9CFE}"/>
              </a:ext>
            </a:extLst>
          </p:cNvPr>
          <p:cNvSpPr/>
          <p:nvPr/>
        </p:nvSpPr>
        <p:spPr>
          <a:xfrm>
            <a:off x="3527540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2465051-9ABA-4C7D-A1B9-A3D705ADEC72}"/>
              </a:ext>
            </a:extLst>
          </p:cNvPr>
          <p:cNvSpPr/>
          <p:nvPr/>
        </p:nvSpPr>
        <p:spPr>
          <a:xfrm>
            <a:off x="6713611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75749-6157-40BB-A74E-394D6C347B77}"/>
              </a:ext>
            </a:extLst>
          </p:cNvPr>
          <p:cNvSpPr txBox="1"/>
          <p:nvPr/>
        </p:nvSpPr>
        <p:spPr>
          <a:xfrm>
            <a:off x="562773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회사 업무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336D8E1-00F3-4635-8A14-6290ADD2EACF}"/>
              </a:ext>
            </a:extLst>
          </p:cNvPr>
          <p:cNvCxnSpPr>
            <a:cxnSpLocks/>
          </p:cNvCxnSpPr>
          <p:nvPr/>
        </p:nvCxnSpPr>
        <p:spPr>
          <a:xfrm>
            <a:off x="470559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BBEF99-4056-4026-9C0A-5F83DA10A174}"/>
              </a:ext>
            </a:extLst>
          </p:cNvPr>
          <p:cNvSpPr txBox="1"/>
          <p:nvPr/>
        </p:nvSpPr>
        <p:spPr>
          <a:xfrm>
            <a:off x="3779919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문제점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F79F0D2-2158-4094-8A1A-0BCE7B519E87}"/>
              </a:ext>
            </a:extLst>
          </p:cNvPr>
          <p:cNvCxnSpPr>
            <a:cxnSpLocks/>
          </p:cNvCxnSpPr>
          <p:nvPr/>
        </p:nvCxnSpPr>
        <p:spPr>
          <a:xfrm>
            <a:off x="3687705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584307B-0BB5-4521-B4EE-F153D3B5F5AE}"/>
              </a:ext>
            </a:extLst>
          </p:cNvPr>
          <p:cNvSpPr txBox="1"/>
          <p:nvPr/>
        </p:nvSpPr>
        <p:spPr>
          <a:xfrm>
            <a:off x="6945888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개선 방안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9796B37-8472-4D2F-A913-646D47B51A80}"/>
              </a:ext>
            </a:extLst>
          </p:cNvPr>
          <p:cNvCxnSpPr>
            <a:cxnSpLocks/>
          </p:cNvCxnSpPr>
          <p:nvPr/>
        </p:nvCxnSpPr>
        <p:spPr>
          <a:xfrm>
            <a:off x="6853674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E79726-461E-4F9B-A835-7A3125F4632A}"/>
              </a:ext>
            </a:extLst>
          </p:cNvPr>
          <p:cNvSpPr txBox="1"/>
          <p:nvPr/>
        </p:nvSpPr>
        <p:spPr>
          <a:xfrm>
            <a:off x="349148" y="2995774"/>
            <a:ext cx="2985461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정해진 프로세스와 절차에 따라 처리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담당자가 바뀌어도 필수 절차 준수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일관된 결과물 확보 필요</a:t>
            </a:r>
          </a:p>
        </p:txBody>
      </p:sp>
      <p:pic>
        <p:nvPicPr>
          <p:cNvPr id="13" name="그래픽 12" descr="체크리스트 단색으로 채워진">
            <a:extLst>
              <a:ext uri="{FF2B5EF4-FFF2-40B4-BE49-F238E27FC236}">
                <a16:creationId xmlns:a16="http://schemas.microsoft.com/office/drawing/2014/main" id="{0135F75B-0F42-4B60-AC08-FD2CF59A28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519" y="1959127"/>
            <a:ext cx="755703" cy="7557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0CE7C00-4BD4-4C02-BA3C-66110498AE87}"/>
              </a:ext>
            </a:extLst>
          </p:cNvPr>
          <p:cNvSpPr txBox="1"/>
          <p:nvPr/>
        </p:nvSpPr>
        <p:spPr>
          <a:xfrm>
            <a:off x="3527541" y="2995774"/>
            <a:ext cx="3114419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/>
              <a:t>필요한 절차와 지침을 찾는데 시간 소요</a:t>
            </a:r>
            <a:endParaRPr lang="en-US" altLang="ko-KR" sz="1300" spc="-4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/>
              <a:t> </a:t>
            </a:r>
            <a:r>
              <a:rPr lang="ko-KR" altLang="en-US" sz="1300"/>
              <a:t>담당자마다 처리 방식이 다름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 누락과 편차 발생</a:t>
            </a:r>
          </a:p>
        </p:txBody>
      </p:sp>
      <p:pic>
        <p:nvPicPr>
          <p:cNvPr id="16" name="그래픽 15" descr="물음표 단색으로 채워진">
            <a:extLst>
              <a:ext uri="{FF2B5EF4-FFF2-40B4-BE49-F238E27FC236}">
                <a16:creationId xmlns:a16="http://schemas.microsoft.com/office/drawing/2014/main" id="{37F2DC6D-0D3D-47E1-B656-D277CD7379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946" y="1959127"/>
            <a:ext cx="755703" cy="75570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FA5A8A9-28C1-465A-8FA8-791A2996B35D}"/>
              </a:ext>
            </a:extLst>
          </p:cNvPr>
          <p:cNvSpPr txBox="1"/>
          <p:nvPr/>
        </p:nvSpPr>
        <p:spPr>
          <a:xfrm>
            <a:off x="6713612" y="2995774"/>
            <a:ext cx="2985461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수행하려는 업무를 </a:t>
            </a:r>
            <a:r>
              <a:rPr lang="ko-KR" altLang="en-US" sz="1300"/>
              <a:t>입력하면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 b="1"/>
              <a:t>처리 절차와 지침을 쉽게 안내하는</a:t>
            </a:r>
            <a:endParaRPr lang="en-US" altLang="ko-KR" sz="1300" b="1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 b="1"/>
              <a:t>  </a:t>
            </a:r>
            <a:r>
              <a:rPr lang="ko-KR" altLang="en-US" sz="1300" b="1"/>
              <a:t> </a:t>
            </a:r>
            <a:r>
              <a:rPr lang="en-US" altLang="ko-KR" sz="1300" b="1"/>
              <a:t>『</a:t>
            </a:r>
            <a:r>
              <a:rPr lang="ko-KR" altLang="en-US" sz="1300" b="1"/>
              <a:t>업무 지침 네비게이터</a:t>
            </a:r>
            <a:r>
              <a:rPr lang="en-US" altLang="ko-KR" sz="1300" b="1"/>
              <a:t>』 </a:t>
            </a:r>
            <a:r>
              <a:rPr lang="ko-KR" altLang="en-US" sz="1300" b="1"/>
              <a:t>구축</a:t>
            </a:r>
            <a:endParaRPr lang="ko-KR" altLang="en-US" sz="130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D207778-395A-407B-BF36-D2E69C77569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630" y="1814756"/>
            <a:ext cx="1899424" cy="106899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4379734-9EBD-4B03-9465-8E1A8B1D887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(1/6)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7162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88D8FC-7792-4E02-9677-B9BDAB9C7ACB}"/>
              </a:ext>
            </a:extLst>
          </p:cNvPr>
          <p:cNvSpPr/>
          <p:nvPr/>
        </p:nvSpPr>
        <p:spPr>
          <a:xfrm>
            <a:off x="269680" y="6101535"/>
            <a:ext cx="9420639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ctr" anchorCtr="0"/>
          <a:lstStyle/>
          <a:p>
            <a:pPr algn="ctr"/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      정성적 검증에서 정답 데이터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·RAGAS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기반 정량 평가로 발전 → 검색 품질 개선 및 반복 검증 체계 확보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규칙 기반에서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RAGAS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평가까지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개발 과정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7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개발 과정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8A0DD6D-FD42-4F2D-8B5C-7E3028B3CFB6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(2/6)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F7BC28A-8B0A-4781-A61B-331967B0BBBD}"/>
              </a:ext>
            </a:extLst>
          </p:cNvPr>
          <p:cNvSpPr/>
          <p:nvPr/>
        </p:nvSpPr>
        <p:spPr>
          <a:xfrm>
            <a:off x="279093" y="1848909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39871CD-9C0F-406B-AADC-C37FA842222B}"/>
              </a:ext>
            </a:extLst>
          </p:cNvPr>
          <p:cNvSpPr/>
          <p:nvPr/>
        </p:nvSpPr>
        <p:spPr>
          <a:xfrm>
            <a:off x="279093" y="1848907"/>
            <a:ext cx="2237155" cy="53228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100">
                <a:solidFill>
                  <a:schemeClr val="tx1"/>
                </a:solidFill>
                <a:latin typeface="+mn-ea"/>
              </a:rPr>
              <a:t>① 범위 및 대표부서 선정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C69ECFE-782A-40A2-9BA9-888C46599EE9}"/>
              </a:ext>
            </a:extLst>
          </p:cNvPr>
          <p:cNvSpPr/>
          <p:nvPr/>
        </p:nvSpPr>
        <p:spPr>
          <a:xfrm>
            <a:off x="2642487" y="1846300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F910A5D-2A7F-45DA-9187-7C5766E52393}"/>
              </a:ext>
            </a:extLst>
          </p:cNvPr>
          <p:cNvSpPr/>
          <p:nvPr/>
        </p:nvSpPr>
        <p:spPr>
          <a:xfrm>
            <a:off x="2642487" y="1846298"/>
            <a:ext cx="2237155" cy="532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② 검증 데이터 확보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699BC76-A765-4B9A-89E0-AD0291BC01F0}"/>
              </a:ext>
            </a:extLst>
          </p:cNvPr>
          <p:cNvSpPr/>
          <p:nvPr/>
        </p:nvSpPr>
        <p:spPr>
          <a:xfrm>
            <a:off x="5005881" y="1846300"/>
            <a:ext cx="2237155" cy="154265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451CED7-4E43-48BE-9EDB-E3F402E72EE1}"/>
              </a:ext>
            </a:extLst>
          </p:cNvPr>
          <p:cNvSpPr/>
          <p:nvPr/>
        </p:nvSpPr>
        <p:spPr>
          <a:xfrm>
            <a:off x="5005881" y="1846298"/>
            <a:ext cx="2237155" cy="5322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③ 대표 질의 선정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9DDBDF5-E08E-457F-A863-9A7872E1953C}"/>
              </a:ext>
            </a:extLst>
          </p:cNvPr>
          <p:cNvSpPr/>
          <p:nvPr/>
        </p:nvSpPr>
        <p:spPr>
          <a:xfrm>
            <a:off x="7369275" y="1846300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E45B53C-1156-4964-83BB-AB1AAC3ED977}"/>
              </a:ext>
            </a:extLst>
          </p:cNvPr>
          <p:cNvSpPr/>
          <p:nvPr/>
        </p:nvSpPr>
        <p:spPr>
          <a:xfrm>
            <a:off x="7369275" y="1846298"/>
            <a:ext cx="2237155" cy="53228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④ 정확성 검토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및 보완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FEFB37-48A3-4DF0-9B20-FFA75F35D809}"/>
              </a:ext>
            </a:extLst>
          </p:cNvPr>
          <p:cNvSpPr txBox="1"/>
          <p:nvPr/>
        </p:nvSpPr>
        <p:spPr>
          <a:xfrm>
            <a:off x="280255" y="2439977"/>
            <a:ext cx="2351825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사규</a:t>
            </a:r>
            <a:r>
              <a:rPr lang="en-US" altLang="ko-KR" sz="1300"/>
              <a:t>, </a:t>
            </a:r>
            <a:r>
              <a:rPr lang="ko-KR" altLang="en-US" sz="1300"/>
              <a:t>정책</a:t>
            </a:r>
            <a:r>
              <a:rPr lang="en-US" altLang="ko-KR" sz="1300"/>
              <a:t> </a:t>
            </a:r>
            <a:r>
              <a:rPr lang="ko-KR" altLang="en-US" sz="1300"/>
              <a:t>문서 </a:t>
            </a:r>
            <a:r>
              <a:rPr lang="en-US" altLang="ko-KR" sz="1300"/>
              <a:t>3,450</a:t>
            </a:r>
            <a:r>
              <a:rPr lang="ko-KR" altLang="en-US" sz="1300"/>
              <a:t>여개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조직 </a:t>
            </a:r>
            <a:r>
              <a:rPr lang="en-US" altLang="ko-KR" sz="1300"/>
              <a:t>126</a:t>
            </a:r>
            <a:r>
              <a:rPr lang="ko-KR" altLang="en-US" sz="1300"/>
              <a:t>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대표부서 선정 </a:t>
            </a:r>
            <a:r>
              <a:rPr lang="en-US" altLang="ko-KR" sz="1300"/>
              <a:t>(10 </a:t>
            </a:r>
            <a:r>
              <a:rPr lang="ko-KR" altLang="en-US" sz="1300" spc="-40">
                <a:latin typeface="+mn-ea"/>
              </a:rPr>
              <a:t>→</a:t>
            </a:r>
            <a:r>
              <a:rPr lang="ko-KR" altLang="en-US" sz="1300"/>
              <a:t> </a:t>
            </a:r>
            <a:r>
              <a:rPr lang="en-US" altLang="ko-KR" sz="1300"/>
              <a:t>35</a:t>
            </a:r>
            <a:r>
              <a:rPr lang="ko-KR" altLang="en-US" sz="1300"/>
              <a:t>개</a:t>
            </a:r>
            <a:r>
              <a:rPr lang="en-US" altLang="ko-KR" sz="1300"/>
              <a:t>)</a:t>
            </a:r>
            <a:endParaRPr lang="ko-KR" altLang="en-US" sz="13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8615CA-2557-4029-87F2-2D6D0650B6EE}"/>
              </a:ext>
            </a:extLst>
          </p:cNvPr>
          <p:cNvSpPr txBox="1"/>
          <p:nvPr/>
        </p:nvSpPr>
        <p:spPr>
          <a:xfrm>
            <a:off x="2642487" y="2439977"/>
            <a:ext cx="2416771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</a:t>
            </a:r>
            <a:r>
              <a:rPr lang="en-US" altLang="ko-KR" sz="1300"/>
              <a:t> </a:t>
            </a:r>
            <a:r>
              <a:rPr lang="ko-KR" altLang="en-US" sz="1300"/>
              <a:t>절차</a:t>
            </a:r>
            <a:r>
              <a:rPr lang="en-US" altLang="ko-KR" sz="1300"/>
              <a:t>, </a:t>
            </a:r>
            <a:r>
              <a:rPr lang="ko-KR" altLang="en-US" sz="1300"/>
              <a:t>지침</a:t>
            </a:r>
            <a:r>
              <a:rPr lang="en-US" altLang="ko-KR" sz="1300"/>
              <a:t>, </a:t>
            </a:r>
            <a:r>
              <a:rPr lang="ko-KR" altLang="en-US" sz="1300"/>
              <a:t>조직 정보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en-US" altLang="ko-KR" sz="1300" spc="-100">
                <a:latin typeface="+mn-ea"/>
              </a:rPr>
              <a:t>P-GPT</a:t>
            </a:r>
            <a:r>
              <a:rPr lang="ko-KR" altLang="en-US" sz="1300" spc="-100">
                <a:latin typeface="+mn-ea"/>
              </a:rPr>
              <a:t> 활용 더미 데이터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FDEEDF-9C10-4DE3-B44E-5E0063B4B8E2}"/>
              </a:ext>
            </a:extLst>
          </p:cNvPr>
          <p:cNvSpPr txBox="1"/>
          <p:nvPr/>
        </p:nvSpPr>
        <p:spPr>
          <a:xfrm>
            <a:off x="5005526" y="2439977"/>
            <a:ext cx="2363750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사용자 중심 대표 질의 검토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웹서비스 검색 결과 확인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479621-151D-4A7F-938E-CF58FEE31A01}"/>
              </a:ext>
            </a:extLst>
          </p:cNvPr>
          <p:cNvSpPr txBox="1"/>
          <p:nvPr/>
        </p:nvSpPr>
        <p:spPr>
          <a:xfrm>
            <a:off x="7358884" y="2439977"/>
            <a:ext cx="2363750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질의와 결과 반복 검증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검색 편중 확인 </a:t>
            </a:r>
            <a:endParaRPr lang="en-US" altLang="ko-KR" sz="1300"/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</a:t>
            </a:r>
            <a:r>
              <a:rPr lang="ko-KR" altLang="en-US" sz="1300" spc="-40">
                <a:latin typeface="+mn-ea"/>
              </a:rPr>
              <a:t>→ 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투자〮회계</a:t>
            </a:r>
            <a:r>
              <a:rPr lang="en-US" altLang="ko-KR" sz="1300" spc="-40">
                <a:solidFill>
                  <a:srgbClr val="0000FF"/>
                </a:solidFill>
                <a:latin typeface="+mn-ea"/>
              </a:rPr>
              <a:t> 9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개부서로 조정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3A9AF10E-363D-4C5C-8D6C-FC84F0123DD6}"/>
              </a:ext>
            </a:extLst>
          </p:cNvPr>
          <p:cNvCxnSpPr>
            <a:cxnSpLocks/>
          </p:cNvCxnSpPr>
          <p:nvPr/>
        </p:nvCxnSpPr>
        <p:spPr>
          <a:xfrm rot="5400000" flipH="1">
            <a:off x="7296862" y="2219628"/>
            <a:ext cx="18586" cy="2363394"/>
          </a:xfrm>
          <a:prstGeom prst="bentConnector3">
            <a:avLst>
              <a:gd name="adj1" fmla="val -924047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E50DD97-7199-4C37-928C-3DB44A0EE9EF}"/>
              </a:ext>
            </a:extLst>
          </p:cNvPr>
          <p:cNvGrpSpPr/>
          <p:nvPr/>
        </p:nvGrpSpPr>
        <p:grpSpPr>
          <a:xfrm>
            <a:off x="269337" y="1185161"/>
            <a:ext cx="9337093" cy="532286"/>
            <a:chOff x="269337" y="1185161"/>
            <a:chExt cx="9337093" cy="532286"/>
          </a:xfrm>
        </p:grpSpPr>
        <p:sp>
          <p:nvSpPr>
            <p:cNvPr id="66" name="화살표: 오각형 65">
              <a:extLst>
                <a:ext uri="{FF2B5EF4-FFF2-40B4-BE49-F238E27FC236}">
                  <a16:creationId xmlns:a16="http://schemas.microsoft.com/office/drawing/2014/main" id="{795D8661-7EF7-466E-8604-8999B7F5D1D9}"/>
                </a:ext>
              </a:extLst>
            </p:cNvPr>
            <p:cNvSpPr/>
            <p:nvPr/>
          </p:nvSpPr>
          <p:spPr>
            <a:xfrm>
              <a:off x="6868208" y="1185161"/>
              <a:ext cx="2738222" cy="532286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각형 62">
              <a:extLst>
                <a:ext uri="{FF2B5EF4-FFF2-40B4-BE49-F238E27FC236}">
                  <a16:creationId xmlns:a16="http://schemas.microsoft.com/office/drawing/2014/main" id="{D95BD950-2E54-4BA9-84B1-6EDD02F58D33}"/>
                </a:ext>
              </a:extLst>
            </p:cNvPr>
            <p:cNvSpPr/>
            <p:nvPr/>
          </p:nvSpPr>
          <p:spPr>
            <a:xfrm>
              <a:off x="4743912" y="1185161"/>
              <a:ext cx="2402470" cy="532286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화살표: 오각형 60">
              <a:extLst>
                <a:ext uri="{FF2B5EF4-FFF2-40B4-BE49-F238E27FC236}">
                  <a16:creationId xmlns:a16="http://schemas.microsoft.com/office/drawing/2014/main" id="{6A3F156D-487C-447A-9CFB-F967BDF25AD0}"/>
                </a:ext>
              </a:extLst>
            </p:cNvPr>
            <p:cNvSpPr/>
            <p:nvPr/>
          </p:nvSpPr>
          <p:spPr>
            <a:xfrm>
              <a:off x="2632081" y="1185161"/>
              <a:ext cx="2402470" cy="532286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오각형 13">
              <a:extLst>
                <a:ext uri="{FF2B5EF4-FFF2-40B4-BE49-F238E27FC236}">
                  <a16:creationId xmlns:a16="http://schemas.microsoft.com/office/drawing/2014/main" id="{7878CD41-4983-42B3-B5AB-6773A45A2E6E}"/>
                </a:ext>
              </a:extLst>
            </p:cNvPr>
            <p:cNvSpPr/>
            <p:nvPr/>
          </p:nvSpPr>
          <p:spPr>
            <a:xfrm>
              <a:off x="269337" y="1185161"/>
              <a:ext cx="2663431" cy="532286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96E0DF-4368-4548-8623-418ABF175C24}"/>
                </a:ext>
              </a:extLst>
            </p:cNvPr>
            <p:cNvSpPr txBox="1"/>
            <p:nvPr/>
          </p:nvSpPr>
          <p:spPr>
            <a:xfrm>
              <a:off x="1125516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/>
                <a:t>문제 정의</a:t>
              </a:r>
            </a:p>
          </p:txBody>
        </p:sp>
        <p:pic>
          <p:nvPicPr>
            <p:cNvPr id="17" name="그래픽 16" descr="돋보기 단색으로 채워진">
              <a:extLst>
                <a:ext uri="{FF2B5EF4-FFF2-40B4-BE49-F238E27FC236}">
                  <a16:creationId xmlns:a16="http://schemas.microsoft.com/office/drawing/2014/main" id="{4F214718-0AD9-4F4F-85CD-A4D47913A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7315" y="1222704"/>
              <a:ext cx="457200" cy="457200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DA78A4A-243C-4F1A-B041-F48CE4990FC8}"/>
                </a:ext>
              </a:extLst>
            </p:cNvPr>
            <p:cNvSpPr txBox="1"/>
            <p:nvPr/>
          </p:nvSpPr>
          <p:spPr>
            <a:xfrm>
              <a:off x="3467765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구현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D53ADC6-6851-42E1-9D2F-5BA596FC4CFF}"/>
                </a:ext>
              </a:extLst>
            </p:cNvPr>
            <p:cNvSpPr txBox="1"/>
            <p:nvPr/>
          </p:nvSpPr>
          <p:spPr>
            <a:xfrm>
              <a:off x="5506663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샘플링 테스트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85FF9FE-D0AC-430C-BD6D-6040A296D765}"/>
                </a:ext>
              </a:extLst>
            </p:cNvPr>
            <p:cNvSpPr txBox="1"/>
            <p:nvPr/>
          </p:nvSpPr>
          <p:spPr>
            <a:xfrm>
              <a:off x="7824759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검증</a:t>
              </a:r>
            </a:p>
          </p:txBody>
        </p:sp>
        <p:pic>
          <p:nvPicPr>
            <p:cNvPr id="46" name="Image 1" descr="/tmp/claude-0/-home-claude/946d89a8-cd71-5282-af60-49c1ab8579af/scratchpad/work/assets/settings_white.png">
              <a:extLst>
                <a:ext uri="{FF2B5EF4-FFF2-40B4-BE49-F238E27FC236}">
                  <a16:creationId xmlns:a16="http://schemas.microsoft.com/office/drawing/2014/main" id="{F50BF36A-E2E7-4B22-9BAC-D166DEAA9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67747" y="1285341"/>
              <a:ext cx="331927" cy="331927"/>
            </a:xfrm>
            <a:prstGeom prst="rect">
              <a:avLst/>
            </a:prstGeom>
          </p:spPr>
        </p:pic>
        <p:pic>
          <p:nvPicPr>
            <p:cNvPr id="50" name="Image 2" descr="/tmp/claude-0/-home-claude/946d89a8-cd71-5282-af60-49c1ab8579af/scratchpad/work/assets/activity_white.png">
              <a:extLst>
                <a:ext uri="{FF2B5EF4-FFF2-40B4-BE49-F238E27FC236}">
                  <a16:creationId xmlns:a16="http://schemas.microsoft.com/office/drawing/2014/main" id="{B340BAB1-EDB9-44F1-8C7E-EF1F75B33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6412" y="1314144"/>
              <a:ext cx="274320" cy="274320"/>
            </a:xfrm>
            <a:prstGeom prst="rect">
              <a:avLst/>
            </a:prstGeom>
          </p:spPr>
        </p:pic>
        <p:pic>
          <p:nvPicPr>
            <p:cNvPr id="52" name="Image 3" descr="/tmp/claude-0/-home-claude/946d89a8-cd71-5282-af60-49c1ab8579af/scratchpad/work/assets/checkcircle_white.png">
              <a:extLst>
                <a:ext uri="{FF2B5EF4-FFF2-40B4-BE49-F238E27FC236}">
                  <a16:creationId xmlns:a16="http://schemas.microsoft.com/office/drawing/2014/main" id="{100100B4-CFBF-41D8-B7AF-FBFEB6C64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12932" y="1285341"/>
              <a:ext cx="331927" cy="331927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C687BFB-2DC8-477E-B1A6-81A068793BE8}"/>
              </a:ext>
            </a:extLst>
          </p:cNvPr>
          <p:cNvGrpSpPr/>
          <p:nvPr/>
        </p:nvGrpSpPr>
        <p:grpSpPr>
          <a:xfrm>
            <a:off x="6736701" y="3436911"/>
            <a:ext cx="1138908" cy="307777"/>
            <a:chOff x="6729243" y="3790205"/>
            <a:chExt cx="1138908" cy="307777"/>
          </a:xfrm>
        </p:grpSpPr>
        <p:sp>
          <p:nvSpPr>
            <p:cNvPr id="2" name="순서도: 수행의 시작/종료 1">
              <a:extLst>
                <a:ext uri="{FF2B5EF4-FFF2-40B4-BE49-F238E27FC236}">
                  <a16:creationId xmlns:a16="http://schemas.microsoft.com/office/drawing/2014/main" id="{17091B63-E7E3-43D4-8802-AC987D370FEF}"/>
                </a:ext>
              </a:extLst>
            </p:cNvPr>
            <p:cNvSpPr/>
            <p:nvPr/>
          </p:nvSpPr>
          <p:spPr>
            <a:xfrm>
              <a:off x="6862188" y="3799131"/>
              <a:ext cx="873019" cy="265622"/>
            </a:xfrm>
            <a:prstGeom prst="flowChartTerminator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A4C810-13B8-4A1C-9DA1-DD82DC11B8E9}"/>
                </a:ext>
              </a:extLst>
            </p:cNvPr>
            <p:cNvSpPr txBox="1"/>
            <p:nvPr/>
          </p:nvSpPr>
          <p:spPr>
            <a:xfrm>
              <a:off x="6729243" y="3790205"/>
              <a:ext cx="1138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</a:rPr>
                <a:t>반복 검증</a:t>
              </a:r>
            </a:p>
          </p:txBody>
        </p:sp>
      </p:grp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7084B80-B74C-4C08-810A-65D48EE75768}"/>
              </a:ext>
            </a:extLst>
          </p:cNvPr>
          <p:cNvSpPr/>
          <p:nvPr/>
        </p:nvSpPr>
        <p:spPr>
          <a:xfrm>
            <a:off x="278540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0E481D7-F35E-40BC-9D34-8C59C52A6368}"/>
              </a:ext>
            </a:extLst>
          </p:cNvPr>
          <p:cNvSpPr/>
          <p:nvPr/>
        </p:nvSpPr>
        <p:spPr>
          <a:xfrm>
            <a:off x="3465194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02F8F77D-5F76-4CB9-A976-17C1B8431A31}"/>
              </a:ext>
            </a:extLst>
          </p:cNvPr>
          <p:cNvSpPr/>
          <p:nvPr/>
        </p:nvSpPr>
        <p:spPr>
          <a:xfrm>
            <a:off x="6640874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C2AB7FE7-9857-4180-8A8D-F2593EB0252B}"/>
              </a:ext>
            </a:extLst>
          </p:cNvPr>
          <p:cNvCxnSpPr>
            <a:cxnSpLocks/>
          </p:cNvCxnSpPr>
          <p:nvPr/>
        </p:nvCxnSpPr>
        <p:spPr>
          <a:xfrm>
            <a:off x="418603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70489A1-A9CE-4284-A951-808A02CAF920}"/>
              </a:ext>
            </a:extLst>
          </p:cNvPr>
          <p:cNvCxnSpPr>
            <a:cxnSpLocks/>
          </p:cNvCxnSpPr>
          <p:nvPr/>
        </p:nvCxnSpPr>
        <p:spPr>
          <a:xfrm>
            <a:off x="3605257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D3AD09C5-3FF6-40FB-992F-5FF47231E8E6}"/>
              </a:ext>
            </a:extLst>
          </p:cNvPr>
          <p:cNvCxnSpPr>
            <a:cxnSpLocks/>
          </p:cNvCxnSpPr>
          <p:nvPr/>
        </p:nvCxnSpPr>
        <p:spPr>
          <a:xfrm>
            <a:off x="6780937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18A1409-4FAA-4684-B91E-7BC9030361B0}"/>
              </a:ext>
            </a:extLst>
          </p:cNvPr>
          <p:cNvSpPr txBox="1"/>
          <p:nvPr/>
        </p:nvSpPr>
        <p:spPr>
          <a:xfrm>
            <a:off x="541991" y="427655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일단 </a:t>
            </a:r>
            <a:r>
              <a:rPr lang="ko-KR" altLang="en-US" sz="1500" b="1">
                <a:solidFill>
                  <a:srgbClr val="0000FF"/>
                </a:solidFill>
              </a:rPr>
              <a:t>동작</a:t>
            </a:r>
            <a:r>
              <a:rPr lang="ko-KR" altLang="en-US" sz="1500" b="1"/>
              <a:t>하게 만들기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EAD1CE62-B09A-4942-8724-BD99F5F5D652}"/>
              </a:ext>
            </a:extLst>
          </p:cNvPr>
          <p:cNvSpPr/>
          <p:nvPr/>
        </p:nvSpPr>
        <p:spPr>
          <a:xfrm>
            <a:off x="278540" y="3894825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1~2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3D50405-FE7C-48A4-8D57-6DA743923DE1}"/>
              </a:ext>
            </a:extLst>
          </p:cNvPr>
          <p:cNvSpPr txBox="1"/>
          <p:nvPr/>
        </p:nvSpPr>
        <p:spPr>
          <a:xfrm>
            <a:off x="278540" y="4738902"/>
            <a:ext cx="2985462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질문의 </a:t>
            </a:r>
            <a:r>
              <a:rPr lang="ko-KR" altLang="en-US" sz="1300" b="1">
                <a:solidFill>
                  <a:srgbClr val="0000FF"/>
                </a:solidFill>
              </a:rPr>
              <a:t>키워드</a:t>
            </a:r>
            <a:r>
              <a:rPr lang="en-US" altLang="ko-KR" sz="1300"/>
              <a:t>, </a:t>
            </a:r>
            <a:r>
              <a:rPr lang="ko-KR" altLang="en-US" sz="1300"/>
              <a:t>조건 분석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사전에 정의한 규칙 기반 부서</a:t>
            </a:r>
            <a:r>
              <a:rPr lang="en-US" altLang="ko-KR" sz="1300"/>
              <a:t> </a:t>
            </a:r>
            <a:r>
              <a:rPr lang="ko-KR" altLang="en-US" sz="1300"/>
              <a:t>탐색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규칙에 설정된 추천 결과와 사유 제공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FFDD4A2-0B1D-4364-A72B-046E84ED795D}"/>
              </a:ext>
            </a:extLst>
          </p:cNvPr>
          <p:cNvSpPr txBox="1"/>
          <p:nvPr/>
        </p:nvSpPr>
        <p:spPr>
          <a:xfrm>
            <a:off x="3475479" y="4276554"/>
            <a:ext cx="2975177" cy="335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>
                <a:latin typeface="+mn-ea"/>
              </a:rPr>
              <a:t>의미 기반 </a:t>
            </a:r>
            <a:r>
              <a:rPr lang="en-US" altLang="ko-KR" sz="1500" b="1">
                <a:solidFill>
                  <a:srgbClr val="0000FF"/>
                </a:solidFill>
                <a:latin typeface="+mn-ea"/>
              </a:rPr>
              <a:t>RAG </a:t>
            </a:r>
            <a:r>
              <a:rPr lang="ko-KR" altLang="en-US" sz="1500" b="1">
                <a:solidFill>
                  <a:srgbClr val="0000FF"/>
                </a:solidFill>
                <a:latin typeface="+mn-ea"/>
              </a:rPr>
              <a:t>적용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CB47F781-9C02-49D6-B353-D2D75C834CC9}"/>
              </a:ext>
            </a:extLst>
          </p:cNvPr>
          <p:cNvSpPr/>
          <p:nvPr/>
        </p:nvSpPr>
        <p:spPr>
          <a:xfrm>
            <a:off x="3465194" y="3894825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2~3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43C3A94-281E-4546-BCD0-9C717D1DBCA3}"/>
              </a:ext>
            </a:extLst>
          </p:cNvPr>
          <p:cNvSpPr txBox="1"/>
          <p:nvPr/>
        </p:nvSpPr>
        <p:spPr>
          <a:xfrm>
            <a:off x="3475478" y="4738902"/>
            <a:ext cx="3027903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</a:t>
            </a:r>
            <a:r>
              <a:rPr lang="en-US" altLang="ko-KR" sz="1300">
                <a:latin typeface="+mn-ea"/>
              </a:rPr>
              <a:t>Embedding </a:t>
            </a:r>
            <a:r>
              <a:rPr lang="ko-KR" altLang="en-US" sz="1300">
                <a:latin typeface="+mn-ea"/>
              </a:rPr>
              <a:t>기반 </a:t>
            </a:r>
            <a:r>
              <a:rPr lang="ko-KR" altLang="en-US" sz="1300" b="1">
                <a:solidFill>
                  <a:srgbClr val="0000FF"/>
                </a:solidFill>
                <a:latin typeface="+mn-ea"/>
              </a:rPr>
              <a:t>의미</a:t>
            </a:r>
            <a:r>
              <a:rPr lang="ko-KR" altLang="en-US" sz="1300">
                <a:latin typeface="+mn-ea"/>
              </a:rPr>
              <a:t> 검색 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en-US" altLang="ko-KR" sz="1300" spc="-40">
                <a:latin typeface="+mn-ea"/>
              </a:rPr>
              <a:t>Metadata </a:t>
            </a:r>
            <a:r>
              <a:rPr lang="ko-KR" altLang="en-US" sz="1300" spc="-40">
                <a:latin typeface="+mn-ea"/>
              </a:rPr>
              <a:t>활용 부서</a:t>
            </a:r>
            <a:r>
              <a:rPr lang="en-US" altLang="ko-KR" sz="1300" spc="-40">
                <a:latin typeface="+mn-ea"/>
              </a:rPr>
              <a:t>,</a:t>
            </a:r>
            <a:r>
              <a:rPr lang="ko-KR" altLang="en-US" sz="1300" spc="-40">
                <a:latin typeface="+mn-ea"/>
              </a:rPr>
              <a:t>문서</a:t>
            </a:r>
            <a:r>
              <a:rPr lang="en-US" altLang="ko-KR" sz="1300" spc="-40">
                <a:latin typeface="+mn-ea"/>
              </a:rPr>
              <a:t>,</a:t>
            </a:r>
            <a:r>
              <a:rPr lang="ko-KR" altLang="en-US" sz="1300" spc="-40">
                <a:latin typeface="+mn-ea"/>
              </a:rPr>
              <a:t>출처 필터링</a:t>
            </a:r>
            <a:endParaRPr lang="en-US" altLang="ko-KR" sz="13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검색 근거 바탕 추천 이유 제시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0C0494-F9D5-4E04-A2DA-9FC6B4334384}"/>
              </a:ext>
            </a:extLst>
          </p:cNvPr>
          <p:cNvSpPr txBox="1"/>
          <p:nvPr/>
        </p:nvSpPr>
        <p:spPr>
          <a:xfrm>
            <a:off x="6578898" y="4276554"/>
            <a:ext cx="3133345" cy="323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spc="-40">
                <a:latin typeface="+mn-ea"/>
              </a:rPr>
              <a:t>RAGAS </a:t>
            </a:r>
            <a:r>
              <a:rPr lang="ko-KR" altLang="en-US" sz="1500" b="1" spc="-40">
                <a:latin typeface="+mn-ea"/>
              </a:rPr>
              <a:t>활용 </a:t>
            </a:r>
            <a:r>
              <a:rPr lang="ko-KR" altLang="en-US" sz="1500" b="1" spc="-40">
                <a:solidFill>
                  <a:srgbClr val="0000FF"/>
                </a:solidFill>
                <a:latin typeface="+mn-ea"/>
              </a:rPr>
              <a:t>검색품질 고도화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C062B4C-208A-4E1B-AD33-7E6C1C36E566}"/>
              </a:ext>
            </a:extLst>
          </p:cNvPr>
          <p:cNvSpPr/>
          <p:nvPr/>
        </p:nvSpPr>
        <p:spPr>
          <a:xfrm>
            <a:off x="6640874" y="3912142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0CA5A2D-FD63-4290-A2D2-0482E8F00835}"/>
              </a:ext>
            </a:extLst>
          </p:cNvPr>
          <p:cNvSpPr txBox="1"/>
          <p:nvPr/>
        </p:nvSpPr>
        <p:spPr>
          <a:xfrm>
            <a:off x="6651635" y="4738902"/>
            <a:ext cx="2985462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평가용 골든셋</a:t>
            </a:r>
            <a:r>
              <a:rPr lang="en-US" altLang="ko-KR" sz="1300">
                <a:latin typeface="+mn-ea"/>
              </a:rPr>
              <a:t>(</a:t>
            </a:r>
            <a:r>
              <a:rPr lang="ko-KR" altLang="en-US" sz="1300">
                <a:latin typeface="+mn-ea"/>
              </a:rPr>
              <a:t>정답지</a:t>
            </a:r>
            <a:r>
              <a:rPr lang="en-US" altLang="ko-KR" sz="1300">
                <a:latin typeface="+mn-ea"/>
              </a:rPr>
              <a:t>)</a:t>
            </a:r>
            <a:r>
              <a:rPr lang="ko-KR" altLang="en-US" sz="1300">
                <a:latin typeface="+mn-ea"/>
              </a:rPr>
              <a:t> 생성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en-US" altLang="ko-KR" sz="1300" kern="0">
                <a:latin typeface="+mn-ea"/>
              </a:rPr>
              <a:t>LangSmith</a:t>
            </a:r>
            <a:r>
              <a:rPr lang="ko-KR" altLang="en-US" sz="1300">
                <a:latin typeface="+mn-ea"/>
              </a:rPr>
              <a:t>로 채점 자동화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채점결과 반영 추가 문제점 개선</a:t>
            </a:r>
          </a:p>
        </p:txBody>
      </p:sp>
      <p:sp>
        <p:nvSpPr>
          <p:cNvPr id="80" name="이등변 삼각형 79">
            <a:extLst>
              <a:ext uri="{FF2B5EF4-FFF2-40B4-BE49-F238E27FC236}">
                <a16:creationId xmlns:a16="http://schemas.microsoft.com/office/drawing/2014/main" id="{9B55912F-4B67-4B5C-835C-47C2FEEF12FD}"/>
              </a:ext>
            </a:extLst>
          </p:cNvPr>
          <p:cNvSpPr/>
          <p:nvPr/>
        </p:nvSpPr>
        <p:spPr>
          <a:xfrm rot="5400000">
            <a:off x="3281622" y="4871135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이등변 삼각형 80">
            <a:extLst>
              <a:ext uri="{FF2B5EF4-FFF2-40B4-BE49-F238E27FC236}">
                <a16:creationId xmlns:a16="http://schemas.microsoft.com/office/drawing/2014/main" id="{EBDFF46A-7DE0-4236-9D84-39C5232600A4}"/>
              </a:ext>
            </a:extLst>
          </p:cNvPr>
          <p:cNvSpPr/>
          <p:nvPr/>
        </p:nvSpPr>
        <p:spPr>
          <a:xfrm rot="5400000">
            <a:off x="6468171" y="4871135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6145DA41-BC38-4528-BF35-80A7EC9C7771}"/>
              </a:ext>
            </a:extLst>
          </p:cNvPr>
          <p:cNvGrpSpPr/>
          <p:nvPr/>
        </p:nvGrpSpPr>
        <p:grpSpPr>
          <a:xfrm>
            <a:off x="335891" y="6138454"/>
            <a:ext cx="511817" cy="431452"/>
            <a:chOff x="-895525" y="3274733"/>
            <a:chExt cx="619300" cy="474597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16FF509C-8177-4F2F-9D93-F5312620F65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화살표: 오른쪽 83">
              <a:extLst>
                <a:ext uri="{FF2B5EF4-FFF2-40B4-BE49-F238E27FC236}">
                  <a16:creationId xmlns:a16="http://schemas.microsoft.com/office/drawing/2014/main" id="{9A89337C-753D-4F4A-89D4-87DE20AD0384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8906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586732"/>
            <a:ext cx="9159954" cy="1365105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3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. (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 시도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) 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신규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설비 구매 매칭 오류 발견과 보완 검증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n-ea"/>
              </a:rPr>
              <a:t>(3/6)</a:t>
            </a:r>
            <a:endParaRPr lang="ko-KR" altLang="en-US" sz="14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18698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문제 발견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199252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>
                <a:solidFill>
                  <a:schemeClr val="bg1"/>
                </a:solidFill>
                <a:latin typeface="+mn-ea"/>
              </a:rPr>
              <a:t>원인 진단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285312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보완 조치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124762"/>
            <a:ext cx="3765573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"생산설비 신규구매" 질의 매칭 누락 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유사도 </a:t>
            </a:r>
            <a:r>
              <a:rPr lang="en-US" altLang="ko-KR" sz="1300" spc="-40">
                <a:latin typeface="+mn-ea"/>
              </a:rPr>
              <a:t>0.4)</a:t>
            </a: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정비성 투자 등 유사 케이스도 재현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1930305"/>
            <a:ext cx="3709182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검색 핵심어 사전 부족 · 유사도 기준 미달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투자관리그룹 문서에 문구 · 점수 부족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2" y="2671637"/>
            <a:ext cx="3959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도메인 핵심 키워드 사전 확장 </a:t>
            </a:r>
            <a:r>
              <a:rPr lang="en-US" altLang="ko-KR" sz="1300" spc="-40">
                <a:latin typeface="+mn-ea"/>
              </a:rPr>
              <a:t>·</a:t>
            </a:r>
            <a:r>
              <a:rPr lang="ko-KR" altLang="en-US" sz="1300">
                <a:latin typeface="+mn-ea"/>
              </a:rPr>
              <a:t> 근거 문서 보강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프롬프트 규칙 추가</a:t>
            </a:r>
            <a:r>
              <a:rPr lang="en-US" altLang="ko-KR" sz="1300" spc="-40">
                <a:latin typeface="+mn-ea"/>
              </a:rPr>
              <a:t> · </a:t>
            </a:r>
            <a:r>
              <a:rPr lang="ko-KR" altLang="en-US" sz="1300" spc="-40">
                <a:latin typeface="+mn-ea"/>
              </a:rPr>
              <a:t>보완 검색 로직 개선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5개 시나리오 재검증, 회귀 0건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148381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231113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954599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623985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① 발견된 문제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970098" y="5165431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>
                <a:latin typeface="+mn-ea"/>
              </a:rPr>
              <a:t>생산설비 매칭 오류 3건 발견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04098" y="5165431"/>
            <a:ext cx="3013056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 spc="-40">
                <a:latin typeface="+mn-ea"/>
              </a:rPr>
              <a:t>핵심 키워드 사전</a:t>
            </a:r>
            <a:r>
              <a:rPr lang="en-US" altLang="ko-KR" sz="1300" spc="-40">
                <a:latin typeface="+mn-ea"/>
              </a:rPr>
              <a:t> · </a:t>
            </a:r>
            <a:r>
              <a:rPr lang="ko-KR" altLang="en-US" sz="1300" spc="-40">
                <a:latin typeface="+mn-ea"/>
              </a:rPr>
              <a:t>임계값 2가지 원인</a:t>
            </a:r>
            <a:endParaRPr lang="en-US" altLang="ko-KR" sz="1300" spc="-4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→ 유사도 점수로 진단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755846" y="5659449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>
                <a:latin typeface="+mn-ea"/>
              </a:rPr>
              <a:t>근거 문서 </a:t>
            </a:r>
            <a:r>
              <a:rPr lang="en-US" altLang="ko-KR" sz="1300" spc="-40">
                <a:latin typeface="+mn-ea"/>
              </a:rPr>
              <a:t>2</a:t>
            </a:r>
            <a:r>
              <a:rPr lang="ko-KR" altLang="en-US" sz="1300" spc="-40">
                <a:latin typeface="+mn-ea"/>
              </a:rPr>
              <a:t>건 신설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623985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② 원인 진단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623985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③ 보완 및 재검증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4103557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재검증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설비 구매 매칭 오류 재현 및 </a:t>
            </a:r>
            <a:r>
              <a:rPr lang="en-US" altLang="ko-KR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수정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 후 동작 재검증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4213546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E98EEE92-2BAD-48E7-A9E1-5FE5B50C593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/>
        </p:blipFill>
        <p:spPr>
          <a:xfrm>
            <a:off x="417123" y="1261354"/>
            <a:ext cx="3709182" cy="2007715"/>
          </a:xfrm>
          <a:prstGeom prst="roundRect">
            <a:avLst>
              <a:gd name="adj" fmla="val 3500"/>
            </a:avLst>
          </a:prstGeom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26814" y="5473402"/>
            <a:ext cx="25103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>
                <a:latin typeface="+mn-ea"/>
              </a:rPr>
              <a:t>(미매칭 · 금액오판 · 임계값 미달)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65431"/>
            <a:ext cx="22539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핵심 키워드 · 문서 ·</a:t>
            </a:r>
            <a:endParaRPr lang="en-US" altLang="ko-KR" sz="130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 프롬프트 · 보완 검색 로직</a:t>
            </a:r>
            <a:endParaRPr lang="en-US" altLang="ko-KR" sz="130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4개 영역 개선</a:t>
            </a:r>
            <a:endParaRPr lang="en-US" altLang="ko-KR" sz="1300"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38755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43116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577919" y="6114236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5/5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386219" y="6152708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재검증 통과율 </a:t>
            </a:r>
            <a:r>
              <a:rPr lang="en-US" altLang="ko-KR" sz="1300" spc="-40">
                <a:latin typeface="+mn-ea"/>
              </a:rPr>
              <a:t>100%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680485" y="6103671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0.43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98735" y="6142143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정비성 투자 유사도 개선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742343" y="6103671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419028" y="6142143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근거 문서 보강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419028" y="6463972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</a:rPr>
              <a:t>회귀 없음 (기존 4건 유지)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98735" y="6463972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0.40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0.43, 임계값 통과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386220" y="6463972"/>
            <a:ext cx="1950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매칭 근거 확보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4519" y="4934795"/>
            <a:ext cx="329184" cy="329184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176" y="4965968"/>
            <a:ext cx="329184" cy="329184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01164" y="4965968"/>
            <a:ext cx="352541" cy="352541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E69C4D-ADC3-431D-9705-D37264BD7D82}"/>
              </a:ext>
            </a:extLst>
          </p:cNvPr>
          <p:cNvSpPr/>
          <p:nvPr/>
        </p:nvSpPr>
        <p:spPr>
          <a:xfrm>
            <a:off x="400396" y="3556652"/>
            <a:ext cx="9176682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임계값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(0.4)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 조정 없이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 조건 개선으로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정비성 투자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’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통과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&amp; ‘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결산 처리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‘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멀어지게 보완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BA3CC4C-109D-46B8-93DD-3494A90BF862}"/>
              </a:ext>
            </a:extLst>
          </p:cNvPr>
          <p:cNvGrpSpPr/>
          <p:nvPr/>
        </p:nvGrpSpPr>
        <p:grpSpPr>
          <a:xfrm>
            <a:off x="408628" y="3593571"/>
            <a:ext cx="511817" cy="431452"/>
            <a:chOff x="-895525" y="3274733"/>
            <a:chExt cx="619300" cy="474597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AD398BF7-2A26-4E0B-969F-A094DA129D76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BB44404D-E889-40AE-91F9-8DA32BC9729D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34B68E6-9691-49B5-8BB6-98FDE372DE7C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+mn-ea"/>
                <a:sym typeface="Wingdings" pitchFamily="2" charset="2"/>
              </a:rPr>
              <a:t>LangChain RAG 매칭 개선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85791DF-C4D1-4E47-B17C-E202D45B3F5B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70" name="모서리가 둥근 직사각형 320">
              <a:extLst>
                <a:ext uri="{FF2B5EF4-FFF2-40B4-BE49-F238E27FC236}">
                  <a16:creationId xmlns:a16="http://schemas.microsoft.com/office/drawing/2014/main" id="{2D2D06E9-8C50-4536-8A0A-68B55762539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71" name="그림 70" descr="7.png">
              <a:extLst>
                <a:ext uri="{FF2B5EF4-FFF2-40B4-BE49-F238E27FC236}">
                  <a16:creationId xmlns:a16="http://schemas.microsoft.com/office/drawing/2014/main" id="{87BBC54F-1B09-4544-A016-1A45EBFA7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CC4792D-B291-4AD2-AA5E-0457BC61338D}"/>
              </a:ext>
            </a:extLst>
          </p:cNvPr>
          <p:cNvSpPr/>
          <p:nvPr/>
        </p:nvSpPr>
        <p:spPr>
          <a:xfrm>
            <a:off x="1974273" y="1645286"/>
            <a:ext cx="571500" cy="1603918"/>
          </a:xfrm>
          <a:prstGeom prst="roundRect">
            <a:avLst>
              <a:gd name="adj" fmla="val 1121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0EB8DD7F-1748-4877-8360-AF42995E2A78}"/>
              </a:ext>
            </a:extLst>
          </p:cNvPr>
          <p:cNvSpPr/>
          <p:nvPr/>
        </p:nvSpPr>
        <p:spPr>
          <a:xfrm>
            <a:off x="3246975" y="1791097"/>
            <a:ext cx="571500" cy="1458107"/>
          </a:xfrm>
          <a:prstGeom prst="roundRect">
            <a:avLst>
              <a:gd name="adj" fmla="val 1121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112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10">
            <a:extLst>
              <a:ext uri="{FF2B5EF4-FFF2-40B4-BE49-F238E27FC236}">
                <a16:creationId xmlns:a16="http://schemas.microsoft.com/office/drawing/2014/main" id="{22591E7D-BAF5-475C-94CC-AFCA136B26C8}"/>
              </a:ext>
            </a:extLst>
          </p:cNvPr>
          <p:cNvSpPr/>
          <p:nvPr/>
        </p:nvSpPr>
        <p:spPr>
          <a:xfrm>
            <a:off x="351453" y="1306107"/>
            <a:ext cx="4535223" cy="2582693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6B7CA8">
                <a:alpha val="12000"/>
              </a:srgbClr>
            </a:outerShdw>
          </a:effectLst>
        </p:spPr>
      </p:sp>
      <p:sp>
        <p:nvSpPr>
          <p:cNvPr id="91" name="Shape 10">
            <a:extLst>
              <a:ext uri="{FF2B5EF4-FFF2-40B4-BE49-F238E27FC236}">
                <a16:creationId xmlns:a16="http://schemas.microsoft.com/office/drawing/2014/main" id="{77EBBBFD-D2F1-4392-809F-F0195F6E44BA}"/>
              </a:ext>
            </a:extLst>
          </p:cNvPr>
          <p:cNvSpPr/>
          <p:nvPr/>
        </p:nvSpPr>
        <p:spPr>
          <a:xfrm>
            <a:off x="5083914" y="1306107"/>
            <a:ext cx="4535223" cy="2582693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6B7CA8">
                <a:alpha val="12000"/>
              </a:srgbClr>
            </a:outerShdw>
          </a:effectLst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4. 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RAGAS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 적용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 + </a:t>
            </a:r>
            <a:r>
              <a:rPr lang="en-US" altLang="ko-KR" sz="2000" b="1">
                <a:latin typeface="+mn-ea"/>
              </a:rPr>
              <a:t>LangSmith </a:t>
            </a:r>
            <a:r>
              <a:rPr lang="ko-KR" altLang="en-US" sz="2000" b="1">
                <a:latin typeface="+mn-ea"/>
              </a:rPr>
              <a:t>기반 자동 평가 도입과 검색 품질 고도화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n-ea"/>
              </a:rPr>
              <a:t>(4/6)</a:t>
            </a:r>
            <a:endParaRPr lang="ko-KR" altLang="en-US" sz="14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6621341" y="5016607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630194" y="5016607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3624568" y="5016607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6621341" y="5028292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68%</a:t>
            </a:r>
            <a:endParaRPr lang="ko-KR" altLang="en-US" b="1"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7392159" y="5066764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종합 정답률 상승 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630194" y="5028292"/>
            <a:ext cx="75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79%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1447713" y="5066764"/>
            <a:ext cx="217685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주관부서 매칭 정확도 향상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3624568" y="5028292"/>
            <a:ext cx="72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89%</a:t>
            </a:r>
            <a:endParaRPr lang="ko-KR" altLang="en-US" b="1"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4395269" y="5066764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정확도 대폭 개선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4395269" y="5383311"/>
            <a:ext cx="2200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45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89%, F1 score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로 측정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1489277" y="5383311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63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79%,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일치율로 측정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7392159" y="5383311"/>
            <a:ext cx="2252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19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건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자동 채점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, 37 </a:t>
            </a:r>
            <a:r>
              <a:rPr lang="ko-KR" altLang="en-US" sz="1200" b="1" spc="-40">
                <a:solidFill>
                  <a:srgbClr val="2082C8"/>
                </a:solidFill>
                <a:latin typeface="+mn-ea"/>
              </a:rPr>
              <a:t>→ </a:t>
            </a:r>
            <a:r>
              <a:rPr lang="en-US" altLang="ko-KR" sz="1200" b="1" spc="-40">
                <a:solidFill>
                  <a:srgbClr val="2082C8"/>
                </a:solidFill>
                <a:latin typeface="+mn-ea"/>
              </a:rPr>
              <a:t>68%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E69C4D-ADC3-431D-9705-D37264BD7D82}"/>
              </a:ext>
            </a:extLst>
          </p:cNvPr>
          <p:cNvSpPr/>
          <p:nvPr/>
        </p:nvSpPr>
        <p:spPr>
          <a:xfrm>
            <a:off x="400396" y="4003465"/>
            <a:ext cx="9176682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점수 격차 기준 판정 도입으로 주관부서 매칭 및 협업부서 판단 정확도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종합 정답률 개선 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BA3CC4C-109D-46B8-93DD-3494A90BF862}"/>
              </a:ext>
            </a:extLst>
          </p:cNvPr>
          <p:cNvGrpSpPr/>
          <p:nvPr/>
        </p:nvGrpSpPr>
        <p:grpSpPr>
          <a:xfrm>
            <a:off x="408628" y="4040384"/>
            <a:ext cx="511817" cy="431452"/>
            <a:chOff x="-895525" y="3274733"/>
            <a:chExt cx="619300" cy="474597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AD398BF7-2A26-4E0B-969F-A094DA129D76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BB44404D-E889-40AE-91F9-8DA32BC9729D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34B68E6-9691-49B5-8BB6-98FDE372DE7C}"/>
              </a:ext>
            </a:extLst>
          </p:cNvPr>
          <p:cNvSpPr/>
          <p:nvPr/>
        </p:nvSpPr>
        <p:spPr>
          <a:xfrm>
            <a:off x="556286" y="702152"/>
            <a:ext cx="9020792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RAGAS </a:t>
            </a:r>
            <a:r>
              <a:rPr lang="ko-KR" altLang="en-US" sz="1400" b="1">
                <a:latin typeface="+mn-ea"/>
              </a:rPr>
              <a:t>평가 기준을 적용하고</a:t>
            </a:r>
            <a:r>
              <a:rPr lang="en-US" altLang="ko-KR" sz="1400" b="1">
                <a:latin typeface="+mn-ea"/>
              </a:rPr>
              <a:t>, LangSmith</a:t>
            </a:r>
            <a:r>
              <a:rPr lang="ko-KR" altLang="en-US" sz="1400" b="1">
                <a:latin typeface="+mn-ea"/>
              </a:rPr>
              <a:t>로 전체 실행 과정과 채점 결과를 자동 관리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85791DF-C4D1-4E47-B17C-E202D45B3F5B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70" name="모서리가 둥근 직사각형 320">
              <a:extLst>
                <a:ext uri="{FF2B5EF4-FFF2-40B4-BE49-F238E27FC236}">
                  <a16:creationId xmlns:a16="http://schemas.microsoft.com/office/drawing/2014/main" id="{2D2D06E9-8C50-4536-8A0A-68B55762539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71" name="그림 70" descr="7.png">
              <a:extLst>
                <a:ext uri="{FF2B5EF4-FFF2-40B4-BE49-F238E27FC236}">
                  <a16:creationId xmlns:a16="http://schemas.microsoft.com/office/drawing/2014/main" id="{87BBC54F-1B09-4544-A016-1A45EBFA7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652B555B-12D7-43F1-9863-D55660601E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b="-7835"/>
          <a:stretch/>
        </p:blipFill>
        <p:spPr>
          <a:xfrm>
            <a:off x="390005" y="1495099"/>
            <a:ext cx="4441768" cy="2446498"/>
          </a:xfrm>
          <a:prstGeom prst="rect">
            <a:avLst/>
          </a:prstGeom>
        </p:spPr>
      </p:pic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8C1FA852-ED91-4F3E-B886-6380C80049D8}"/>
              </a:ext>
            </a:extLst>
          </p:cNvPr>
          <p:cNvSpPr/>
          <p:nvPr/>
        </p:nvSpPr>
        <p:spPr>
          <a:xfrm>
            <a:off x="351453" y="1148234"/>
            <a:ext cx="4534956" cy="30731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spc="-30">
                <a:latin typeface="+mn-ea"/>
              </a:rPr>
              <a:t>LangSmith</a:t>
            </a:r>
            <a:r>
              <a:rPr lang="ko-KR" altLang="en-US" sz="1500" b="1" spc="-30">
                <a:latin typeface="+mn-ea"/>
              </a:rPr>
              <a:t>로 질문→검색→답변 과정 트레이싱</a:t>
            </a:r>
            <a:endParaRPr lang="ko-KR" altLang="en-US" sz="1500" b="1" spc="-3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B672848-9232-48EB-84F0-A2D7E7FC53E4}"/>
              </a:ext>
            </a:extLst>
          </p:cNvPr>
          <p:cNvSpPr txBox="1"/>
          <p:nvPr/>
        </p:nvSpPr>
        <p:spPr>
          <a:xfrm>
            <a:off x="5481206" y="1509840"/>
            <a:ext cx="4270333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기존 </a:t>
            </a:r>
            <a:r>
              <a:rPr lang="en-US" altLang="ko-KR" sz="1300" spc="-40">
                <a:latin typeface="+mn-ea"/>
              </a:rPr>
              <a:t>LLM </a:t>
            </a:r>
            <a:r>
              <a:rPr lang="ko-KR" altLang="en-US" sz="1300" spc="-40">
                <a:latin typeface="+mn-ea"/>
              </a:rPr>
              <a:t>판단을 먼저 확인하고 보완하던 로직을 </a:t>
            </a:r>
            <a:endParaRPr lang="en-US" altLang="ko-KR" sz="1300" spc="-40">
              <a:latin typeface="+mn-ea"/>
            </a:endParaRPr>
          </a:p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부서 간 유사도 점수 격차 기반 판정으로 정밀화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9B9AAB53-0B27-4520-97FA-828CD93836DC}"/>
              </a:ext>
            </a:extLst>
          </p:cNvPr>
          <p:cNvSpPr/>
          <p:nvPr/>
        </p:nvSpPr>
        <p:spPr>
          <a:xfrm>
            <a:off x="5084181" y="1148234"/>
            <a:ext cx="4534956" cy="3156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30">
                <a:latin typeface="+mn-ea"/>
              </a:rPr>
              <a:t>핵심 개선 포인트</a:t>
            </a:r>
            <a:endParaRPr lang="ko-KR" altLang="en-US" sz="1500" b="1" spc="-3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DFF6387-7555-4BF0-9DD1-E09D88E6A124}"/>
              </a:ext>
            </a:extLst>
          </p:cNvPr>
          <p:cNvSpPr txBox="1"/>
          <p:nvPr/>
        </p:nvSpPr>
        <p:spPr>
          <a:xfrm>
            <a:off x="5481206" y="2269442"/>
            <a:ext cx="38913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과다 포함 문제 개선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4900A9D-240F-436D-89BF-AE73FC002740}"/>
              </a:ext>
            </a:extLst>
          </p:cNvPr>
          <p:cNvSpPr txBox="1"/>
          <p:nvPr/>
        </p:nvSpPr>
        <p:spPr>
          <a:xfrm>
            <a:off x="5481206" y="2767467"/>
            <a:ext cx="405760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금액 비교 </a:t>
            </a:r>
            <a:r>
              <a:rPr lang="en-US" altLang="ko-KR" sz="1300" spc="-40">
                <a:latin typeface="+mn-ea"/>
              </a:rPr>
              <a:t>:</a:t>
            </a:r>
            <a:r>
              <a:rPr lang="ko-KR" altLang="en-US" sz="1300" spc="-40">
                <a:latin typeface="+mn-ea"/>
              </a:rPr>
              <a:t> </a:t>
            </a:r>
            <a:r>
              <a:rPr lang="en-US" altLang="ko-KR" sz="1300" spc="-40">
                <a:latin typeface="+mn-ea"/>
              </a:rPr>
              <a:t>LLM </a:t>
            </a:r>
            <a:r>
              <a:rPr lang="ko-KR" altLang="en-US" sz="1300" spc="-40">
                <a:latin typeface="+mn-ea"/>
              </a:rPr>
              <a:t>판단에서 직접 코드 계산으로 수정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E2ABFA0-B640-4B8D-91A7-CD720C8B254A}"/>
              </a:ext>
            </a:extLst>
          </p:cNvPr>
          <p:cNvSpPr txBox="1"/>
          <p:nvPr/>
        </p:nvSpPr>
        <p:spPr>
          <a:xfrm>
            <a:off x="5481206" y="3235224"/>
            <a:ext cx="4221262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반복 재평가로 개선 효과를 정량 확인 </a:t>
            </a:r>
            <a:endParaRPr lang="en-US" altLang="ko-KR" sz="1300" spc="-40">
              <a:latin typeface="+mn-ea"/>
            </a:endParaRPr>
          </a:p>
          <a:p>
            <a:pPr>
              <a:spcBef>
                <a:spcPts val="400"/>
              </a:spcBef>
            </a:pPr>
            <a:r>
              <a:rPr lang="en-US" altLang="ko-KR" sz="1300" spc="-40">
                <a:latin typeface="+mn-ea"/>
              </a:rPr>
              <a:t>3</a:t>
            </a:r>
            <a:r>
              <a:rPr lang="ko-KR" altLang="en-US" sz="1300" spc="-40">
                <a:latin typeface="+mn-ea"/>
              </a:rPr>
              <a:t>라운드에 걸쳐 정답률 단계적 개선 </a:t>
            </a:r>
            <a:r>
              <a:rPr lang="en-US" altLang="ko-KR" sz="1300" spc="-40">
                <a:latin typeface="+mn-ea"/>
              </a:rPr>
              <a:t>(37</a:t>
            </a:r>
            <a:r>
              <a:rPr lang="ko-KR" altLang="en-US" sz="1300" spc="-40">
                <a:latin typeface="+mn-ea"/>
              </a:rPr>
              <a:t>→</a:t>
            </a:r>
            <a:r>
              <a:rPr lang="en-US" altLang="ko-KR" sz="1300" spc="-40">
                <a:latin typeface="+mn-ea"/>
              </a:rPr>
              <a:t>58</a:t>
            </a:r>
            <a:r>
              <a:rPr lang="ko-KR" altLang="en-US" sz="1300" spc="-40">
                <a:latin typeface="+mn-ea"/>
              </a:rPr>
              <a:t>→</a:t>
            </a:r>
            <a:r>
              <a:rPr lang="en-US" altLang="ko-KR" sz="1300" spc="-40">
                <a:latin typeface="+mn-ea"/>
              </a:rPr>
              <a:t>68%)</a:t>
            </a:r>
            <a:endParaRPr lang="ko-KR" altLang="en-US" sz="1300" spc="-40">
              <a:latin typeface="+mn-ea"/>
            </a:endParaRPr>
          </a:p>
        </p:txBody>
      </p:sp>
      <p:sp>
        <p:nvSpPr>
          <p:cNvPr id="83" name="Shape 13">
            <a:extLst>
              <a:ext uri="{FF2B5EF4-FFF2-40B4-BE49-F238E27FC236}">
                <a16:creationId xmlns:a16="http://schemas.microsoft.com/office/drawing/2014/main" id="{43B3D376-C513-46D1-9C26-F6D7752A13E3}"/>
              </a:ext>
            </a:extLst>
          </p:cNvPr>
          <p:cNvSpPr/>
          <p:nvPr/>
        </p:nvSpPr>
        <p:spPr>
          <a:xfrm>
            <a:off x="5142201" y="2139561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sp>
        <p:nvSpPr>
          <p:cNvPr id="92" name="Shape 13">
            <a:extLst>
              <a:ext uri="{FF2B5EF4-FFF2-40B4-BE49-F238E27FC236}">
                <a16:creationId xmlns:a16="http://schemas.microsoft.com/office/drawing/2014/main" id="{51DCD47B-4DFF-40D8-B95D-6FB1EC923583}"/>
              </a:ext>
            </a:extLst>
          </p:cNvPr>
          <p:cNvSpPr/>
          <p:nvPr/>
        </p:nvSpPr>
        <p:spPr>
          <a:xfrm>
            <a:off x="5142201" y="2666037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sp>
        <p:nvSpPr>
          <p:cNvPr id="93" name="Shape 13">
            <a:extLst>
              <a:ext uri="{FF2B5EF4-FFF2-40B4-BE49-F238E27FC236}">
                <a16:creationId xmlns:a16="http://schemas.microsoft.com/office/drawing/2014/main" id="{9941CAED-E556-4C11-8F86-414A92C0FA47}"/>
              </a:ext>
            </a:extLst>
          </p:cNvPr>
          <p:cNvSpPr/>
          <p:nvPr/>
        </p:nvSpPr>
        <p:spPr>
          <a:xfrm>
            <a:off x="5142201" y="3161340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625F4FE-8A54-4D58-9822-FCE06239A855}"/>
              </a:ext>
            </a:extLst>
          </p:cNvPr>
          <p:cNvGrpSpPr/>
          <p:nvPr/>
        </p:nvGrpSpPr>
        <p:grpSpPr>
          <a:xfrm>
            <a:off x="5167245" y="1657206"/>
            <a:ext cx="302999" cy="292608"/>
            <a:chOff x="5104899" y="1637275"/>
            <a:chExt cx="302999" cy="292608"/>
          </a:xfrm>
        </p:grpSpPr>
        <p:sp>
          <p:nvSpPr>
            <p:cNvPr id="94" name="Shape 30">
              <a:extLst>
                <a:ext uri="{FF2B5EF4-FFF2-40B4-BE49-F238E27FC236}">
                  <a16:creationId xmlns:a16="http://schemas.microsoft.com/office/drawing/2014/main" id="{CD81A531-94E3-4523-997E-14DD3635E491}"/>
                </a:ext>
              </a:extLst>
            </p:cNvPr>
            <p:cNvSpPr/>
            <p:nvPr/>
          </p:nvSpPr>
          <p:spPr>
            <a:xfrm>
              <a:off x="5115290" y="1637275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95" name="Text 31">
              <a:extLst>
                <a:ext uri="{FF2B5EF4-FFF2-40B4-BE49-F238E27FC236}">
                  <a16:creationId xmlns:a16="http://schemas.microsoft.com/office/drawing/2014/main" id="{92B37005-93DC-4E2A-BE51-A581879D47A5}"/>
                </a:ext>
              </a:extLst>
            </p:cNvPr>
            <p:cNvSpPr txBox="1"/>
            <p:nvPr/>
          </p:nvSpPr>
          <p:spPr>
            <a:xfrm>
              <a:off x="5104899" y="1637275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①</a:t>
              </a:r>
              <a:endParaRPr lang="en-US" sz="1100" dirty="0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244287C-C3BD-435E-B1A5-C00D3FC74BA6}"/>
              </a:ext>
            </a:extLst>
          </p:cNvPr>
          <p:cNvGrpSpPr/>
          <p:nvPr/>
        </p:nvGrpSpPr>
        <p:grpSpPr>
          <a:xfrm>
            <a:off x="5167245" y="2281009"/>
            <a:ext cx="292608" cy="299016"/>
            <a:chOff x="5136072" y="2166708"/>
            <a:chExt cx="292608" cy="299016"/>
          </a:xfrm>
        </p:grpSpPr>
        <p:sp>
          <p:nvSpPr>
            <p:cNvPr id="97" name="Shape 37">
              <a:extLst>
                <a:ext uri="{FF2B5EF4-FFF2-40B4-BE49-F238E27FC236}">
                  <a16:creationId xmlns:a16="http://schemas.microsoft.com/office/drawing/2014/main" id="{1B148B0F-10A7-4F4E-8A58-BC82DB48E4BD}"/>
                </a:ext>
              </a:extLst>
            </p:cNvPr>
            <p:cNvSpPr/>
            <p:nvPr/>
          </p:nvSpPr>
          <p:spPr>
            <a:xfrm>
              <a:off x="5136072" y="2166708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98" name="Text 38">
              <a:extLst>
                <a:ext uri="{FF2B5EF4-FFF2-40B4-BE49-F238E27FC236}">
                  <a16:creationId xmlns:a16="http://schemas.microsoft.com/office/drawing/2014/main" id="{C2E0313E-BD3A-4030-92D2-32CA044D15B8}"/>
                </a:ext>
              </a:extLst>
            </p:cNvPr>
            <p:cNvSpPr txBox="1"/>
            <p:nvPr/>
          </p:nvSpPr>
          <p:spPr>
            <a:xfrm>
              <a:off x="5136072" y="2173116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②</a:t>
              </a:r>
              <a:endParaRPr lang="en-US" sz="11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69D93BA-3E5C-4002-ACDD-7BEA859B8BB1}"/>
              </a:ext>
            </a:extLst>
          </p:cNvPr>
          <p:cNvGrpSpPr/>
          <p:nvPr/>
        </p:nvGrpSpPr>
        <p:grpSpPr>
          <a:xfrm>
            <a:off x="5167245" y="2779240"/>
            <a:ext cx="292608" cy="292608"/>
            <a:chOff x="5169505" y="2581811"/>
            <a:chExt cx="292608" cy="292608"/>
          </a:xfrm>
        </p:grpSpPr>
        <p:sp>
          <p:nvSpPr>
            <p:cNvPr id="99" name="Shape 44">
              <a:extLst>
                <a:ext uri="{FF2B5EF4-FFF2-40B4-BE49-F238E27FC236}">
                  <a16:creationId xmlns:a16="http://schemas.microsoft.com/office/drawing/2014/main" id="{77E93DDA-3659-417A-AA88-5CC2EF9C9722}"/>
                </a:ext>
              </a:extLst>
            </p:cNvPr>
            <p:cNvSpPr/>
            <p:nvPr/>
          </p:nvSpPr>
          <p:spPr>
            <a:xfrm>
              <a:off x="5169505" y="2581811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0" name="Text 45">
              <a:extLst>
                <a:ext uri="{FF2B5EF4-FFF2-40B4-BE49-F238E27FC236}">
                  <a16:creationId xmlns:a16="http://schemas.microsoft.com/office/drawing/2014/main" id="{1B11820E-2590-4B03-BCD9-CD2AFC647CDC}"/>
                </a:ext>
              </a:extLst>
            </p:cNvPr>
            <p:cNvSpPr txBox="1"/>
            <p:nvPr/>
          </p:nvSpPr>
          <p:spPr>
            <a:xfrm>
              <a:off x="5169505" y="2581811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③</a:t>
              </a:r>
              <a:endParaRPr lang="en-US" sz="1100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1B0BF19-3E8E-425D-A7F3-CC7FF5E35BD2}"/>
              </a:ext>
            </a:extLst>
          </p:cNvPr>
          <p:cNvGrpSpPr/>
          <p:nvPr/>
        </p:nvGrpSpPr>
        <p:grpSpPr>
          <a:xfrm>
            <a:off x="5167245" y="3382448"/>
            <a:ext cx="292608" cy="292608"/>
            <a:chOff x="5138700" y="3133064"/>
            <a:chExt cx="292608" cy="292608"/>
          </a:xfrm>
        </p:grpSpPr>
        <p:sp>
          <p:nvSpPr>
            <p:cNvPr id="102" name="Shape 51">
              <a:extLst>
                <a:ext uri="{FF2B5EF4-FFF2-40B4-BE49-F238E27FC236}">
                  <a16:creationId xmlns:a16="http://schemas.microsoft.com/office/drawing/2014/main" id="{B511D697-374B-459E-A7D8-8DAB1E6E896A}"/>
                </a:ext>
              </a:extLst>
            </p:cNvPr>
            <p:cNvSpPr/>
            <p:nvPr/>
          </p:nvSpPr>
          <p:spPr>
            <a:xfrm>
              <a:off x="5138700" y="3133064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3" name="Text 52">
              <a:extLst>
                <a:ext uri="{FF2B5EF4-FFF2-40B4-BE49-F238E27FC236}">
                  <a16:creationId xmlns:a16="http://schemas.microsoft.com/office/drawing/2014/main" id="{650677A3-60D1-4616-A467-94C0107E73F4}"/>
                </a:ext>
              </a:extLst>
            </p:cNvPr>
            <p:cNvSpPr txBox="1"/>
            <p:nvPr/>
          </p:nvSpPr>
          <p:spPr>
            <a:xfrm>
              <a:off x="5138700" y="3133064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④</a:t>
              </a:r>
              <a:endParaRPr lang="en-US" sz="1100" dirty="0"/>
            </a:p>
          </p:txBody>
        </p:sp>
      </p:grpSp>
      <p:sp>
        <p:nvSpPr>
          <p:cNvPr id="106" name="Shape 42">
            <a:extLst>
              <a:ext uri="{FF2B5EF4-FFF2-40B4-BE49-F238E27FC236}">
                <a16:creationId xmlns:a16="http://schemas.microsoft.com/office/drawing/2014/main" id="{AC315E1C-02E3-484C-84B2-8A3F76AEDD56}"/>
              </a:ext>
            </a:extLst>
          </p:cNvPr>
          <p:cNvSpPr/>
          <p:nvPr/>
        </p:nvSpPr>
        <p:spPr>
          <a:xfrm>
            <a:off x="400396" y="5791856"/>
            <a:ext cx="707535" cy="276999"/>
          </a:xfrm>
          <a:prstGeom prst="roundRect">
            <a:avLst>
              <a:gd name="adj" fmla="val 6579"/>
            </a:avLst>
          </a:prstGeom>
          <a:solidFill>
            <a:srgbClr val="EEF2FB"/>
          </a:solidFill>
          <a:ln w="15875">
            <a:solidFill>
              <a:srgbClr val="F5F6F7"/>
            </a:solidFill>
            <a:prstDash val="solid"/>
          </a:ln>
          <a:effectLst>
            <a:outerShdw blurRad="127000" dist="38100" dir="5400000" algn="bl" rotWithShape="0">
              <a:srgbClr val="6B7CA8">
                <a:alpha val="16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altLang="ko-KR" sz="1200" b="1">
                <a:latin typeface="+mn-ea"/>
              </a:rPr>
              <a:t>2</a:t>
            </a:r>
            <a:r>
              <a:rPr lang="ko-KR" altLang="en-US" sz="1200" b="1">
                <a:latin typeface="+mn-ea"/>
              </a:rPr>
              <a:t>단계</a:t>
            </a:r>
          </a:p>
        </p:txBody>
      </p:sp>
      <p:sp>
        <p:nvSpPr>
          <p:cNvPr id="107" name="Shape 28">
            <a:extLst>
              <a:ext uri="{FF2B5EF4-FFF2-40B4-BE49-F238E27FC236}">
                <a16:creationId xmlns:a16="http://schemas.microsoft.com/office/drawing/2014/main" id="{0CFB4321-FE9B-4AAD-9EF6-52376E8AACEE}"/>
              </a:ext>
            </a:extLst>
          </p:cNvPr>
          <p:cNvSpPr/>
          <p:nvPr/>
        </p:nvSpPr>
        <p:spPr>
          <a:xfrm>
            <a:off x="400396" y="4673646"/>
            <a:ext cx="707535" cy="276999"/>
          </a:xfrm>
          <a:prstGeom prst="roundRect">
            <a:avLst>
              <a:gd name="adj" fmla="val 6579"/>
            </a:avLst>
          </a:prstGeom>
          <a:solidFill>
            <a:srgbClr val="F9FAFB"/>
          </a:solidFill>
          <a:ln w="12700">
            <a:solidFill>
              <a:srgbClr val="E1E6F0"/>
            </a:solidFill>
            <a:prstDash val="solid"/>
          </a:ln>
          <a:effectLst>
            <a:outerShdw blurRad="127000" dist="38100" dir="5400000" algn="bl" rotWithShape="0">
              <a:srgbClr val="6B7CA8">
                <a:alpha val="16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altLang="ko-KR" sz="1200" b="1">
                <a:latin typeface="+mn-ea"/>
              </a:rPr>
              <a:t>1</a:t>
            </a:r>
            <a:r>
              <a:rPr lang="ko-KR" altLang="en-US" sz="1200" b="1">
                <a:latin typeface="+mn-ea"/>
              </a:rPr>
              <a:t>단계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9CF1A2E-1375-47D1-B83A-B95CC2923E08}"/>
              </a:ext>
            </a:extLst>
          </p:cNvPr>
          <p:cNvCxnSpPr/>
          <p:nvPr/>
        </p:nvCxnSpPr>
        <p:spPr>
          <a:xfrm>
            <a:off x="500611" y="4980166"/>
            <a:ext cx="0" cy="747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B45540B-BDCA-4D49-8046-4282C800EB23}"/>
              </a:ext>
            </a:extLst>
          </p:cNvPr>
          <p:cNvSpPr txBox="1"/>
          <p:nvPr/>
        </p:nvSpPr>
        <p:spPr>
          <a:xfrm>
            <a:off x="1193871" y="5768544"/>
            <a:ext cx="5329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+mn-ea"/>
              </a:rPr>
              <a:t>모델 교체 성능 실험 </a:t>
            </a:r>
            <a:r>
              <a:rPr lang="en-US" altLang="ko-KR" sz="1400">
                <a:latin typeface="+mn-ea"/>
              </a:rPr>
              <a:t>(</a:t>
            </a:r>
            <a:r>
              <a:rPr lang="en-US" altLang="ko-KR" sz="1400" b="0" i="0">
                <a:solidFill>
                  <a:srgbClr val="1A1A1A"/>
                </a:solidFill>
                <a:effectLst/>
                <a:latin typeface="+mn-ea"/>
              </a:rPr>
              <a:t>gpt-4o-mini </a:t>
            </a:r>
            <a:r>
              <a:rPr lang="ko-KR" altLang="en-US" sz="1400" b="0" i="0">
                <a:solidFill>
                  <a:srgbClr val="1A1A1A"/>
                </a:solidFill>
                <a:effectLst/>
                <a:latin typeface="+mn-ea"/>
              </a:rPr>
              <a:t>→</a:t>
            </a:r>
            <a:r>
              <a:rPr lang="en-US" altLang="ko-KR" sz="1400" b="0" i="0">
                <a:solidFill>
                  <a:srgbClr val="1A1A1A"/>
                </a:solidFill>
                <a:effectLst/>
                <a:latin typeface="+mn-ea"/>
              </a:rPr>
              <a:t> GPT-5.6 Luna) </a:t>
            </a:r>
            <a:endParaRPr lang="ko-KR" altLang="en-US" sz="1400">
              <a:latin typeface="+mn-ea"/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720C8211-3D31-46E6-82E2-C5EFC19C1B26}"/>
              </a:ext>
            </a:extLst>
          </p:cNvPr>
          <p:cNvSpPr>
            <a:spLocks noGrp="1"/>
          </p:cNvSpPr>
          <p:nvPr/>
        </p:nvSpPr>
        <p:spPr>
          <a:xfrm>
            <a:off x="6621341" y="6124968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088DAAA8-9DC5-4548-8047-C9B3703B54A9}"/>
              </a:ext>
            </a:extLst>
          </p:cNvPr>
          <p:cNvSpPr>
            <a:spLocks noGrp="1"/>
          </p:cNvSpPr>
          <p:nvPr/>
        </p:nvSpPr>
        <p:spPr>
          <a:xfrm>
            <a:off x="630194" y="6124968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solidFill>
              <a:srgbClr val="F4F5F9"/>
            </a:solidFill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84B7389D-3461-44C3-B2CA-DE323DAC97B3}"/>
              </a:ext>
            </a:extLst>
          </p:cNvPr>
          <p:cNvSpPr>
            <a:spLocks noGrp="1"/>
          </p:cNvSpPr>
          <p:nvPr/>
        </p:nvSpPr>
        <p:spPr>
          <a:xfrm>
            <a:off x="3624568" y="6124968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solidFill>
              <a:srgbClr val="F5F6F8"/>
            </a:solidFill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55D3001-8037-48DC-9746-440618D449FD}"/>
              </a:ext>
            </a:extLst>
          </p:cNvPr>
          <p:cNvSpPr txBox="1"/>
          <p:nvPr/>
        </p:nvSpPr>
        <p:spPr>
          <a:xfrm>
            <a:off x="6621341" y="6136653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배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37BB6A8-827D-4EDC-AE6B-565E6BEBFDB2}"/>
              </a:ext>
            </a:extLst>
          </p:cNvPr>
          <p:cNvSpPr txBox="1"/>
          <p:nvPr/>
        </p:nvSpPr>
        <p:spPr>
          <a:xfrm>
            <a:off x="7399086" y="6175125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응답속도 증가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88ED905-E046-44DE-9BDA-0006DD8D3C5D}"/>
              </a:ext>
            </a:extLst>
          </p:cNvPr>
          <p:cNvSpPr txBox="1"/>
          <p:nvPr/>
        </p:nvSpPr>
        <p:spPr>
          <a:xfrm>
            <a:off x="630194" y="6136653"/>
            <a:ext cx="75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95%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AFDB677-106A-4343-962D-6C91C9884C51}"/>
              </a:ext>
            </a:extLst>
          </p:cNvPr>
          <p:cNvSpPr txBox="1"/>
          <p:nvPr/>
        </p:nvSpPr>
        <p:spPr>
          <a:xfrm>
            <a:off x="1444249" y="6175125"/>
            <a:ext cx="217685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주관부서 정확도 추가 향상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BE40E45-98C2-4793-8AC8-477FC71108C5}"/>
              </a:ext>
            </a:extLst>
          </p:cNvPr>
          <p:cNvSpPr txBox="1"/>
          <p:nvPr/>
        </p:nvSpPr>
        <p:spPr>
          <a:xfrm>
            <a:off x="3624568" y="6136653"/>
            <a:ext cx="72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82%</a:t>
            </a:r>
            <a:endParaRPr lang="ko-KR" altLang="en-US" b="1">
              <a:latin typeface="+mn-ea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3EA2E87-4185-45FC-A668-E8AC01F88D80}"/>
              </a:ext>
            </a:extLst>
          </p:cNvPr>
          <p:cNvSpPr txBox="1"/>
          <p:nvPr/>
        </p:nvSpPr>
        <p:spPr>
          <a:xfrm>
            <a:off x="4402196" y="6175125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정확도 소폭 감소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83B3707-0892-4A08-A7FB-6485BE76E4F4}"/>
              </a:ext>
            </a:extLst>
          </p:cNvPr>
          <p:cNvSpPr txBox="1"/>
          <p:nvPr/>
        </p:nvSpPr>
        <p:spPr>
          <a:xfrm>
            <a:off x="4402196" y="6491672"/>
            <a:ext cx="2200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89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82%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BBE5666-1965-47CC-B8D8-0BF7ECE02400}"/>
              </a:ext>
            </a:extLst>
          </p:cNvPr>
          <p:cNvSpPr txBox="1"/>
          <p:nvPr/>
        </p:nvSpPr>
        <p:spPr>
          <a:xfrm>
            <a:off x="1485813" y="6491672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79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95%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C6FC901-95A0-44B7-B609-F3A9F3CFDA35}"/>
              </a:ext>
            </a:extLst>
          </p:cNvPr>
          <p:cNvSpPr txBox="1"/>
          <p:nvPr/>
        </p:nvSpPr>
        <p:spPr>
          <a:xfrm>
            <a:off x="7399086" y="6491672"/>
            <a:ext cx="2252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정답률은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68%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로 동일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F83686-E8B4-4E25-B19C-27817329F608}"/>
              </a:ext>
            </a:extLst>
          </p:cNvPr>
          <p:cNvSpPr txBox="1"/>
          <p:nvPr/>
        </p:nvSpPr>
        <p:spPr>
          <a:xfrm>
            <a:off x="1193871" y="4658257"/>
            <a:ext cx="49512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atin typeface="+mn-ea"/>
              </a:rPr>
              <a:t>RAGAS·LangSmith </a:t>
            </a:r>
            <a:r>
              <a:rPr lang="ko-KR" altLang="en-US" sz="1400">
                <a:latin typeface="+mn-ea"/>
              </a:rPr>
              <a:t>기반 평가 및 검색 로직 개선</a:t>
            </a:r>
          </a:p>
        </p:txBody>
      </p:sp>
    </p:spTree>
    <p:extLst>
      <p:ext uri="{BB962C8B-B14F-4D97-AF65-F5344CB8AC3E}">
        <p14:creationId xmlns:p14="http://schemas.microsoft.com/office/powerpoint/2010/main" val="2381020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295784"/>
            <a:ext cx="9159954" cy="1483130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입력부터 협업 요청까지 연결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(5/6)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29089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업무 입력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209643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500" b="1" spc="-40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 spc="-40">
                <a:solidFill>
                  <a:schemeClr val="bg1"/>
                </a:solidFill>
                <a:latin typeface="+mn-ea"/>
              </a:rPr>
              <a:t>절차</a:t>
            </a:r>
            <a:r>
              <a:rPr lang="en-US" altLang="ko-KR" sz="1500" b="1" spc="-4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500" b="1" spc="-40">
                <a:solidFill>
                  <a:schemeClr val="bg1"/>
                </a:solidFill>
                <a:latin typeface="+mn-ea"/>
              </a:rPr>
              <a:t>부서 확인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295703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협업 요청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228672"/>
            <a:ext cx="4221088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내용을 자연어로 입력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사업장과 업무 유형 선택 </a:t>
            </a:r>
            <a:r>
              <a:rPr lang="en-US" altLang="ko-KR" sz="1300" spc="-60">
                <a:latin typeface="+mn-ea"/>
              </a:rPr>
              <a:t>(</a:t>
            </a:r>
            <a:r>
              <a:rPr lang="ko-KR" altLang="en-US" sz="1300" spc="-60">
                <a:latin typeface="+mn-ea"/>
              </a:rPr>
              <a:t>모르는 경우</a:t>
            </a:r>
            <a:r>
              <a:rPr lang="en-US" altLang="ko-KR" sz="1300" spc="-60">
                <a:latin typeface="+mn-ea"/>
              </a:rPr>
              <a:t>, </a:t>
            </a:r>
            <a:r>
              <a:rPr lang="ko-KR" altLang="en-US" sz="1300" spc="-60">
                <a:latin typeface="+mn-ea"/>
              </a:rPr>
              <a:t>미선택 가능</a:t>
            </a:r>
            <a:r>
              <a:rPr lang="en-US" altLang="ko-KR" sz="1300" spc="-60">
                <a:latin typeface="+mn-ea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2034215"/>
            <a:ext cx="410134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관련 규정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지침을 해석해</a:t>
            </a: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프로세스 안내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주관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협업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부서 세부내용 확인 → 요청부서 선택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3" y="2775547"/>
            <a:ext cx="4101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요청 내용을 바탕으로 협업 메일 초안 작성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사용자가 내용 수정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보완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후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메일 발송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담당 부서의 회신 완료까지 진행 현황 확인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158772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241504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725997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384992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① 테스트 질의 입력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835564" y="493826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spc="-60"/>
              <a:t>5</a:t>
            </a:r>
            <a:r>
              <a:rPr lang="ko-KR" altLang="en-US" sz="1300" spc="-60"/>
              <a:t>억 이상 설비 투자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35271" y="4938267"/>
            <a:ext cx="27095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주관부서</a:t>
            </a:r>
            <a:r>
              <a:rPr lang="en-US" altLang="ko-KR" sz="1300" spc="-60"/>
              <a:t>+</a:t>
            </a:r>
            <a:r>
              <a:rPr lang="ko-KR" altLang="en-US" sz="1300" spc="-60"/>
              <a:t>협업부서 </a:t>
            </a:r>
            <a:r>
              <a:rPr lang="en-US" altLang="ko-KR" sz="1300" spc="-60"/>
              <a:t>3</a:t>
            </a:r>
            <a:r>
              <a:rPr lang="ko-KR" altLang="en-US" sz="1300" spc="-60"/>
              <a:t>개 도출</a:t>
            </a:r>
            <a:endParaRPr lang="en-US" altLang="ko-KR" sz="1300" spc="-60"/>
          </a:p>
          <a:p>
            <a:pPr algn="ctr"/>
            <a:r>
              <a:rPr lang="ko-KR" altLang="en-US" sz="1300" spc="-60"/>
              <a:t>워크플로우 패널 동시 제시 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635271" y="5430847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주관부서 근거 </a:t>
            </a:r>
            <a:r>
              <a:rPr lang="en-US" altLang="ko-KR" sz="1300" spc="-40"/>
              <a:t>3</a:t>
            </a:r>
            <a:r>
              <a:rPr lang="ko-KR" altLang="en-US" sz="1300" spc="-40"/>
              <a:t>건 및 협업부서 도출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384992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② </a:t>
            </a:r>
            <a:r>
              <a:rPr lang="en-US" altLang="ko-KR" sz="1400" b="1"/>
              <a:t>AI </a:t>
            </a:r>
            <a:r>
              <a:rPr lang="ko-KR" altLang="en-US" sz="1400" b="1"/>
              <a:t>처리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384992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③ 협업 요청 확인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3739872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파일럿 테스트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투자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/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회계 연계 대표 질의 대응 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AI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 동작 검증 및 분석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실제 이메일 수신 여부 확인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3849861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3B899FC-1121-411F-94D7-FA8AC50385C8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『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업무 지침 네비게이터</a:t>
            </a: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』 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구현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D296A01-0467-4471-BFB7-716F6FEAD138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7" name="모서리가 둥근 직사각형 320">
              <a:extLst>
                <a:ext uri="{FF2B5EF4-FFF2-40B4-BE49-F238E27FC236}">
                  <a16:creationId xmlns:a16="http://schemas.microsoft.com/office/drawing/2014/main" id="{D5C715E3-3D6B-443B-959D-43AB6A203618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8" name="그림 47" descr="7.png">
              <a:extLst>
                <a:ext uri="{FF2B5EF4-FFF2-40B4-BE49-F238E27FC236}">
                  <a16:creationId xmlns:a16="http://schemas.microsoft.com/office/drawing/2014/main" id="{95E15549-020C-463B-9471-36C41955C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34" name="그림 33">
            <a:hlinkClick r:id="rId5" action="ppaction://hlinkfile"/>
            <a:extLst>
              <a:ext uri="{FF2B5EF4-FFF2-40B4-BE49-F238E27FC236}">
                <a16:creationId xmlns:a16="http://schemas.microsoft.com/office/drawing/2014/main" id="{E98EEE92-2BAD-48E7-A9E1-5FE5B50C593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/>
        </p:blipFill>
        <p:spPr>
          <a:xfrm>
            <a:off x="417123" y="1271745"/>
            <a:ext cx="3645785" cy="2136473"/>
          </a:xfrm>
          <a:prstGeom prst="roundRect">
            <a:avLst>
              <a:gd name="adj" fmla="val 3500"/>
            </a:avLst>
          </a:prstGeom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35564" y="543084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고정자산 감가상각 처리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04523"/>
            <a:ext cx="225395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/>
              <a:t>메일 발송 로그</a:t>
            </a:r>
            <a:r>
              <a:rPr lang="en-US" altLang="ko-KR" sz="1300"/>
              <a:t>·</a:t>
            </a:r>
            <a:r>
              <a:rPr lang="ko-KR" altLang="en-US" sz="1300"/>
              <a:t>수신함 캡처 </a:t>
            </a:r>
            <a:endParaRPr lang="en-US" altLang="ko-KR" sz="1300"/>
          </a:p>
          <a:p>
            <a:pPr algn="ctr"/>
            <a:r>
              <a:rPr lang="ko-KR" altLang="en-US" sz="1300"/>
              <a:t>정상 동작 검증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10813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32725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410813" y="5937415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10/10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336883" y="5975887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분류 정확도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532725" y="5937415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3/10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88344" y="5975887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>
                <a:solidFill>
                  <a:schemeClr val="tx1">
                    <a:lumMod val="95000"/>
                    <a:lumOff val="5000"/>
                  </a:schemeClr>
                </a:solidFill>
              </a:rPr>
              <a:t>범위 외 질문 답변 제한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648327" y="5937415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6.0</a:t>
            </a:r>
            <a:r>
              <a:rPr lang="ko-KR" altLang="en-US" b="1">
                <a:latin typeface="+mn-ea"/>
              </a:rPr>
              <a:t>초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273554" y="5975887"/>
            <a:ext cx="23588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요청부터 이메일 초안 작성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273554" y="6297716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기존</a:t>
            </a:r>
            <a:r>
              <a:rPr lang="ko-KR" altLang="en-US" sz="1200" b="1" spc="-60">
                <a:solidFill>
                  <a:srgbClr val="0F64C0"/>
                </a:solidFill>
              </a:rPr>
              <a:t>대비 처리시간 단축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88344" y="6297716"/>
            <a:ext cx="1970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부정확한 답변 생성  </a:t>
            </a:r>
            <a:r>
              <a:rPr lang="en-US" altLang="ko-KR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0</a:t>
            </a:r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건</a:t>
            </a:r>
            <a:endParaRPr lang="ko-KR" altLang="en-US" sz="1200" b="1" spc="-60">
              <a:solidFill>
                <a:srgbClr val="0F64C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262387" y="6297716"/>
            <a:ext cx="2352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 </a:t>
            </a:r>
            <a:r>
              <a:rPr lang="en-US" altLang="ko-KR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100</a:t>
            </a:r>
            <a:r>
              <a:rPr lang="en-US" altLang="ko-KR" sz="1200" b="1" spc="-80">
                <a:solidFill>
                  <a:srgbClr val="0F64C0"/>
                </a:solidFill>
              </a:rPr>
              <a:t>%  (</a:t>
            </a:r>
            <a:r>
              <a:rPr lang="ko-KR" altLang="en-US" sz="1200" b="1" spc="-80">
                <a:solidFill>
                  <a:srgbClr val="0F64C0"/>
                </a:solidFill>
              </a:rPr>
              <a:t>투자</a:t>
            </a:r>
            <a:r>
              <a:rPr lang="en-US" altLang="ko-KR" sz="1200" b="1" spc="-80">
                <a:solidFill>
                  <a:srgbClr val="0F64C0"/>
                </a:solidFill>
              </a:rPr>
              <a:t>/</a:t>
            </a:r>
            <a:r>
              <a:rPr lang="ko-KR" altLang="en-US" sz="1200" b="1" spc="-80">
                <a:solidFill>
                  <a:srgbClr val="0F64C0"/>
                </a:solidFill>
              </a:rPr>
              <a:t>회계범위 질문 限</a:t>
            </a:r>
            <a:r>
              <a:rPr lang="en-US" altLang="ko-KR" sz="1200" b="1" spc="-80">
                <a:solidFill>
                  <a:srgbClr val="0F64C0"/>
                </a:solidFill>
              </a:rPr>
              <a:t>) </a:t>
            </a:r>
            <a:endParaRPr lang="ko-KR" altLang="en-US" sz="1200" b="1" spc="-80">
              <a:solidFill>
                <a:srgbClr val="0F64C0"/>
              </a:solidFill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9482" y="4753390"/>
            <a:ext cx="299258" cy="299258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139" y="4753390"/>
            <a:ext cx="299258" cy="299258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17188" y="4753390"/>
            <a:ext cx="320492" cy="32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015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활용을 위한 첫걸음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다음 과제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6" y="3970534"/>
            <a:ext cx="9034370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향후 계획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: </a:t>
            </a:r>
            <a:r>
              <a:rPr lang="ko-KR" altLang="en-US" sz="1400"/>
              <a:t>데이터 보완과 현업 검증을 거쳐 적용 범위를 단계적으로 확대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4080523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A3B9E35-C842-441D-B20A-3172A92BE66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(6/6)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6396DB5-C4C0-4342-B110-E6F18BC28618}"/>
              </a:ext>
            </a:extLst>
          </p:cNvPr>
          <p:cNvSpPr/>
          <p:nvPr/>
        </p:nvSpPr>
        <p:spPr>
          <a:xfrm>
            <a:off x="380299" y="606233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</a:rPr>
              <a:t>             </a:t>
            </a:r>
            <a:r>
              <a:rPr lang="ko-KR" altLang="en-US" sz="1500" b="1" spc="-40">
                <a:solidFill>
                  <a:schemeClr val="tx1"/>
                </a:solidFill>
              </a:rPr>
              <a:t>실제 업무 검증을 바탕으로 </a:t>
            </a:r>
            <a:r>
              <a:rPr lang="ko-KR" altLang="en-US" sz="1500" b="1">
                <a:solidFill>
                  <a:schemeClr val="tx1"/>
                </a:solidFill>
              </a:rPr>
              <a:t>서비스의 완성도를 높이고</a:t>
            </a:r>
            <a:r>
              <a:rPr lang="en-US" altLang="ko-KR" sz="1500" b="1">
                <a:solidFill>
                  <a:schemeClr val="tx1"/>
                </a:solidFill>
              </a:rPr>
              <a:t>, </a:t>
            </a:r>
            <a:r>
              <a:rPr lang="ko-KR" altLang="en-US" sz="1500" b="1">
                <a:solidFill>
                  <a:schemeClr val="tx1"/>
                </a:solidFill>
              </a:rPr>
              <a:t>효과가 확인된 업무부터 적용 범위를 확대</a:t>
            </a:r>
            <a:endParaRPr lang="ko-KR" altLang="en-US" sz="1500" b="1" spc="-4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39FA52-0BC8-41ED-96A4-C21CDA0939AE}"/>
              </a:ext>
            </a:extLst>
          </p:cNvPr>
          <p:cNvGrpSpPr/>
          <p:nvPr/>
        </p:nvGrpSpPr>
        <p:grpSpPr>
          <a:xfrm>
            <a:off x="388532" y="6099254"/>
            <a:ext cx="511817" cy="431452"/>
            <a:chOff x="-895525" y="3274733"/>
            <a:chExt cx="619300" cy="474597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E250C78-B1EC-4C84-B61C-88D384CA99F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른쪽 62">
              <a:extLst>
                <a:ext uri="{FF2B5EF4-FFF2-40B4-BE49-F238E27FC236}">
                  <a16:creationId xmlns:a16="http://schemas.microsoft.com/office/drawing/2014/main" id="{665DD529-1989-4A76-A5A4-B68BE9A4FCF2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27BA35-F808-4CD6-941D-604A42AE0488}"/>
              </a:ext>
            </a:extLst>
          </p:cNvPr>
          <p:cNvCxnSpPr>
            <a:cxnSpLocks/>
          </p:cNvCxnSpPr>
          <p:nvPr/>
        </p:nvCxnSpPr>
        <p:spPr>
          <a:xfrm>
            <a:off x="352511" y="4833356"/>
            <a:ext cx="92996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D16EDC6-7CE1-4175-9471-C5D89E61B5CB}"/>
              </a:ext>
            </a:extLst>
          </p:cNvPr>
          <p:cNvGrpSpPr/>
          <p:nvPr/>
        </p:nvGrpSpPr>
        <p:grpSpPr>
          <a:xfrm>
            <a:off x="362747" y="4478495"/>
            <a:ext cx="2783225" cy="307777"/>
            <a:chOff x="536919" y="4223182"/>
            <a:chExt cx="2783225" cy="30777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D2E093-91DA-45AF-A8B9-B128F972257E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B108567-8770-4855-A685-5EF08269B08A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기반 보완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63B8C5B-3788-47CD-B9CA-F34E39003916}"/>
              </a:ext>
            </a:extLst>
          </p:cNvPr>
          <p:cNvGrpSpPr/>
          <p:nvPr/>
        </p:nvGrpSpPr>
        <p:grpSpPr>
          <a:xfrm>
            <a:off x="3312776" y="4478495"/>
            <a:ext cx="2783225" cy="307777"/>
            <a:chOff x="536919" y="4223182"/>
            <a:chExt cx="2783225" cy="30777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E8EAA6-2743-4783-8EE2-08BE5D460A97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중기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0F45BD0-6251-45BC-866F-75BE32884DED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현업 검증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471A17-20BA-4D50-AF45-AF865A36983A}"/>
              </a:ext>
            </a:extLst>
          </p:cNvPr>
          <p:cNvGrpSpPr/>
          <p:nvPr/>
        </p:nvGrpSpPr>
        <p:grpSpPr>
          <a:xfrm>
            <a:off x="6868887" y="4478495"/>
            <a:ext cx="2783225" cy="307777"/>
            <a:chOff x="536919" y="4223182"/>
            <a:chExt cx="2783225" cy="30777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8B14B0-E30E-4CF7-A7A7-E5B75802E26A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향후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A750E79-6577-482D-9CF9-C671BF8159FB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단계적 확대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C95049D1-FC54-4668-A3DA-3E5819ABBF8A}"/>
              </a:ext>
            </a:extLst>
          </p:cNvPr>
          <p:cNvSpPr txBox="1"/>
          <p:nvPr/>
        </p:nvSpPr>
        <p:spPr>
          <a:xfrm>
            <a:off x="360341" y="4982366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대표 </a:t>
            </a:r>
            <a:r>
              <a:rPr lang="en-US" altLang="ko-KR" sz="1300" spc="-40">
                <a:latin typeface="+mn-ea"/>
              </a:rPr>
              <a:t>3~5</a:t>
            </a:r>
            <a:r>
              <a:rPr lang="ko-KR" altLang="en-US" sz="1300" spc="-40">
                <a:latin typeface="+mn-ea"/>
              </a:rPr>
              <a:t>개 </a:t>
            </a:r>
            <a:r>
              <a:rPr lang="ko-KR" altLang="en-US" sz="1300" spc="-40"/>
              <a:t>부서의 업무 데이터 정비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794966-039E-4F50-8E07-D120EC9CC40D}"/>
              </a:ext>
            </a:extLst>
          </p:cNvPr>
          <p:cNvSpPr txBox="1"/>
          <p:nvPr/>
        </p:nvSpPr>
        <p:spPr>
          <a:xfrm>
            <a:off x="360341" y="548651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명확한 업무부터 핵심 기능 검증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73E6AF5-A624-43C8-947D-5EE5E92C333B}"/>
              </a:ext>
            </a:extLst>
          </p:cNvPr>
          <p:cNvSpPr txBox="1"/>
          <p:nvPr/>
        </p:nvSpPr>
        <p:spPr>
          <a:xfrm>
            <a:off x="3332140" y="4982366"/>
            <a:ext cx="36313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과제 제안자와 실제 사용자 대상 시범 운영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9F7B80-E34E-4956-8D94-CD2B38F66EBB}"/>
              </a:ext>
            </a:extLst>
          </p:cNvPr>
          <p:cNvSpPr txBox="1"/>
          <p:nvPr/>
        </p:nvSpPr>
        <p:spPr>
          <a:xfrm>
            <a:off x="3332140" y="5486518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사용자 의견 반영해 안내 방식 보완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1FDD0D6-52C0-488E-A014-75F411499CFF}"/>
              </a:ext>
            </a:extLst>
          </p:cNvPr>
          <p:cNvSpPr txBox="1"/>
          <p:nvPr/>
        </p:nvSpPr>
        <p:spPr>
          <a:xfrm>
            <a:off x="6868887" y="4982366"/>
            <a:ext cx="267036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검증된 업무 중심 적용 범위 확대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780FFA-EC75-4D49-B7B4-9D6ABB2B0B10}"/>
              </a:ext>
            </a:extLst>
          </p:cNvPr>
          <p:cNvSpPr txBox="1"/>
          <p:nvPr/>
        </p:nvSpPr>
        <p:spPr>
          <a:xfrm>
            <a:off x="6868887" y="5486518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사규 앱</a:t>
            </a:r>
            <a:r>
              <a:rPr lang="en-US" altLang="ko-KR" sz="1300" spc="-40"/>
              <a:t>(</a:t>
            </a:r>
            <a:r>
              <a:rPr lang="ko-KR" altLang="en-US" sz="1300" spc="-40"/>
              <a:t>사내 시스템</a:t>
            </a:r>
            <a:r>
              <a:rPr lang="en-US" altLang="ko-KR" sz="1300" spc="-40"/>
              <a:t>)</a:t>
            </a:r>
            <a:r>
              <a:rPr lang="ko-KR" altLang="en-US" sz="1300" spc="-40"/>
              <a:t>과 연계 가능성 검토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5FA1B93-D2F1-4D7A-AFE3-44FD432A5A39}"/>
              </a:ext>
            </a:extLst>
          </p:cNvPr>
          <p:cNvSpPr>
            <a:spLocks noGrp="1"/>
          </p:cNvSpPr>
          <p:nvPr/>
        </p:nvSpPr>
        <p:spPr>
          <a:xfrm>
            <a:off x="315347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42707B5-39B3-4D11-B2ED-771F0EC39FFD}"/>
              </a:ext>
            </a:extLst>
          </p:cNvPr>
          <p:cNvSpPr>
            <a:spLocks noGrp="1"/>
          </p:cNvSpPr>
          <p:nvPr/>
        </p:nvSpPr>
        <p:spPr>
          <a:xfrm>
            <a:off x="5014458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EEB1E2-43FC-4FA8-A763-76998867EBE7}"/>
              </a:ext>
            </a:extLst>
          </p:cNvPr>
          <p:cNvSpPr txBox="1"/>
          <p:nvPr/>
        </p:nvSpPr>
        <p:spPr>
          <a:xfrm>
            <a:off x="321991" y="1878502"/>
            <a:ext cx="456866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업무 문제를 </a:t>
            </a:r>
            <a:r>
              <a:rPr lang="en-US" altLang="ko-KR" sz="1400">
                <a:latin typeface="+mn-ea"/>
              </a:rPr>
              <a:t>AI </a:t>
            </a:r>
            <a:r>
              <a:rPr lang="ko-KR" altLang="en-US" sz="1400">
                <a:latin typeface="+mn-ea"/>
              </a:rPr>
              <a:t>관점에서 다시 바라보는 경험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Python </a:t>
            </a:r>
            <a:r>
              <a:rPr lang="ko-KR" altLang="en-US" sz="1400">
                <a:latin typeface="+mn-ea"/>
              </a:rPr>
              <a:t>기초</a:t>
            </a:r>
            <a:r>
              <a:rPr lang="en-US" altLang="ko-KR" sz="1400">
                <a:latin typeface="+mn-ea"/>
              </a:rPr>
              <a:t>, VS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Code,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GitHub, LangChain, RAG </a:t>
            </a:r>
            <a:r>
              <a:rPr lang="ko-KR" altLang="en-US" sz="1400">
                <a:latin typeface="+mn-ea"/>
              </a:rPr>
              <a:t>등</a:t>
            </a:r>
            <a:endParaRPr lang="en-US" altLang="ko-KR" sz="1400">
              <a:latin typeface="+mn-ea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400">
                <a:latin typeface="+mn-ea"/>
              </a:rPr>
              <a:t>  </a:t>
            </a:r>
            <a:r>
              <a:rPr lang="ko-KR" altLang="en-US" sz="1400">
                <a:latin typeface="+mn-ea"/>
              </a:rPr>
              <a:t>새로운 개념 학습</a:t>
            </a: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→ 실제 웹 서비스 구현에 활용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LangSmith </a:t>
            </a:r>
            <a:r>
              <a:rPr lang="ko-KR" altLang="en-US" sz="1400">
                <a:latin typeface="+mn-ea"/>
              </a:rPr>
              <a:t>트레이싱</a:t>
            </a:r>
            <a:r>
              <a:rPr lang="en-US" altLang="ko-KR" sz="1400">
                <a:latin typeface="+mn-ea"/>
              </a:rPr>
              <a:t>·</a:t>
            </a:r>
            <a:r>
              <a:rPr lang="ko-KR" altLang="en-US" sz="1400">
                <a:latin typeface="+mn-ea"/>
              </a:rPr>
              <a:t>자동 채점 시스템 구축 경험</a:t>
            </a:r>
            <a:endParaRPr lang="en-US" altLang="ko-KR" sz="140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D8CBE9-531F-460A-A6C2-1F24271B5F97}"/>
              </a:ext>
            </a:extLst>
          </p:cNvPr>
          <p:cNvSpPr txBox="1"/>
          <p:nvPr/>
        </p:nvSpPr>
        <p:spPr>
          <a:xfrm>
            <a:off x="5015346" y="1878502"/>
            <a:ext cx="456866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회사 지침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규정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프로세스 데이터 추가 확보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실제 업무 데이터로 다양한 상황 검증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/>
              <a:t>재순위화</a:t>
            </a:r>
            <a:r>
              <a:rPr lang="en-US" altLang="ko-KR" sz="1400"/>
              <a:t>(rerank) </a:t>
            </a:r>
            <a:r>
              <a:rPr lang="ko-KR" altLang="en-US" sz="1400"/>
              <a:t>등 검색 정확도 근본 개선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현업 사용자 의견을 반영한 서비스 개선</a:t>
            </a:r>
            <a:endParaRPr lang="en-US" altLang="ko-KR" sz="1400"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6B02998-6623-45B2-8E8E-3E0A89B44C9D}"/>
              </a:ext>
            </a:extLst>
          </p:cNvPr>
          <p:cNvSpPr/>
          <p:nvPr/>
        </p:nvSpPr>
        <p:spPr>
          <a:xfrm>
            <a:off x="556286" y="702152"/>
            <a:ext cx="6093896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AI </a:t>
            </a:r>
            <a:r>
              <a:rPr lang="ko-KR" altLang="en-US" sz="1400" b="1">
                <a:latin typeface="+mn-ea"/>
              </a:rPr>
              <a:t>개념을 적용해 보며 얻은 경험을 바탕으로 가능성과 과제 확인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57F1BE6-5F9C-4131-A550-461A0E6F04B7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4" name="모서리가 둥근 직사각형 320">
              <a:extLst>
                <a:ext uri="{FF2B5EF4-FFF2-40B4-BE49-F238E27FC236}">
                  <a16:creationId xmlns:a16="http://schemas.microsoft.com/office/drawing/2014/main" id="{47DF7EC9-150A-4771-90D3-56B6A491FA82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6" name="그림 45" descr="7.png">
              <a:extLst>
                <a:ext uri="{FF2B5EF4-FFF2-40B4-BE49-F238E27FC236}">
                  <a16:creationId xmlns:a16="http://schemas.microsoft.com/office/drawing/2014/main" id="{B88BF027-05B5-417D-A7A9-CF9B29576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873CF61-8A21-43BF-B0E4-A4D3B60D98AF}"/>
              </a:ext>
            </a:extLst>
          </p:cNvPr>
          <p:cNvSpPr/>
          <p:nvPr/>
        </p:nvSpPr>
        <p:spPr>
          <a:xfrm>
            <a:off x="5662058" y="1223492"/>
            <a:ext cx="3359671" cy="314383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앞으로 보완할 점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2A42805-73FD-483D-B6BF-C7684EA5AA86}"/>
              </a:ext>
            </a:extLst>
          </p:cNvPr>
          <p:cNvSpPr/>
          <p:nvPr/>
        </p:nvSpPr>
        <p:spPr>
          <a:xfrm>
            <a:off x="962947" y="1223492"/>
            <a:ext cx="3359671" cy="314383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이번 교육과 프로젝트에서 얻은 것 </a:t>
            </a:r>
          </a:p>
        </p:txBody>
      </p:sp>
    </p:spTree>
    <p:extLst>
      <p:ext uri="{BB962C8B-B14F-4D97-AF65-F5344CB8AC3E}">
        <p14:creationId xmlns:p14="http://schemas.microsoft.com/office/powerpoint/2010/main" val="19541639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1C406C30-685F-4132-9A26-55964B5B5B01}" vid="{E518DA7B-1320-4EFF-98A5-E9BC59A80662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1358</TotalTime>
  <Words>1183</Words>
  <Application>Microsoft Office PowerPoint</Application>
  <DocSecurity>0</DocSecurity>
  <PresentationFormat>A4 용지(210x297mm)</PresentationFormat>
  <Paragraphs>199</Paragraphs>
  <Slides>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HY견고딕</vt:lpstr>
      <vt:lpstr>맑은 고딕</vt:lpstr>
      <vt:lpstr>Calibri Light</vt:lpstr>
      <vt:lpstr>Arial</vt:lpstr>
      <vt:lpstr>Calibri</vt:lpstr>
      <vt:lpstr>Wingdings</vt:lpstr>
      <vt:lpstr>Default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Administrator</cp:lastModifiedBy>
  <cp:revision>260</cp:revision>
  <dcterms:created xsi:type="dcterms:W3CDTF">2026-09-04T08:20:33Z</dcterms:created>
  <dcterms:modified xsi:type="dcterms:W3CDTF">2026-09-12T12:10:23Z</dcterms:modified>
</cp:coreProperties>
</file>