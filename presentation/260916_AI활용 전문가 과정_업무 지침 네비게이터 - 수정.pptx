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7"/>
  </p:notesMasterIdLst>
  <p:sldIdLst>
    <p:sldId id="256" r:id="rId2"/>
    <p:sldId id="263" r:id="rId3"/>
    <p:sldId id="269" r:id="rId4"/>
    <p:sldId id="273" r:id="rId5"/>
    <p:sldId id="274" r:id="rId6"/>
  </p:sldIdLst>
  <p:sldSz cx="9906000" cy="6858000" type="A4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HY견고딕" panose="02030600000101010101" pitchFamily="18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4C0"/>
    <a:srgbClr val="0000FF"/>
    <a:srgbClr val="2082C8"/>
    <a:srgbClr val="003D9B"/>
    <a:srgbClr val="157CC5"/>
    <a:srgbClr val="EDF1F9"/>
    <a:srgbClr val="FAF9FF"/>
    <a:srgbClr val="FFFFFF"/>
    <a:srgbClr val="F2F2F2"/>
    <a:srgbClr val="C56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37" autoAdjust="0"/>
  </p:normalViewPr>
  <p:slideViewPr>
    <p:cSldViewPr snapToGrid="0">
      <p:cViewPr varScale="1">
        <p:scale>
          <a:sx n="74" d="100"/>
          <a:sy n="74" d="100"/>
        </p:scale>
        <p:origin x="14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83733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62512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69592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904110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키워드</a:t>
            </a:r>
            <a:r>
              <a:rPr lang="en-US" altLang="ko-KR" sz="1400" b="1"/>
              <a:t>, </a:t>
            </a:r>
            <a:r>
              <a:rPr lang="ko-KR" altLang="en-US" sz="1400" b="1"/>
              <a:t>업무 유형 분석            절차</a:t>
            </a:r>
            <a:r>
              <a:rPr lang="en-US" altLang="ko-KR" sz="1400" b="1"/>
              <a:t>,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904110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2478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664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5030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15186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83733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730899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103619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34393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1826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77795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60139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66670" y="1369423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74456" y="1751767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34394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412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5947700"/>
            <a:ext cx="9420639" cy="73578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주요 적용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: Document Loading → Text Splitter → Metadata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구성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→ Embedding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질의응답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E4B68A-98B1-4B98-8D5F-47110D2D88E7}"/>
              </a:ext>
            </a:extLst>
          </p:cNvPr>
          <p:cNvSpPr/>
          <p:nvPr/>
        </p:nvSpPr>
        <p:spPr>
          <a:xfrm>
            <a:off x="637369" y="6299632"/>
            <a:ext cx="370304" cy="367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화살표: 오각형 65">
            <a:extLst>
              <a:ext uri="{FF2B5EF4-FFF2-40B4-BE49-F238E27FC236}">
                <a16:creationId xmlns:a16="http://schemas.microsoft.com/office/drawing/2014/main" id="{795D8661-7EF7-466E-8604-8999B7F5D1D9}"/>
              </a:ext>
            </a:extLst>
          </p:cNvPr>
          <p:cNvSpPr/>
          <p:nvPr/>
        </p:nvSpPr>
        <p:spPr>
          <a:xfrm>
            <a:off x="6868208" y="1184324"/>
            <a:ext cx="2738222" cy="53228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각형 62">
            <a:extLst>
              <a:ext uri="{FF2B5EF4-FFF2-40B4-BE49-F238E27FC236}">
                <a16:creationId xmlns:a16="http://schemas.microsoft.com/office/drawing/2014/main" id="{D95BD950-2E54-4BA9-84B1-6EDD02F58D33}"/>
              </a:ext>
            </a:extLst>
          </p:cNvPr>
          <p:cNvSpPr/>
          <p:nvPr/>
        </p:nvSpPr>
        <p:spPr>
          <a:xfrm>
            <a:off x="4743912" y="1185998"/>
            <a:ext cx="2402470" cy="53228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 구현에서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적용 시도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1" name="화살표: 오각형 60">
            <a:extLst>
              <a:ext uri="{FF2B5EF4-FFF2-40B4-BE49-F238E27FC236}">
                <a16:creationId xmlns:a16="http://schemas.microsoft.com/office/drawing/2014/main" id="{6A3F156D-487C-447A-9CFB-F967BDF25AD0}"/>
              </a:ext>
            </a:extLst>
          </p:cNvPr>
          <p:cNvSpPr/>
          <p:nvPr/>
        </p:nvSpPr>
        <p:spPr>
          <a:xfrm>
            <a:off x="2632081" y="1185998"/>
            <a:ext cx="2402470" cy="53228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각형 13">
            <a:extLst>
              <a:ext uri="{FF2B5EF4-FFF2-40B4-BE49-F238E27FC236}">
                <a16:creationId xmlns:a16="http://schemas.microsoft.com/office/drawing/2014/main" id="{7878CD41-4983-42B3-B5AB-6773A45A2E6E}"/>
              </a:ext>
            </a:extLst>
          </p:cNvPr>
          <p:cNvSpPr/>
          <p:nvPr/>
        </p:nvSpPr>
        <p:spPr>
          <a:xfrm>
            <a:off x="269337" y="1185998"/>
            <a:ext cx="2663431" cy="53228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6E0DF-4368-4548-8623-418ABF175C24}"/>
              </a:ext>
            </a:extLst>
          </p:cNvPr>
          <p:cNvSpPr txBox="1"/>
          <p:nvPr/>
        </p:nvSpPr>
        <p:spPr>
          <a:xfrm>
            <a:off x="1104734" y="1290559"/>
            <a:ext cx="1366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문제 정의</a:t>
            </a:r>
          </a:p>
        </p:txBody>
      </p:sp>
      <p:pic>
        <p:nvPicPr>
          <p:cNvPr id="17" name="그래픽 16" descr="돋보기 단색으로 채워진">
            <a:extLst>
              <a:ext uri="{FF2B5EF4-FFF2-40B4-BE49-F238E27FC236}">
                <a16:creationId xmlns:a16="http://schemas.microsoft.com/office/drawing/2014/main" id="{4F214718-0AD9-4F4F-85CD-A4D47913A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315" y="1223541"/>
            <a:ext cx="457200" cy="4572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DA78A4A-243C-4F1A-B041-F48CE4990FC8}"/>
              </a:ext>
            </a:extLst>
          </p:cNvPr>
          <p:cNvSpPr txBox="1"/>
          <p:nvPr/>
        </p:nvSpPr>
        <p:spPr>
          <a:xfrm>
            <a:off x="3467765" y="1290559"/>
            <a:ext cx="1366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시스템 구현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53ADC6-6851-42E1-9D2F-5BA596FC4CFF}"/>
              </a:ext>
            </a:extLst>
          </p:cNvPr>
          <p:cNvSpPr txBox="1"/>
          <p:nvPr/>
        </p:nvSpPr>
        <p:spPr>
          <a:xfrm>
            <a:off x="5506663" y="1290559"/>
            <a:ext cx="15316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bg1"/>
                </a:solidFill>
              </a:rPr>
              <a:t>샘플링 테스트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5FF9FE-D0AC-430C-BD6D-6040A296D765}"/>
              </a:ext>
            </a:extLst>
          </p:cNvPr>
          <p:cNvSpPr txBox="1"/>
          <p:nvPr/>
        </p:nvSpPr>
        <p:spPr>
          <a:xfrm>
            <a:off x="7824759" y="1290559"/>
            <a:ext cx="15316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bg1"/>
                </a:solidFill>
              </a:rPr>
              <a:t>시스템 검증</a:t>
            </a:r>
          </a:p>
        </p:txBody>
      </p:sp>
      <p:pic>
        <p:nvPicPr>
          <p:cNvPr id="25" name="그래픽 24" descr="전구 및 기어  단색으로 채워진">
            <a:extLst>
              <a:ext uri="{FF2B5EF4-FFF2-40B4-BE49-F238E27FC236}">
                <a16:creationId xmlns:a16="http://schemas.microsoft.com/office/drawing/2014/main" id="{75EC4D1F-75B0-45C0-B867-8BBD494A7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5047" y="1179825"/>
            <a:ext cx="544632" cy="544632"/>
          </a:xfrm>
          <a:prstGeom prst="rect">
            <a:avLst/>
          </a:prstGeom>
        </p:spPr>
      </p:pic>
      <p:pic>
        <p:nvPicPr>
          <p:cNvPr id="30" name="그래픽 29" descr="화살표 원 단색으로 채워진">
            <a:extLst>
              <a:ext uri="{FF2B5EF4-FFF2-40B4-BE49-F238E27FC236}">
                <a16:creationId xmlns:a16="http://schemas.microsoft.com/office/drawing/2014/main" id="{2ED9319A-6460-41B8-9D59-E140BC380E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5004" y="1159064"/>
            <a:ext cx="586154" cy="586154"/>
          </a:xfrm>
          <a:prstGeom prst="rect">
            <a:avLst/>
          </a:prstGeom>
        </p:spPr>
      </p:pic>
      <p:pic>
        <p:nvPicPr>
          <p:cNvPr id="35" name="그래픽 34" descr="시험관 단색으로 채워진">
            <a:extLst>
              <a:ext uri="{FF2B5EF4-FFF2-40B4-BE49-F238E27FC236}">
                <a16:creationId xmlns:a16="http://schemas.microsoft.com/office/drawing/2014/main" id="{0BC30984-4DD1-426B-9C31-3129972A44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9450" y="1238854"/>
            <a:ext cx="426575" cy="42657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B1C7D09-164C-42A0-A9EC-E9F28CB1F4BC}"/>
              </a:ext>
            </a:extLst>
          </p:cNvPr>
          <p:cNvGrpSpPr/>
          <p:nvPr/>
        </p:nvGrpSpPr>
        <p:grpSpPr>
          <a:xfrm>
            <a:off x="279093" y="1848907"/>
            <a:ext cx="2237155" cy="1889090"/>
            <a:chOff x="319285" y="2441752"/>
            <a:chExt cx="2237155" cy="188909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7BC28A-8B0A-4781-A61B-331967B0BBBD}"/>
                </a:ext>
              </a:extLst>
            </p:cNvPr>
            <p:cNvSpPr/>
            <p:nvPr/>
          </p:nvSpPr>
          <p:spPr>
            <a:xfrm>
              <a:off x="319285" y="2441754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9871CD-9C0F-406B-AADC-C37FA842222B}"/>
                </a:ext>
              </a:extLst>
            </p:cNvPr>
            <p:cNvSpPr/>
            <p:nvPr/>
          </p:nvSpPr>
          <p:spPr>
            <a:xfrm>
              <a:off x="319285" y="2441752"/>
              <a:ext cx="2237155" cy="5322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spc="-100">
                  <a:solidFill>
                    <a:schemeClr val="tx1"/>
                  </a:solidFill>
                  <a:latin typeface="+mn-ea"/>
                </a:rPr>
                <a:t>① 범위 및 대표부서 선정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CCBB0B-06C8-4214-A6B4-99C649E4A7D4}"/>
              </a:ext>
            </a:extLst>
          </p:cNvPr>
          <p:cNvGrpSpPr/>
          <p:nvPr/>
        </p:nvGrpSpPr>
        <p:grpSpPr>
          <a:xfrm>
            <a:off x="2642487" y="1846298"/>
            <a:ext cx="2237155" cy="1889090"/>
            <a:chOff x="2682679" y="2439143"/>
            <a:chExt cx="2237155" cy="188909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C69ECFE-782A-40A2-9BA9-888C46599EE9}"/>
                </a:ext>
              </a:extLst>
            </p:cNvPr>
            <p:cNvSpPr/>
            <p:nvPr/>
          </p:nvSpPr>
          <p:spPr>
            <a:xfrm>
              <a:off x="2682679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F910A5D-2A7F-45DA-9187-7C5766E52393}"/>
                </a:ext>
              </a:extLst>
            </p:cNvPr>
            <p:cNvSpPr/>
            <p:nvPr/>
          </p:nvSpPr>
          <p:spPr>
            <a:xfrm>
              <a:off x="2682679" y="2439143"/>
              <a:ext cx="2237155" cy="5322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② 검증 데이터 확보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EC66B2-BD82-439D-A3F7-973604283240}"/>
              </a:ext>
            </a:extLst>
          </p:cNvPr>
          <p:cNvGrpSpPr/>
          <p:nvPr/>
        </p:nvGrpSpPr>
        <p:grpSpPr>
          <a:xfrm>
            <a:off x="5005881" y="1846298"/>
            <a:ext cx="2237155" cy="1889090"/>
            <a:chOff x="5046073" y="2439143"/>
            <a:chExt cx="2237155" cy="188909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699BC76-A765-4B9A-89E0-AD0291BC01F0}"/>
                </a:ext>
              </a:extLst>
            </p:cNvPr>
            <p:cNvSpPr/>
            <p:nvPr/>
          </p:nvSpPr>
          <p:spPr>
            <a:xfrm>
              <a:off x="5046073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451CED7-4E43-48BE-9EDB-E3F402E72EE1}"/>
                </a:ext>
              </a:extLst>
            </p:cNvPr>
            <p:cNvSpPr/>
            <p:nvPr/>
          </p:nvSpPr>
          <p:spPr>
            <a:xfrm>
              <a:off x="5046073" y="2439143"/>
              <a:ext cx="2237155" cy="53228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③ 대표 질의 선정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32FE20-35DD-4845-A769-99A8F42D59E4}"/>
              </a:ext>
            </a:extLst>
          </p:cNvPr>
          <p:cNvGrpSpPr/>
          <p:nvPr/>
        </p:nvGrpSpPr>
        <p:grpSpPr>
          <a:xfrm>
            <a:off x="7369275" y="1846298"/>
            <a:ext cx="2237155" cy="1889090"/>
            <a:chOff x="7409467" y="2439143"/>
            <a:chExt cx="2237155" cy="188909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DDBDF5-E08E-457F-A863-9A7872E1953C}"/>
                </a:ext>
              </a:extLst>
            </p:cNvPr>
            <p:cNvSpPr/>
            <p:nvPr/>
          </p:nvSpPr>
          <p:spPr>
            <a:xfrm>
              <a:off x="7409467" y="2439144"/>
              <a:ext cx="2237155" cy="1889089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45B53C-1156-4964-83BB-AB1AAC3ED977}"/>
                </a:ext>
              </a:extLst>
            </p:cNvPr>
            <p:cNvSpPr/>
            <p:nvPr/>
          </p:nvSpPr>
          <p:spPr>
            <a:xfrm>
              <a:off x="7409467" y="2439143"/>
              <a:ext cx="2237155" cy="53228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④ 정확성 검토</a:t>
              </a:r>
              <a:r>
                <a:rPr lang="en-US" altLang="ko-KR" sz="15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및 보완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6" y="2439977"/>
            <a:ext cx="2237154" cy="133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, </a:t>
            </a:r>
            <a:r>
              <a:rPr lang="ko-KR" altLang="en-US" sz="1300"/>
              <a:t>프로세스 등</a:t>
            </a:r>
            <a:r>
              <a:rPr lang="en-US" altLang="ko-KR" sz="1300"/>
              <a:t> </a:t>
            </a:r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회사 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r>
              <a:rPr lang="en-US" altLang="ko-KR" sz="1300"/>
              <a:t>(</a:t>
            </a:r>
            <a:r>
              <a:rPr lang="ko-KR" altLang="en-US" sz="1300"/>
              <a:t>섹션</a:t>
            </a:r>
            <a:r>
              <a:rPr lang="en-US" altLang="ko-KR" sz="1300"/>
              <a:t>, </a:t>
            </a:r>
            <a:r>
              <a:rPr lang="ko-KR" altLang="en-US" sz="1300"/>
              <a:t>팀 제외</a:t>
            </a:r>
            <a:r>
              <a:rPr lang="en-US" altLang="ko-KR" sz="1300"/>
              <a:t>)</a:t>
            </a:r>
          </a:p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특성</a:t>
            </a:r>
            <a:r>
              <a:rPr lang="en-US" altLang="ko-KR" sz="1300"/>
              <a:t>, </a:t>
            </a:r>
            <a:r>
              <a:rPr lang="ko-KR" altLang="en-US" sz="1300"/>
              <a:t>협업빈도 기준 </a:t>
            </a:r>
            <a:endParaRPr lang="en-US" altLang="ko-KR" sz="1300"/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대표부서 선정 </a:t>
            </a:r>
            <a:r>
              <a:rPr lang="en-US" altLang="ko-KR" sz="1300"/>
              <a:t>(10 </a:t>
            </a:r>
            <a:r>
              <a:rPr lang="ko-KR" altLang="en-US" sz="1300"/>
              <a:t>→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673600"/>
            <a:ext cx="2416771" cy="88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관련 지침</a:t>
            </a:r>
            <a:r>
              <a:rPr lang="en-US" altLang="ko-KR" sz="1300"/>
              <a:t>, </a:t>
            </a:r>
            <a:r>
              <a:rPr lang="ko-KR" altLang="en-US" sz="1300"/>
              <a:t>조직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정보 수집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673600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96953"/>
            <a:ext cx="2363750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서비스 정확도 개선</a:t>
            </a:r>
            <a:endParaRPr lang="en-US" altLang="ko-KR" sz="1300" spc="-1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100">
                <a:latin typeface="+mn-ea"/>
              </a:rPr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/>
              <a:t>→ 투자</a:t>
            </a:r>
            <a:r>
              <a:rPr lang="ko-KR" altLang="en-US" sz="130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300"/>
              <a:t>회계</a:t>
            </a:r>
            <a:r>
              <a:rPr lang="en-US" altLang="ko-KR" sz="1300"/>
              <a:t> 9</a:t>
            </a:r>
            <a:r>
              <a:rPr lang="ko-KR" altLang="en-US" sz="1300"/>
              <a:t>개 부서로 조정</a:t>
            </a:r>
            <a:endParaRPr lang="ko-KR" altLang="en-US" sz="1300" spc="-100">
              <a:latin typeface="+mn-ea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stCxn id="28" idx="2"/>
            <a:endCxn id="26" idx="2"/>
          </p:cNvCxnSpPr>
          <p:nvPr/>
        </p:nvCxnSpPr>
        <p:spPr>
          <a:xfrm rot="5400000">
            <a:off x="7306156" y="2553691"/>
            <a:ext cx="12700" cy="236339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A4C810-13B8-4A1C-9DA1-DD82DC11B8E9}"/>
              </a:ext>
            </a:extLst>
          </p:cNvPr>
          <p:cNvSpPr txBox="1"/>
          <p:nvPr/>
        </p:nvSpPr>
        <p:spPr>
          <a:xfrm>
            <a:off x="6733870" y="3799131"/>
            <a:ext cx="1138908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반복 검증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2CCD23-797B-42D2-8D72-34A900E4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41429"/>
              </p:ext>
            </p:extLst>
          </p:nvPr>
        </p:nvGraphicFramePr>
        <p:xfrm>
          <a:off x="300351" y="4143587"/>
          <a:ext cx="9306079" cy="1567394"/>
        </p:xfrm>
        <a:graphic>
          <a:graphicData uri="http://schemas.openxmlformats.org/drawingml/2006/table">
            <a:tbl>
              <a:tblPr/>
              <a:tblGrid>
                <a:gridCol w="908543">
                  <a:extLst>
                    <a:ext uri="{9D8B030D-6E8A-4147-A177-3AD203B41FA5}">
                      <a16:colId xmlns:a16="http://schemas.microsoft.com/office/drawing/2014/main" val="1870208288"/>
                    </a:ext>
                  </a:extLst>
                </a:gridCol>
                <a:gridCol w="4142424">
                  <a:extLst>
                    <a:ext uri="{9D8B030D-6E8A-4147-A177-3AD203B41FA5}">
                      <a16:colId xmlns:a16="http://schemas.microsoft.com/office/drawing/2014/main" val="3900199093"/>
                    </a:ext>
                  </a:extLst>
                </a:gridCol>
                <a:gridCol w="4255112">
                  <a:extLst>
                    <a:ext uri="{9D8B030D-6E8A-4147-A177-3AD203B41FA5}">
                      <a16:colId xmlns:a16="http://schemas.microsoft.com/office/drawing/2014/main" val="2961036538"/>
                    </a:ext>
                  </a:extLst>
                </a:gridCol>
              </a:tblGrid>
              <a:tr h="2988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LangChain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17267"/>
                  </a:ext>
                </a:extLst>
              </a:tr>
              <a:tr h="268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문장의 키워드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/>
                        <a:t>Embedding</a:t>
                      </a:r>
                      <a:r>
                        <a:rPr lang="ko-KR" altLang="en-US" sz="1400"/>
                        <a:t>을 활용한 질문의 의미 기반 검색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6399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사전에 정의한 규칙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질문의 의미와 유사한 관련 지침 검색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4852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데이터 활용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미리 정해진 로직에 따라 결과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Metadata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활용한 부서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출처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검색결과 답변 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8958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규칙에 설정된 추천 결과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검색 근거 바탕으로 주관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2129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 동작하게 만들기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학습한 </a:t>
                      </a:r>
                      <a:r>
                        <a:rPr lang="en-US" altLang="ko-KR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개념을 적용한 구조적 고도화</a:t>
                      </a:r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endParaRPr lang="ko-KR" altLang="en-US" sz="1300" b="1" i="0" u="none" strike="noStrike" spc="-40" baseline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8137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/>
          <p:nvPr/>
        </p:nvSpPr>
        <p:spPr>
          <a:xfrm>
            <a:off x="310742" y="5992996"/>
            <a:ext cx="111632" cy="638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1A7A-7924-44F7-8CF1-FEEC52933EEC}"/>
              </a:ext>
            </a:extLst>
          </p:cNvPr>
          <p:cNvSpPr txBox="1"/>
          <p:nvPr/>
        </p:nvSpPr>
        <p:spPr>
          <a:xfrm>
            <a:off x="976744" y="6342024"/>
            <a:ext cx="8161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정확도 검증은 투자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공사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재무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회계 업무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(9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개 부서</a:t>
            </a:r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중심으로 우선 진행</a:t>
            </a:r>
          </a:p>
        </p:txBody>
      </p:sp>
      <p:pic>
        <p:nvPicPr>
          <p:cNvPr id="20" name="그래픽 19" descr="느낌표 단색으로 채워진">
            <a:extLst>
              <a:ext uri="{FF2B5EF4-FFF2-40B4-BE49-F238E27FC236}">
                <a16:creationId xmlns:a16="http://schemas.microsoft.com/office/drawing/2014/main" id="{AAAE69F0-C1CB-4EAC-8625-E1A7C2D27F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275" y="6323331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3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(3/4)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B2CE6D-5BA7-452D-AD61-F19394E0BC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10"/>
          <a:stretch/>
        </p:blipFill>
        <p:spPr>
          <a:xfrm>
            <a:off x="272416" y="1331647"/>
            <a:ext cx="3984739" cy="2495639"/>
          </a:xfrm>
          <a:prstGeom prst="rect">
            <a:avLst/>
          </a:prstGeom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519494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325037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절차〮부서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3185632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457274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사업장과 업무 유형 선택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모르는 경우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미선택 가능</a:t>
            </a:r>
            <a:r>
              <a:rPr lang="en-US" altLang="ko-KR" sz="1300" spc="-4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262817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 해석 →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3004149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904443" y="1816331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904443" y="2643648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5255938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410073" y="4897921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업무 탐색 간소화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287604" y="5446512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자연어로 업무 상황 입력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D0CDE1-A2C1-4848-84AD-DCE199AB2960}"/>
              </a:ext>
            </a:extLst>
          </p:cNvPr>
          <p:cNvSpPr txBox="1"/>
          <p:nvPr/>
        </p:nvSpPr>
        <p:spPr>
          <a:xfrm>
            <a:off x="287604" y="5929615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별도 메뉴 서치 부담 감소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300968" y="5437035"/>
            <a:ext cx="2788979" cy="301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추천 부서와 업무분장 근거 확인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300968" y="5929615"/>
            <a:ext cx="278897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추천 이유와 책임업무 확인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1A7707-AD0F-4F28-9EE6-829FAF62AA39}"/>
              </a:ext>
            </a:extLst>
          </p:cNvPr>
          <p:cNvSpPr txBox="1"/>
          <p:nvPr/>
        </p:nvSpPr>
        <p:spPr>
          <a:xfrm>
            <a:off x="6393618" y="5446512"/>
            <a:ext cx="28880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검토 요청 초안 작성 및 진행현황 확인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7BC22A9-1F26-4FA6-AB17-90A69871755F}"/>
              </a:ext>
            </a:extLst>
          </p:cNvPr>
          <p:cNvSpPr txBox="1"/>
          <p:nvPr/>
        </p:nvSpPr>
        <p:spPr>
          <a:xfrm>
            <a:off x="6357749" y="5929615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사용자가 내용 확인 및 수정 후 요청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3338026" y="4897921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근거 기반 안내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480218" y="4873885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협업 요청 연결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279225" y="4744751"/>
            <a:ext cx="9372887" cy="1666446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207467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및 기대효과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31745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26168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764791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874780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(4/4)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13299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16991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561113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206252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206252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206252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710123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 txBox="1"/>
          <p:nvPr/>
        </p:nvSpPr>
        <p:spPr>
          <a:xfrm>
            <a:off x="3603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검색 결과의 정확성과 화면 사용성 개선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710123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과제제안자와 실제 담당자 대상 소규모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 txBox="1"/>
          <p:nvPr/>
        </p:nvSpPr>
        <p:spPr>
          <a:xfrm>
            <a:off x="3332141" y="5142038"/>
            <a:ext cx="34496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시범 대상 업무의 문서 및 용어 기준 정리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710123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 txBox="1"/>
          <p:nvPr/>
        </p:nvSpPr>
        <p:spPr>
          <a:xfrm>
            <a:off x="6868888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데이터 관리 및 최신화 체계 검토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712246"/>
            <a:ext cx="4568663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</a:t>
            </a:r>
            <a:r>
              <a:rPr lang="ko-KR" altLang="en-US" sz="1400">
                <a:latin typeface="+mn-ea"/>
              </a:rPr>
              <a:t>랭체인</a:t>
            </a:r>
            <a:r>
              <a:rPr lang="en-US" altLang="ko-KR" sz="1400">
                <a:latin typeface="+mn-ea"/>
              </a:rPr>
              <a:t>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학습한 개념을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데이터와 검색 결과를 검증하며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구동방식 이해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712246"/>
            <a:ext cx="4568663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 기반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다양한 업무 상황에 대한 추천 정확성 확인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</a:t>
            </a:r>
            <a:r>
              <a:rPr lang="ko-KR" altLang="en-US" sz="1400">
                <a:latin typeface="+mn-ea"/>
              </a:rPr>
              <a:t>와 검색 품질에 대한 추가 학습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담당자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경험과 앞으로의 과제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996038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793</Words>
  <Application>Microsoft Office PowerPoint</Application>
  <DocSecurity>0</DocSecurity>
  <PresentationFormat>A4 용지(210x297mm)</PresentationFormat>
  <Paragraphs>129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Calibri</vt:lpstr>
      <vt:lpstr>Wingdings</vt:lpstr>
      <vt:lpstr>HY견고딕</vt:lpstr>
      <vt:lpstr>맑은 고딕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158</cp:revision>
  <dcterms:created xsi:type="dcterms:W3CDTF">2026-09-04T08:20:33Z</dcterms:created>
  <dcterms:modified xsi:type="dcterms:W3CDTF">2026-09-10T07:56:47Z</dcterms:modified>
</cp:coreProperties>
</file>