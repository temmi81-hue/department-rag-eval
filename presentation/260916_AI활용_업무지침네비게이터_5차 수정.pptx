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9"/>
  </p:notesMasterIdLst>
  <p:sldIdLst>
    <p:sldId id="256" r:id="rId2"/>
    <p:sldId id="263" r:id="rId3"/>
    <p:sldId id="278" r:id="rId4"/>
    <p:sldId id="279" r:id="rId5"/>
    <p:sldId id="282" r:id="rId6"/>
    <p:sldId id="280" r:id="rId7"/>
    <p:sldId id="281" r:id="rId8"/>
  </p:sldIdLst>
  <p:sldSz cx="9906000" cy="6858000" type="A4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HY견고딕" panose="02030600000101010101" pitchFamily="18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6F7"/>
    <a:srgbClr val="F5F6F8"/>
    <a:srgbClr val="DFE2E7"/>
    <a:srgbClr val="DDE0E5"/>
    <a:srgbClr val="F4F5F9"/>
    <a:srgbClr val="E1E6F0"/>
    <a:srgbClr val="779FE0"/>
    <a:srgbClr val="EDF1FA"/>
    <a:srgbClr val="F4F6F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7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sv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2.svg"/><Relationship Id="rId7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hyperlink" Target="department_workflow_demo_compliancehub.mp4" TargetMode="External"/><Relationship Id="rId10" Type="http://schemas.openxmlformats.org/officeDocument/2006/relationships/image" Target="../media/image33.sv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  키워드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유형 분석              절차</a:t>
            </a:r>
            <a:r>
              <a:rPr lang="en-US" altLang="ko-KR" sz="1400" b="1"/>
              <a:t>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17149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6952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7731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17150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555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6101535"/>
            <a:ext cx="9420639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정성적 검증에서 정답 데이터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·RAGAS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정량 평가로 발전 → 검색 품질 개선 및 반복 검증 체계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RAGAS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평가까지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과정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/>
          <p:nvPr/>
        </p:nvSpPr>
        <p:spPr>
          <a:xfrm>
            <a:off x="279093" y="1848909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/>
          <p:nvPr/>
        </p:nvSpPr>
        <p:spPr>
          <a:xfrm>
            <a:off x="279093" y="1848907"/>
            <a:ext cx="2237155" cy="53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00">
                <a:solidFill>
                  <a:schemeClr val="tx1"/>
                </a:solidFill>
                <a:latin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/>
          <p:nvPr/>
        </p:nvSpPr>
        <p:spPr>
          <a:xfrm>
            <a:off x="2642487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/>
          <p:nvPr/>
        </p:nvSpPr>
        <p:spPr>
          <a:xfrm>
            <a:off x="2642487" y="1846298"/>
            <a:ext cx="2237155" cy="532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/>
          <p:nvPr/>
        </p:nvSpPr>
        <p:spPr>
          <a:xfrm>
            <a:off x="5005881" y="1846300"/>
            <a:ext cx="2237155" cy="154265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/>
          <p:nvPr/>
        </p:nvSpPr>
        <p:spPr>
          <a:xfrm>
            <a:off x="5005881" y="1846298"/>
            <a:ext cx="2237155" cy="5322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/>
          <p:nvPr/>
        </p:nvSpPr>
        <p:spPr>
          <a:xfrm>
            <a:off x="7369275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/>
          <p:nvPr/>
        </p:nvSpPr>
        <p:spPr>
          <a:xfrm>
            <a:off x="7369275" y="1846298"/>
            <a:ext cx="2237155" cy="5322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④ 정확성 검토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및 보완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 </a:t>
            </a:r>
            <a:r>
              <a:rPr lang="ko-KR" altLang="en-US" sz="1300"/>
              <a:t>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대표부서 선정 </a:t>
            </a:r>
            <a:r>
              <a:rPr lang="en-US" altLang="ko-KR" sz="1300"/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/>
              <a:t>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439977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439977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39977"/>
            <a:ext cx="2363750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cxnSpLocks/>
          </p:cNvCxnSpPr>
          <p:nvPr/>
        </p:nvCxnSpPr>
        <p:spPr>
          <a:xfrm rot="5400000" flipH="1">
            <a:off x="7296862" y="2219628"/>
            <a:ext cx="18586" cy="2363394"/>
          </a:xfrm>
          <a:prstGeom prst="bentConnector3">
            <a:avLst>
              <a:gd name="adj1" fmla="val -924047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36701" y="3436911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7084B80-B74C-4C08-810A-65D48EE75768}"/>
              </a:ext>
            </a:extLst>
          </p:cNvPr>
          <p:cNvSpPr/>
          <p:nvPr/>
        </p:nvSpPr>
        <p:spPr>
          <a:xfrm>
            <a:off x="278540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E481D7-F35E-40BC-9D34-8C59C52A6368}"/>
              </a:ext>
            </a:extLst>
          </p:cNvPr>
          <p:cNvSpPr/>
          <p:nvPr/>
        </p:nvSpPr>
        <p:spPr>
          <a:xfrm>
            <a:off x="346519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2F8F77D-5F76-4CB9-A976-17C1B8431A31}"/>
              </a:ext>
            </a:extLst>
          </p:cNvPr>
          <p:cNvSpPr/>
          <p:nvPr/>
        </p:nvSpPr>
        <p:spPr>
          <a:xfrm>
            <a:off x="664087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2AB7FE7-9857-4180-8A8D-F2593EB0252B}"/>
              </a:ext>
            </a:extLst>
          </p:cNvPr>
          <p:cNvCxnSpPr>
            <a:cxnSpLocks/>
          </p:cNvCxnSpPr>
          <p:nvPr/>
        </p:nvCxnSpPr>
        <p:spPr>
          <a:xfrm>
            <a:off x="418603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489A1-A9CE-4284-A951-808A02CAF920}"/>
              </a:ext>
            </a:extLst>
          </p:cNvPr>
          <p:cNvCxnSpPr>
            <a:cxnSpLocks/>
          </p:cNvCxnSpPr>
          <p:nvPr/>
        </p:nvCxnSpPr>
        <p:spPr>
          <a:xfrm>
            <a:off x="360525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AD09C5-3FF6-40FB-992F-5FF47231E8E6}"/>
              </a:ext>
            </a:extLst>
          </p:cNvPr>
          <p:cNvCxnSpPr>
            <a:cxnSpLocks/>
          </p:cNvCxnSpPr>
          <p:nvPr/>
        </p:nvCxnSpPr>
        <p:spPr>
          <a:xfrm>
            <a:off x="678093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8A1409-4FAA-4684-B91E-7BC9030361B0}"/>
              </a:ext>
            </a:extLst>
          </p:cNvPr>
          <p:cNvSpPr txBox="1"/>
          <p:nvPr/>
        </p:nvSpPr>
        <p:spPr>
          <a:xfrm>
            <a:off x="541991" y="427655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일단 </a:t>
            </a:r>
            <a:r>
              <a:rPr lang="ko-KR" altLang="en-US" sz="1500" b="1">
                <a:solidFill>
                  <a:srgbClr val="0000FF"/>
                </a:solidFill>
              </a:rPr>
              <a:t>동작</a:t>
            </a:r>
            <a:r>
              <a:rPr lang="ko-KR" altLang="en-US" sz="1500" b="1"/>
              <a:t>하게 만들기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AD1CE62-B09A-4942-8724-BD99F5F5D652}"/>
              </a:ext>
            </a:extLst>
          </p:cNvPr>
          <p:cNvSpPr/>
          <p:nvPr/>
        </p:nvSpPr>
        <p:spPr>
          <a:xfrm>
            <a:off x="278540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D50405-FE7C-48A4-8D57-6DA743923DE1}"/>
              </a:ext>
            </a:extLst>
          </p:cNvPr>
          <p:cNvSpPr txBox="1"/>
          <p:nvPr/>
        </p:nvSpPr>
        <p:spPr>
          <a:xfrm>
            <a:off x="278540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질문의 </a:t>
            </a:r>
            <a:r>
              <a:rPr lang="ko-KR" altLang="en-US" sz="1300" b="1">
                <a:solidFill>
                  <a:srgbClr val="0000FF"/>
                </a:solidFill>
              </a:rPr>
              <a:t>키워드</a:t>
            </a:r>
            <a:r>
              <a:rPr lang="en-US" altLang="ko-KR" sz="1300"/>
              <a:t>, </a:t>
            </a:r>
            <a:r>
              <a:rPr lang="ko-KR" altLang="en-US" sz="1300"/>
              <a:t>조건 분석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사전에 정의한 규칙 기반 부서</a:t>
            </a:r>
            <a:r>
              <a:rPr lang="en-US" altLang="ko-KR" sz="1300"/>
              <a:t> </a:t>
            </a:r>
            <a:r>
              <a:rPr lang="ko-KR" altLang="en-US" sz="1300"/>
              <a:t>탐색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규칙에 설정된 추천 결과와 사유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DD4A2-0B1D-4364-A72B-046E84ED795D}"/>
              </a:ext>
            </a:extLst>
          </p:cNvPr>
          <p:cNvSpPr txBox="1"/>
          <p:nvPr/>
        </p:nvSpPr>
        <p:spPr>
          <a:xfrm>
            <a:off x="3475479" y="4276554"/>
            <a:ext cx="2975177" cy="33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>
                <a:latin typeface="+mn-ea"/>
              </a:rPr>
              <a:t>의미 기반 </a:t>
            </a:r>
            <a:r>
              <a:rPr lang="en-US" altLang="ko-KR" sz="1500" b="1">
                <a:solidFill>
                  <a:srgbClr val="0000FF"/>
                </a:solidFill>
                <a:latin typeface="+mn-ea"/>
              </a:rPr>
              <a:t>RAG </a:t>
            </a:r>
            <a:r>
              <a:rPr lang="ko-KR" altLang="en-US" sz="1500" b="1">
                <a:solidFill>
                  <a:srgbClr val="0000FF"/>
                </a:solidFill>
                <a:latin typeface="+mn-ea"/>
              </a:rPr>
              <a:t>적용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B47F781-9C02-49D6-B353-D2D75C834CC9}"/>
              </a:ext>
            </a:extLst>
          </p:cNvPr>
          <p:cNvSpPr/>
          <p:nvPr/>
        </p:nvSpPr>
        <p:spPr>
          <a:xfrm>
            <a:off x="3465194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2~3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3C3A94-281E-4546-BCD0-9C717D1DBCA3}"/>
              </a:ext>
            </a:extLst>
          </p:cNvPr>
          <p:cNvSpPr txBox="1"/>
          <p:nvPr/>
        </p:nvSpPr>
        <p:spPr>
          <a:xfrm>
            <a:off x="3475478" y="4738902"/>
            <a:ext cx="3027903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Embedding </a:t>
            </a:r>
            <a:r>
              <a:rPr lang="ko-KR" altLang="en-US" sz="1300">
                <a:latin typeface="+mn-ea"/>
              </a:rPr>
              <a:t>기반 </a:t>
            </a:r>
            <a:r>
              <a:rPr lang="ko-KR" altLang="en-US" sz="1300" b="1">
                <a:solidFill>
                  <a:srgbClr val="0000FF"/>
                </a:solidFill>
                <a:latin typeface="+mn-ea"/>
              </a:rPr>
              <a:t>의미</a:t>
            </a:r>
            <a:r>
              <a:rPr lang="ko-KR" altLang="en-US" sz="1300">
                <a:latin typeface="+mn-ea"/>
              </a:rPr>
              <a:t> 검색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Metadata </a:t>
            </a:r>
            <a:r>
              <a:rPr lang="ko-KR" altLang="en-US" sz="1300" spc="-40">
                <a:latin typeface="+mn-ea"/>
              </a:rPr>
              <a:t>활용 부서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문서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출처 필터링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검색 근거 바탕 추천 이유 제시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0C0494-F9D5-4E04-A2DA-9FC6B4334384}"/>
              </a:ext>
            </a:extLst>
          </p:cNvPr>
          <p:cNvSpPr txBox="1"/>
          <p:nvPr/>
        </p:nvSpPr>
        <p:spPr>
          <a:xfrm>
            <a:off x="6578898" y="4276554"/>
            <a:ext cx="3133345" cy="32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spc="-40">
                <a:latin typeface="+mn-ea"/>
              </a:rPr>
              <a:t>RAGAS </a:t>
            </a:r>
            <a:r>
              <a:rPr lang="ko-KR" altLang="en-US" sz="1500" b="1" spc="-40">
                <a:latin typeface="+mn-ea"/>
              </a:rPr>
              <a:t>활용 </a:t>
            </a:r>
            <a:r>
              <a:rPr lang="ko-KR" altLang="en-US" sz="1500" b="1" spc="-40">
                <a:solidFill>
                  <a:srgbClr val="0000FF"/>
                </a:solidFill>
                <a:latin typeface="+mn-ea"/>
              </a:rPr>
              <a:t>검색품질 고도화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C062B4C-208A-4E1B-AD33-7E6C1C36E566}"/>
              </a:ext>
            </a:extLst>
          </p:cNvPr>
          <p:cNvSpPr/>
          <p:nvPr/>
        </p:nvSpPr>
        <p:spPr>
          <a:xfrm>
            <a:off x="6640874" y="3912142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A5A2D-FD63-4290-A2D2-0482E8F00835}"/>
              </a:ext>
            </a:extLst>
          </p:cNvPr>
          <p:cNvSpPr txBox="1"/>
          <p:nvPr/>
        </p:nvSpPr>
        <p:spPr>
          <a:xfrm>
            <a:off x="6651635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평가용 정답지 만들기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Langsmith</a:t>
            </a:r>
            <a:r>
              <a:rPr lang="ko-KR" altLang="en-US" sz="1300">
                <a:latin typeface="+mn-ea"/>
              </a:rPr>
              <a:t>로 채점 자동화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채점결과 반영 추가 문제점 개선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9B55912F-4B67-4B5C-835C-47C2FEEF12FD}"/>
              </a:ext>
            </a:extLst>
          </p:cNvPr>
          <p:cNvSpPr/>
          <p:nvPr/>
        </p:nvSpPr>
        <p:spPr>
          <a:xfrm rot="5400000">
            <a:off x="3281622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id="{EBDFF46A-7DE0-4236-9D84-39C5232600A4}"/>
              </a:ext>
            </a:extLst>
          </p:cNvPr>
          <p:cNvSpPr/>
          <p:nvPr/>
        </p:nvSpPr>
        <p:spPr>
          <a:xfrm rot="5400000">
            <a:off x="6468171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145DA41-BC38-4528-BF35-80A7EC9C7771}"/>
              </a:ext>
            </a:extLst>
          </p:cNvPr>
          <p:cNvGrpSpPr/>
          <p:nvPr/>
        </p:nvGrpSpPr>
        <p:grpSpPr>
          <a:xfrm>
            <a:off x="335891" y="6138454"/>
            <a:ext cx="511817" cy="431452"/>
            <a:chOff x="-895525" y="3274733"/>
            <a:chExt cx="619300" cy="474597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FF509C-8177-4F2F-9D93-F5312620F65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화살표: 오른쪽 83">
              <a:extLst>
                <a:ext uri="{FF2B5EF4-FFF2-40B4-BE49-F238E27FC236}">
                  <a16:creationId xmlns:a16="http://schemas.microsoft.com/office/drawing/2014/main" id="{9A89337C-753D-4F4A-89D4-87DE20AD0384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890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(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시도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)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10">
            <a:extLst>
              <a:ext uri="{FF2B5EF4-FFF2-40B4-BE49-F238E27FC236}">
                <a16:creationId xmlns:a16="http://schemas.microsoft.com/office/drawing/2014/main" id="{77EBBBFD-D2F1-4392-809F-F0195F6E44BA}"/>
              </a:ext>
            </a:extLst>
          </p:cNvPr>
          <p:cNvSpPr/>
          <p:nvPr/>
        </p:nvSpPr>
        <p:spPr>
          <a:xfrm>
            <a:off x="5083914" y="1309562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4. (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RAGAS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적용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) </a:t>
            </a:r>
            <a:r>
              <a:rPr lang="en-US" altLang="ko-KR" sz="2000" b="1"/>
              <a:t>LangSmith </a:t>
            </a:r>
            <a:r>
              <a:rPr lang="ko-KR" altLang="en-US" sz="2000" b="1"/>
              <a:t>기반 자동 평가 도입과 검색 품질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(4/6)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6621341" y="5016607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630194" y="5016607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3624568" y="5016607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6698159" y="503357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68%</a:t>
            </a:r>
            <a:endParaRPr lang="ko-KR" altLang="en-US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7392159" y="507204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종합 정답률 상승 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705218" y="5023010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79%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1447713" y="5061482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매칭 정확도 향상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3656238" y="5023010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89%</a:t>
            </a:r>
            <a:endParaRPr lang="ko-KR" altLang="en-US" b="1"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4395269" y="5061482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대폭 개선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4395269" y="5383311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45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89%, F1 score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측정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1489277" y="5383311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63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79%,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일치율로 측정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7392159" y="5383311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19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건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자동 채점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, 37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 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68%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4003465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점수 격차 기반 판정 도입으로 주관부서 매칭 및 협업부서 판단 정확도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종합 정답률 개선 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4040384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66653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수작업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(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임계값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)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</a:t>
            </a: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검증 → </a:t>
            </a:r>
            <a:r>
              <a:rPr lang="en-US" altLang="ko-KR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LangSmith + </a:t>
            </a: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평가용 정답지 자동 채점 방식으로 전환 </a:t>
            </a:r>
            <a:r>
              <a:rPr lang="en-US" altLang="ko-KR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 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52B555B-12D7-43F1-9863-D55660601E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-7835"/>
          <a:stretch/>
        </p:blipFill>
        <p:spPr>
          <a:xfrm>
            <a:off x="379614" y="1515881"/>
            <a:ext cx="4441768" cy="2446498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C1FA852-ED91-4F3E-B886-6380C80049D8}"/>
              </a:ext>
            </a:extLst>
          </p:cNvPr>
          <p:cNvSpPr/>
          <p:nvPr/>
        </p:nvSpPr>
        <p:spPr>
          <a:xfrm>
            <a:off x="351453" y="1148234"/>
            <a:ext cx="4490711" cy="29238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spc="-30">
                <a:latin typeface="+mn-ea"/>
              </a:rPr>
              <a:t>LangSmith</a:t>
            </a:r>
            <a:r>
              <a:rPr lang="ko-KR" altLang="en-US" sz="1500" b="1" spc="-30">
                <a:latin typeface="+mn-ea"/>
              </a:rPr>
              <a:t>로 질문→검색→답변 과정 트레이싱</a:t>
            </a:r>
            <a:endParaRPr lang="ko-KR" altLang="en-US" sz="1500" b="1" spc="-3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672848-9232-48EB-84F0-A2D7E7FC53E4}"/>
              </a:ext>
            </a:extLst>
          </p:cNvPr>
          <p:cNvSpPr txBox="1"/>
          <p:nvPr/>
        </p:nvSpPr>
        <p:spPr>
          <a:xfrm>
            <a:off x="5481206" y="1509840"/>
            <a:ext cx="4270333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ko-KR" sz="1400" spc="-40">
                <a:latin typeface="+mj-ea"/>
                <a:ea typeface="+mj-ea"/>
              </a:rPr>
              <a:t>LLM </a:t>
            </a:r>
            <a:r>
              <a:rPr lang="ko-KR" altLang="en-US" sz="1400" spc="-40">
                <a:latin typeface="+mj-ea"/>
                <a:ea typeface="+mj-ea"/>
              </a:rPr>
              <a:t>판단을 재확인하고 보완하던 로직을 </a:t>
            </a:r>
            <a:endParaRPr lang="en-US" altLang="ko-KR" sz="1400" spc="-40">
              <a:latin typeface="+mj-ea"/>
              <a:ea typeface="+mj-ea"/>
            </a:endParaRPr>
          </a:p>
          <a:p>
            <a:pPr>
              <a:spcBef>
                <a:spcPts val="400"/>
              </a:spcBef>
            </a:pPr>
            <a:r>
              <a:rPr lang="ko-KR" altLang="en-US" sz="1400" spc="-40">
                <a:latin typeface="+mj-ea"/>
                <a:ea typeface="+mj-ea"/>
              </a:rPr>
              <a:t>부서 간 </a:t>
            </a:r>
            <a:r>
              <a:rPr lang="ko-KR" altLang="en-US" sz="1400" b="1" spc="-40">
                <a:latin typeface="+mj-ea"/>
                <a:ea typeface="+mj-ea"/>
              </a:rPr>
              <a:t>유사도 점수 격차 기반 판정</a:t>
            </a:r>
            <a:r>
              <a:rPr lang="ko-KR" altLang="en-US" sz="1400" spc="-40">
                <a:latin typeface="+mj-ea"/>
                <a:ea typeface="+mj-ea"/>
              </a:rPr>
              <a:t>으로 정밀화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9AAB53-0B27-4520-97FA-828CD93836DC}"/>
              </a:ext>
            </a:extLst>
          </p:cNvPr>
          <p:cNvSpPr/>
          <p:nvPr/>
        </p:nvSpPr>
        <p:spPr>
          <a:xfrm>
            <a:off x="5084181" y="1148234"/>
            <a:ext cx="4534956" cy="3156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30">
                <a:latin typeface="+mn-ea"/>
              </a:rPr>
              <a:t>핵심 개선 포인트</a:t>
            </a:r>
            <a:endParaRPr lang="ko-KR" altLang="en-US" sz="1500" b="1" spc="-3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FF6387-7555-4BF0-9DD1-E09D88E6A124}"/>
              </a:ext>
            </a:extLst>
          </p:cNvPr>
          <p:cNvSpPr txBox="1"/>
          <p:nvPr/>
        </p:nvSpPr>
        <p:spPr>
          <a:xfrm>
            <a:off x="5481206" y="2259051"/>
            <a:ext cx="3891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spc="-40">
                <a:latin typeface="+mj-ea"/>
                <a:ea typeface="+mj-ea"/>
              </a:rPr>
              <a:t>협업부서 과다 포함 문제 개선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900A9D-240F-436D-89BF-AE73FC002740}"/>
              </a:ext>
            </a:extLst>
          </p:cNvPr>
          <p:cNvSpPr txBox="1"/>
          <p:nvPr/>
        </p:nvSpPr>
        <p:spPr>
          <a:xfrm>
            <a:off x="5481206" y="2736294"/>
            <a:ext cx="4057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400" spc="-40"/>
              <a:t>금액 비교 </a:t>
            </a:r>
            <a:r>
              <a:rPr lang="en-US" altLang="ko-KR" sz="1400" spc="-40"/>
              <a:t>:</a:t>
            </a:r>
            <a:r>
              <a:rPr lang="ko-KR" altLang="en-US" sz="1400" spc="-40"/>
              <a:t> </a:t>
            </a:r>
            <a:r>
              <a:rPr lang="en-US" altLang="ko-KR" sz="1400" spc="-40"/>
              <a:t>LLM </a:t>
            </a:r>
            <a:r>
              <a:rPr lang="ko-KR" altLang="en-US" sz="1400" spc="-40"/>
              <a:t>판단에서 직접 코드 계산으로 수정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ABFA0-B640-4B8D-91A7-CD720C8B254A}"/>
              </a:ext>
            </a:extLst>
          </p:cNvPr>
          <p:cNvSpPr txBox="1"/>
          <p:nvPr/>
        </p:nvSpPr>
        <p:spPr>
          <a:xfrm>
            <a:off x="5481206" y="3193660"/>
            <a:ext cx="4221262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400" spc="-40">
                <a:latin typeface="+mn-ea"/>
              </a:rPr>
              <a:t>반복 재평가로 개선 효과를 정량 확인 </a:t>
            </a:r>
            <a:endParaRPr lang="en-US" altLang="ko-KR" sz="14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en-US" altLang="ko-KR" sz="1400" spc="-40">
                <a:latin typeface="+mn-ea"/>
              </a:rPr>
              <a:t>3</a:t>
            </a:r>
            <a:r>
              <a:rPr lang="ko-KR" altLang="en-US" sz="1400" spc="-40">
                <a:latin typeface="+mn-ea"/>
              </a:rPr>
              <a:t>라운드에 걸쳐 정답률 단계적 개선 </a:t>
            </a:r>
            <a:r>
              <a:rPr lang="en-US" altLang="ko-KR" sz="1400" spc="-40">
                <a:latin typeface="+mn-ea"/>
              </a:rPr>
              <a:t>(37</a:t>
            </a:r>
            <a:r>
              <a:rPr lang="ko-KR" altLang="en-US" sz="1400" spc="-40">
                <a:latin typeface="+mn-ea"/>
              </a:rPr>
              <a:t>→</a:t>
            </a:r>
            <a:r>
              <a:rPr lang="en-US" altLang="ko-KR" sz="1400" spc="-40">
                <a:latin typeface="+mn-ea"/>
              </a:rPr>
              <a:t>58</a:t>
            </a:r>
            <a:r>
              <a:rPr lang="ko-KR" altLang="en-US" sz="1400" spc="-40">
                <a:latin typeface="+mn-ea"/>
              </a:rPr>
              <a:t>→</a:t>
            </a:r>
            <a:r>
              <a:rPr lang="en-US" altLang="ko-KR" sz="1400" spc="-40">
                <a:latin typeface="+mn-ea"/>
              </a:rPr>
              <a:t>68%)</a:t>
            </a:r>
            <a:endParaRPr lang="ko-KR" altLang="en-US" sz="1400" spc="-40">
              <a:latin typeface="+mn-ea"/>
            </a:endParaRP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43B3D376-C513-46D1-9C26-F6D7752A13E3}"/>
              </a:ext>
            </a:extLst>
          </p:cNvPr>
          <p:cNvSpPr/>
          <p:nvPr/>
        </p:nvSpPr>
        <p:spPr>
          <a:xfrm>
            <a:off x="5142201" y="2139561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51DCD47B-4DFF-40D8-B95D-6FB1EC923583}"/>
              </a:ext>
            </a:extLst>
          </p:cNvPr>
          <p:cNvSpPr/>
          <p:nvPr/>
        </p:nvSpPr>
        <p:spPr>
          <a:xfrm>
            <a:off x="5142201" y="2645255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9941CAED-E556-4C11-8F86-414A92C0FA47}"/>
              </a:ext>
            </a:extLst>
          </p:cNvPr>
          <p:cNvSpPr/>
          <p:nvPr/>
        </p:nvSpPr>
        <p:spPr>
          <a:xfrm>
            <a:off x="5142201" y="3119776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25F4FE-8A54-4D58-9822-FCE06239A855}"/>
              </a:ext>
            </a:extLst>
          </p:cNvPr>
          <p:cNvGrpSpPr/>
          <p:nvPr/>
        </p:nvGrpSpPr>
        <p:grpSpPr>
          <a:xfrm>
            <a:off x="5167245" y="1657206"/>
            <a:ext cx="302999" cy="292608"/>
            <a:chOff x="5104899" y="1637275"/>
            <a:chExt cx="302999" cy="29260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CD81A531-94E3-4523-997E-14DD3635E491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92B37005-93DC-4E2A-BE51-A581879D47A5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①</a:t>
              </a:r>
              <a:endParaRPr 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44287C-C3BD-435E-B1A5-C00D3FC74BA6}"/>
              </a:ext>
            </a:extLst>
          </p:cNvPr>
          <p:cNvGrpSpPr/>
          <p:nvPr/>
        </p:nvGrpSpPr>
        <p:grpSpPr>
          <a:xfrm>
            <a:off x="5167245" y="2270618"/>
            <a:ext cx="292608" cy="299016"/>
            <a:chOff x="5136072" y="2166708"/>
            <a:chExt cx="292608" cy="299016"/>
          </a:xfrm>
        </p:grpSpPr>
        <p:sp>
          <p:nvSpPr>
            <p:cNvPr id="97" name="Shape 37">
              <a:extLst>
                <a:ext uri="{FF2B5EF4-FFF2-40B4-BE49-F238E27FC236}">
                  <a16:creationId xmlns:a16="http://schemas.microsoft.com/office/drawing/2014/main" id="{1B148B0F-10A7-4F4E-8A58-BC82DB48E4BD}"/>
                </a:ext>
              </a:extLst>
            </p:cNvPr>
            <p:cNvSpPr/>
            <p:nvPr/>
          </p:nvSpPr>
          <p:spPr>
            <a:xfrm>
              <a:off x="5136072" y="2166708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C2E0313E-BD3A-4030-92D2-32CA044D15B8}"/>
                </a:ext>
              </a:extLst>
            </p:cNvPr>
            <p:cNvSpPr txBox="1"/>
            <p:nvPr/>
          </p:nvSpPr>
          <p:spPr>
            <a:xfrm>
              <a:off x="5136072" y="21731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②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9D93BA-3E5C-4002-ACDD-7BEA859B8BB1}"/>
              </a:ext>
            </a:extLst>
          </p:cNvPr>
          <p:cNvGrpSpPr/>
          <p:nvPr/>
        </p:nvGrpSpPr>
        <p:grpSpPr>
          <a:xfrm>
            <a:off x="5167245" y="2748067"/>
            <a:ext cx="292608" cy="292608"/>
            <a:chOff x="5169505" y="2581811"/>
            <a:chExt cx="292608" cy="292608"/>
          </a:xfrm>
        </p:grpSpPr>
        <p:sp>
          <p:nvSpPr>
            <p:cNvPr id="99" name="Shape 44">
              <a:extLst>
                <a:ext uri="{FF2B5EF4-FFF2-40B4-BE49-F238E27FC236}">
                  <a16:creationId xmlns:a16="http://schemas.microsoft.com/office/drawing/2014/main" id="{77E93DDA-3659-417A-AA88-5CC2EF9C9722}"/>
                </a:ext>
              </a:extLst>
            </p:cNvPr>
            <p:cNvSpPr/>
            <p:nvPr/>
          </p:nvSpPr>
          <p:spPr>
            <a:xfrm>
              <a:off x="5169505" y="2581811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45">
              <a:extLst>
                <a:ext uri="{FF2B5EF4-FFF2-40B4-BE49-F238E27FC236}">
                  <a16:creationId xmlns:a16="http://schemas.microsoft.com/office/drawing/2014/main" id="{1B11820E-2590-4B03-BCD9-CD2AFC647CDC}"/>
                </a:ext>
              </a:extLst>
            </p:cNvPr>
            <p:cNvSpPr txBox="1"/>
            <p:nvPr/>
          </p:nvSpPr>
          <p:spPr>
            <a:xfrm>
              <a:off x="5169505" y="2581811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③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B0BF19-3E8E-425D-A7F3-CC7FF5E35BD2}"/>
              </a:ext>
            </a:extLst>
          </p:cNvPr>
          <p:cNvGrpSpPr/>
          <p:nvPr/>
        </p:nvGrpSpPr>
        <p:grpSpPr>
          <a:xfrm>
            <a:off x="5167245" y="3340884"/>
            <a:ext cx="292608" cy="292608"/>
            <a:chOff x="5138700" y="3133064"/>
            <a:chExt cx="292608" cy="292608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B511D697-374B-459E-A7D8-8DAB1E6E896A}"/>
                </a:ext>
              </a:extLst>
            </p:cNvPr>
            <p:cNvSpPr/>
            <p:nvPr/>
          </p:nvSpPr>
          <p:spPr>
            <a:xfrm>
              <a:off x="5138700" y="3133064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52">
              <a:extLst>
                <a:ext uri="{FF2B5EF4-FFF2-40B4-BE49-F238E27FC236}">
                  <a16:creationId xmlns:a16="http://schemas.microsoft.com/office/drawing/2014/main" id="{650677A3-60D1-4616-A467-94C0107E73F4}"/>
                </a:ext>
              </a:extLst>
            </p:cNvPr>
            <p:cNvSpPr txBox="1"/>
            <p:nvPr/>
          </p:nvSpPr>
          <p:spPr>
            <a:xfrm>
              <a:off x="5138700" y="31330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④</a:t>
              </a:r>
              <a:endParaRPr lang="en-US" sz="1100" dirty="0"/>
            </a:p>
          </p:txBody>
        </p:sp>
      </p:grpSp>
      <p:sp>
        <p:nvSpPr>
          <p:cNvPr id="106" name="Shape 42">
            <a:extLst>
              <a:ext uri="{FF2B5EF4-FFF2-40B4-BE49-F238E27FC236}">
                <a16:creationId xmlns:a16="http://schemas.microsoft.com/office/drawing/2014/main" id="{AC315E1C-02E3-484C-84B2-8A3F76AEDD56}"/>
              </a:ext>
            </a:extLst>
          </p:cNvPr>
          <p:cNvSpPr/>
          <p:nvPr/>
        </p:nvSpPr>
        <p:spPr>
          <a:xfrm>
            <a:off x="400396" y="5791856"/>
            <a:ext cx="707535" cy="276999"/>
          </a:xfrm>
          <a:prstGeom prst="roundRect">
            <a:avLst>
              <a:gd name="adj" fmla="val 6579"/>
            </a:avLst>
          </a:prstGeom>
          <a:solidFill>
            <a:srgbClr val="EEF2FB"/>
          </a:solidFill>
          <a:ln w="15875">
            <a:solidFill>
              <a:srgbClr val="F5F6F7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0CFB4321-FE9B-4AAD-9EF6-52376E8AACEE}"/>
              </a:ext>
            </a:extLst>
          </p:cNvPr>
          <p:cNvSpPr/>
          <p:nvPr/>
        </p:nvSpPr>
        <p:spPr>
          <a:xfrm>
            <a:off x="400396" y="4684163"/>
            <a:ext cx="707535" cy="276999"/>
          </a:xfrm>
          <a:prstGeom prst="roundRect">
            <a:avLst>
              <a:gd name="adj" fmla="val 6579"/>
            </a:avLst>
          </a:prstGeom>
          <a:solidFill>
            <a:srgbClr val="F9FAFB"/>
          </a:solidFill>
          <a:ln w="12700">
            <a:solidFill>
              <a:srgbClr val="E1E6F0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1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CF1A2E-1375-47D1-B83A-B95CC2923E08}"/>
              </a:ext>
            </a:extLst>
          </p:cNvPr>
          <p:cNvCxnSpPr/>
          <p:nvPr/>
        </p:nvCxnSpPr>
        <p:spPr>
          <a:xfrm>
            <a:off x="500611" y="4980166"/>
            <a:ext cx="0" cy="74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45540B-BDCA-4D49-8046-4282C800EB23}"/>
              </a:ext>
            </a:extLst>
          </p:cNvPr>
          <p:cNvSpPr txBox="1"/>
          <p:nvPr/>
        </p:nvSpPr>
        <p:spPr>
          <a:xfrm>
            <a:off x="1193871" y="5768544"/>
            <a:ext cx="5329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추가 실험 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모델 교체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gpt-4o-mini </a:t>
            </a:r>
            <a:r>
              <a:rPr lang="ko-KR" altLang="en-US" sz="1400" b="0" i="0">
                <a:solidFill>
                  <a:srgbClr val="1A1A1A"/>
                </a:solidFill>
                <a:effectLst/>
                <a:latin typeface="+mn-ea"/>
              </a:rPr>
              <a:t>→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 GPT-5.6 Luna) </a:t>
            </a:r>
            <a:endParaRPr lang="ko-KR" altLang="en-US" sz="1400"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20C8211-3D31-46E6-82E2-C5EFC19C1B26}"/>
              </a:ext>
            </a:extLst>
          </p:cNvPr>
          <p:cNvSpPr>
            <a:spLocks noGrp="1"/>
          </p:cNvSpPr>
          <p:nvPr/>
        </p:nvSpPr>
        <p:spPr>
          <a:xfrm>
            <a:off x="6621341" y="6124968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88DAAA8-9DC5-4548-8047-C9B3703B54A9}"/>
              </a:ext>
            </a:extLst>
          </p:cNvPr>
          <p:cNvSpPr>
            <a:spLocks noGrp="1"/>
          </p:cNvSpPr>
          <p:nvPr/>
        </p:nvSpPr>
        <p:spPr>
          <a:xfrm>
            <a:off x="630194" y="6124968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4F5F9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4B7389D-3461-44C3-B2CA-DE323DAC97B3}"/>
              </a:ext>
            </a:extLst>
          </p:cNvPr>
          <p:cNvSpPr>
            <a:spLocks noGrp="1"/>
          </p:cNvSpPr>
          <p:nvPr/>
        </p:nvSpPr>
        <p:spPr>
          <a:xfrm>
            <a:off x="3624568" y="6124968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5F6F8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5D3001-8037-48DC-9746-440618D449FD}"/>
              </a:ext>
            </a:extLst>
          </p:cNvPr>
          <p:cNvSpPr txBox="1"/>
          <p:nvPr/>
        </p:nvSpPr>
        <p:spPr>
          <a:xfrm>
            <a:off x="6705086" y="61419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7BB6A8-827D-4EDC-AE6B-565E6BEBFDB2}"/>
              </a:ext>
            </a:extLst>
          </p:cNvPr>
          <p:cNvSpPr txBox="1"/>
          <p:nvPr/>
        </p:nvSpPr>
        <p:spPr>
          <a:xfrm>
            <a:off x="7399086" y="61804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응답속도 증가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ED905-E046-44DE-9BDA-0006DD8D3C5D}"/>
              </a:ext>
            </a:extLst>
          </p:cNvPr>
          <p:cNvSpPr txBox="1"/>
          <p:nvPr/>
        </p:nvSpPr>
        <p:spPr>
          <a:xfrm>
            <a:off x="705218" y="6131371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95%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FDB677-106A-4343-962D-6C91C9884C51}"/>
              </a:ext>
            </a:extLst>
          </p:cNvPr>
          <p:cNvSpPr txBox="1"/>
          <p:nvPr/>
        </p:nvSpPr>
        <p:spPr>
          <a:xfrm>
            <a:off x="1444249" y="6169843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정확도 추가 향상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E40E45-98C2-4793-8AC8-477FC71108C5}"/>
              </a:ext>
            </a:extLst>
          </p:cNvPr>
          <p:cNvSpPr txBox="1"/>
          <p:nvPr/>
        </p:nvSpPr>
        <p:spPr>
          <a:xfrm>
            <a:off x="3663165" y="6131371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82%</a:t>
            </a:r>
            <a:endParaRPr lang="ko-KR" altLang="en-US" b="1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EA2E87-4185-45FC-A668-E8AC01F88D80}"/>
              </a:ext>
            </a:extLst>
          </p:cNvPr>
          <p:cNvSpPr txBox="1"/>
          <p:nvPr/>
        </p:nvSpPr>
        <p:spPr>
          <a:xfrm>
            <a:off x="4402196" y="61698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소폭 감소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3B3707-0892-4A08-A7FB-6485BE76E4F4}"/>
              </a:ext>
            </a:extLst>
          </p:cNvPr>
          <p:cNvSpPr txBox="1"/>
          <p:nvPr/>
        </p:nvSpPr>
        <p:spPr>
          <a:xfrm>
            <a:off x="4402196" y="6491672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82%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E5666-1965-47CC-B8D8-0BF7ECE02400}"/>
              </a:ext>
            </a:extLst>
          </p:cNvPr>
          <p:cNvSpPr txBox="1"/>
          <p:nvPr/>
        </p:nvSpPr>
        <p:spPr>
          <a:xfrm>
            <a:off x="1485813" y="64916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95%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C6FC901-95A0-44B7-B609-F3A9F3CFDA35}"/>
              </a:ext>
            </a:extLst>
          </p:cNvPr>
          <p:cNvSpPr txBox="1"/>
          <p:nvPr/>
        </p:nvSpPr>
        <p:spPr>
          <a:xfrm>
            <a:off x="7399086" y="6491672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정답률은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68%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동일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102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6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645785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712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462768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36883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576575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690388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56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70983" y="5975887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발송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91765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5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(6/6)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8651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LangChain,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→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LangSmith </a:t>
            </a:r>
            <a:r>
              <a:rPr lang="ko-KR" altLang="en-US" sz="1400">
                <a:latin typeface="+mn-ea"/>
              </a:rPr>
              <a:t>트레이싱</a:t>
            </a:r>
            <a:r>
              <a:rPr lang="en-US" altLang="ko-KR" sz="1400">
                <a:latin typeface="+mn-ea"/>
              </a:rPr>
              <a:t>·</a:t>
            </a:r>
            <a:r>
              <a:rPr lang="ko-KR" altLang="en-US" sz="1400">
                <a:latin typeface="+mn-ea"/>
              </a:rPr>
              <a:t>자동 채점 시스템 구축 경험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데이터로 다양한 상황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/>
              <a:t>재순위화</a:t>
            </a:r>
            <a:r>
              <a:rPr lang="en-US" altLang="ko-KR" sz="1400"/>
              <a:t>(rerank) </a:t>
            </a:r>
            <a:r>
              <a:rPr lang="ko-KR" altLang="en-US" sz="1400"/>
              <a:t>등 검색 정확도 근본 개선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사용자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19541639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1170</Words>
  <Application>Microsoft Office PowerPoint</Application>
  <DocSecurity>0</DocSecurity>
  <PresentationFormat>A4 용지(210x297mm)</PresentationFormat>
  <Paragraphs>198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Calibri Light</vt:lpstr>
      <vt:lpstr>Arial</vt:lpstr>
      <vt:lpstr>Calibri</vt:lpstr>
      <vt:lpstr>Wingdings</vt:lpstr>
      <vt:lpstr>HY견고딕</vt:lpstr>
      <vt:lpstr>맑은 고딕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246</cp:revision>
  <dcterms:created xsi:type="dcterms:W3CDTF">2026-09-04T08:20:33Z</dcterms:created>
  <dcterms:modified xsi:type="dcterms:W3CDTF">2026-09-12T07:54:05Z</dcterms:modified>
</cp:coreProperties>
</file>