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f0a1564d14ad1" /><Relationship Type="http://schemas.openxmlformats.org/officeDocument/2006/relationships/extended-properties" Target="/docProps/app.xml" Id="R56f7ae6b8fa848e1" /><Relationship Type="http://schemas.openxmlformats.org/officeDocument/2006/relationships/officeDocument" Target="/ppt/presentation.xml" Id="Rfc54805eeb8a48d7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57d5845c879041a9"/>
  </p:sldMasterIdLst>
  <p:notesMasterIdLst>
    <p:notesMasterId xmlns:r="http://schemas.openxmlformats.org/officeDocument/2006/relationships" r:id="R5c331eae2ec14ade"/>
  </p:notesMasterIdLst>
  <p:sldIdLst>
    <p:sldId xmlns:r="http://schemas.openxmlformats.org/officeDocument/2006/relationships" id="256" r:id="Rca09a0652aa54175"/>
    <p:sldId xmlns:r="http://schemas.openxmlformats.org/officeDocument/2006/relationships" id="257" r:id="R103523b443a74ee5"/>
    <p:sldId xmlns:r="http://schemas.openxmlformats.org/officeDocument/2006/relationships" id="258" r:id="Rbd9d6f0920304783"/>
    <p:sldId xmlns:r="http://schemas.openxmlformats.org/officeDocument/2006/relationships" id="259" r:id="Rdd3bf512bf084590"/>
    <p:sldId xmlns:r="http://schemas.openxmlformats.org/officeDocument/2006/relationships" id="260" r:id="R7de25d7a1d614ea8"/>
  </p:sldIdLst>
  <p:sldSz cx="9906000" cy="6858000"/>
  <p:notesSz cx="6858000" cy="9144000"/>
  <p:embeddedFontLst>
    <p:embeddedFont>
      <p:font typeface="Calibri"/>
      <p:regular xmlns:r="http://schemas.openxmlformats.org/officeDocument/2006/relationships" r:id="Rd13726358b254202"/>
      <p:bold xmlns:r="http://schemas.openxmlformats.org/officeDocument/2006/relationships" r:id="Rf3cdc77b0f3148e2"/>
      <p:italic xmlns:r="http://schemas.openxmlformats.org/officeDocument/2006/relationships" r:id="R671ca97d83154793"/>
      <p:boldItalic xmlns:r="http://schemas.openxmlformats.org/officeDocument/2006/relationships" r:id="R7f192035ce3a4a85"/>
    </p:embeddedFont>
    <p:embeddedFont>
      <p:font typeface="Calibri Light"/>
      <p:regular xmlns:r="http://schemas.openxmlformats.org/officeDocument/2006/relationships" r:id="Rd34f115074fa44a6"/>
      <p:italic xmlns:r="http://schemas.openxmlformats.org/officeDocument/2006/relationships" r:id="R6317a0b703e74373"/>
    </p:embeddedFont>
    <p:embeddedFont>
      <p:font typeface="HY견고딕"/>
      <p:regular xmlns:r="http://schemas.openxmlformats.org/officeDocument/2006/relationships" r:id="Rcf8377a5a2b24f6f"/>
    </p:embeddedFont>
    <p:embeddedFont>
      <p:font typeface="맑은 고딕"/>
      <p:regular xmlns:r="http://schemas.openxmlformats.org/officeDocument/2006/relationships" r:id="Rd92eb6018ed944eb"/>
      <p:bold xmlns:r="http://schemas.openxmlformats.org/officeDocument/2006/relationships" r:id="R6dd7c7e97d8840d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a528f53e9d4fd8" /><Relationship Type="http://schemas.openxmlformats.org/officeDocument/2006/relationships/slideMaster" Target="/ppt/slideMasters/slideMaster1.xml" Id="R57d5845c879041a9" /><Relationship Type="http://schemas.openxmlformats.org/officeDocument/2006/relationships/notesMaster" Target="/ppt/notesMasters/notesMaster1.xml" Id="R5c331eae2ec14ade" /><Relationship Type="http://schemas.openxmlformats.org/officeDocument/2006/relationships/presProps" Target="/ppt/presProps.xml" Id="Re509e2b318bf4258" /><Relationship Type="http://schemas.openxmlformats.org/officeDocument/2006/relationships/viewProps" Target="/ppt/viewProps.xml" Id="R9bbae1807d56423a" /><Relationship Type="http://schemas.openxmlformats.org/officeDocument/2006/relationships/tableStyles" Target="/ppt/tableStyles.xml" Id="Ra5219c652fd74545" /><Relationship Type="http://schemas.openxmlformats.org/officeDocument/2006/relationships/font" Target="/ppt/fonts/font.dat" Id="Rd13726358b254202" /><Relationship Type="http://schemas.openxmlformats.org/officeDocument/2006/relationships/font" Target="/ppt/fonts/font2.dat" Id="Rf3cdc77b0f3148e2" /><Relationship Type="http://schemas.openxmlformats.org/officeDocument/2006/relationships/font" Target="/ppt/fonts/font3.dat" Id="R671ca97d83154793" /><Relationship Type="http://schemas.openxmlformats.org/officeDocument/2006/relationships/font" Target="/ppt/fonts/font4.dat" Id="R7f192035ce3a4a85" /><Relationship Type="http://schemas.openxmlformats.org/officeDocument/2006/relationships/font" Target="/ppt/fonts/font5.dat" Id="Rd34f115074fa44a6" /><Relationship Type="http://schemas.openxmlformats.org/officeDocument/2006/relationships/font" Target="/ppt/fonts/font6.dat" Id="R6317a0b703e74373" /><Relationship Type="http://schemas.openxmlformats.org/officeDocument/2006/relationships/font" Target="/ppt/fonts/font7.dat" Id="Rcf8377a5a2b24f6f" /><Relationship Type="http://schemas.openxmlformats.org/officeDocument/2006/relationships/font" Target="/ppt/fonts/font8.dat" Id="Rd92eb6018ed944eb" /><Relationship Type="http://schemas.openxmlformats.org/officeDocument/2006/relationships/font" Target="/ppt/fonts/font9.dat" Id="R6dd7c7e97d8840d9" /><Relationship Type="http://schemas.openxmlformats.org/officeDocument/2006/relationships/slide" Target="/ppt/slides/slide1.xml" Id="Rca09a0652aa54175" /><Relationship Type="http://schemas.openxmlformats.org/officeDocument/2006/relationships/slide" Target="/ppt/slides/slide2.xml" Id="R103523b443a74ee5" /><Relationship Type="http://schemas.openxmlformats.org/officeDocument/2006/relationships/slide" Target="/ppt/slides/slide3.xml" Id="Rbd9d6f0920304783" /><Relationship Type="http://schemas.openxmlformats.org/officeDocument/2006/relationships/slide" Target="/ppt/slides/slide4.xml" Id="Rdd3bf512bf084590" /><Relationship Type="http://schemas.openxmlformats.org/officeDocument/2006/relationships/slide" Target="/ppt/slides/slide5.xml" Id="R7de25d7a1d614e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78e49754af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fd5696eae4b14" /><Relationship Type="http://schemas.openxmlformats.org/officeDocument/2006/relationships/notesMaster" Target="/ppt/notesMasters/notesMaster1.xml" Id="Rae7d26221bad47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07f82321774ebe" /><Relationship Type="http://schemas.openxmlformats.org/officeDocument/2006/relationships/notesMaster" Target="/ppt/notesMasters/notesMaster1.xml" Id="Rff681db596bf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0bef73e7a64a8c" /><Relationship Type="http://schemas.openxmlformats.org/officeDocument/2006/relationships/notesMaster" Target="/ppt/notesMasters/notesMaster1.xml" Id="Ra54845853adb41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10e4cb7fcd4994" /><Relationship Type="http://schemas.openxmlformats.org/officeDocument/2006/relationships/notesMaster" Target="/ppt/notesMasters/notesMaster1.xml" Id="R419405f55baa4e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d7a9a59a44656" /><Relationship Type="http://schemas.openxmlformats.org/officeDocument/2006/relationships/notesMaster" Target="/ppt/notesMasters/notesMaster1.xml" Id="R892d1579ac1e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ca4b810814a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79ec1aab243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18ab96f4b4e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cdbbfd9fb43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efb83767b4d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0f82ff5234e8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7bfacebbc416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7cdfecefb477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841c2eea649e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69f7f4ff94ab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0dc26986f4ad4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419C58-7332-425D-9AE9-12341F9895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FCB9F1-9629-4F31-AF76-70DAAA79BE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FAE375-7369-46C4-B9F0-94D9BAFC60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3F741A-807C-4DB8-A11C-AD2B0241A9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801765-A838-46E8-9D79-811561BACC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AC9FEA-CAD3-4A76-906B-CC52DC761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9E40E6-313B-47D3-B1B2-EA50429328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1B1CCC-5109-482A-BD67-27FA5811C7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D651BE-0DB1-41B7-8F25-5C2F49C8FF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530830-F3DF-4A22-9FFF-450BD7341F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6113CD-99A3-4022-B3C4-A21549EE5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A3BC3B-61FB-4ADB-9AFC-57557EE560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4C8193-8AB4-43FE-AFC9-A45B24C25E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60F9E1-85A5-46B3-AEC8-FC5E66BC32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164E06-5737-4CED-98B8-B5DE9BC32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E7108F-0236-4E27-AE6D-FD8A18533B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B86E02-A5AC-4188-AA2A-E856A888C9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DAF2F0D-BEDE-4A3F-AF8A-FA07537A53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9452102-9C4D-4BD4-9D6B-1DDA24A73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9EEF820-59B9-4325-86BA-8E6740A65E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37CF89F-A9E8-42C9-8B37-A7CBCA363D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D47EFF-81CD-4697-9A72-EE219A3F0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64E291-C371-4035-976D-CAC77AFF9F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930789A-33AB-47E8-8957-AE78B7ACA1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EDB73CB-336D-4A01-895A-6630FF3960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73B6697-0993-4D95-B97D-EB8261C2CE0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60B3B3B-0709-437F-AB0C-3B7C29E6A7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47E0D52-2279-4FE7-B70D-26205DD8C6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BC48D8D-D7A3-4792-B967-7A15E6CAAF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AD8D7E-CA68-4FFF-825B-7223EDFB5C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86DC3F5-C507-4EFC-8450-9864A5A894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DE3F598-7C56-40EA-A393-C3CE7CD943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C549CEA-00ED-4390-8AF3-469C3EDD53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4C672D0-B802-4C52-95A4-9CCE09544E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FC55993-DC77-427B-9D8F-51984A8FC3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0227D08-CCB1-4CDF-8136-52CE565E9E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6F5E61-C8B2-4BC2-925B-B081D1CE10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452711-1E0B-4A3D-8ADB-178980E60E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2A73C3E-2920-4896-9729-C9D7CD08BE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B8EEFB3-817D-44A1-8930-062ABE55FA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D1D133C-8D0A-4084-90F7-25A81F9112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479275-B604-480B-926D-6AF3888A2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B3E28C-DA08-4FB4-B9F0-2DF368715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E9C0C9-AF2F-437F-8BE5-2FC482F9CDC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C444EA-39D7-448F-85DE-73194C6CD3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E2A2176-4476-451A-8448-986D64C968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2CED68-51DB-41C5-B725-1C217A8340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A91065F-E298-4627-A6D6-1BA1C83E42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B479AC-1B54-4748-95FB-15A763EBC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2CFC12-DB99-4A74-B0F2-34421FCBC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0966AF-8E1D-4F73-9141-C5AB1E7752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8AAEF9-128C-4939-A38A-8190637C15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C8607B-185E-40A5-9B49-162F6FA82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F30BFDE-84C6-4735-8053-B20B887AA2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FAC020-65AD-44E0-93D7-C1D257856F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4751B9-3F3E-4B18-A7AD-EE8D8802DE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C0C14F-860C-4CBF-90B5-0C76BBF0D5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D6D9B7-70E7-4DEB-8B2C-DC2C9BA85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1e4eff2afaa64d73" /><Relationship Type="http://schemas.openxmlformats.org/officeDocument/2006/relationships/theme" Target="/ppt/slideMasters/theme/theme2.xml" Id="Rb50b917966c24b7a" /><Relationship Type="http://schemas.openxmlformats.org/officeDocument/2006/relationships/slideLayout" Target="/ppt/slideLayouts/slideLayout1.xml" Id="R93e1616afe2d4d87" /><Relationship Type="http://schemas.openxmlformats.org/officeDocument/2006/relationships/slideLayout" Target="/ppt/slideLayouts/slideLayout2.xml" Id="R61d12314850b4b20" /><Relationship Type="http://schemas.openxmlformats.org/officeDocument/2006/relationships/slideLayout" Target="/ppt/slideLayouts/slideLayout3.xml" Id="R82e205d462a1402c" /><Relationship Type="http://schemas.openxmlformats.org/officeDocument/2006/relationships/slideLayout" Target="/ppt/slideLayouts/slideLayout4.xml" Id="R04c9d15061b14c47" /><Relationship Type="http://schemas.openxmlformats.org/officeDocument/2006/relationships/slideLayout" Target="/ppt/slideLayouts/slideLayout5.xml" Id="Rff3ab87077bf4f3a" /><Relationship Type="http://schemas.openxmlformats.org/officeDocument/2006/relationships/slideLayout" Target="/ppt/slideLayouts/slideLayout6.xml" Id="Rf58b85af1f284ab0" /><Relationship Type="http://schemas.openxmlformats.org/officeDocument/2006/relationships/slideLayout" Target="/ppt/slideLayouts/slideLayout7.xml" Id="R22ae0ae1387541a1" /><Relationship Type="http://schemas.openxmlformats.org/officeDocument/2006/relationships/slideLayout" Target="/ppt/slideLayouts/slideLayout8.xml" Id="R27a99be712d544e0" /><Relationship Type="http://schemas.openxmlformats.org/officeDocument/2006/relationships/slideLayout" Target="/ppt/slideLayouts/slideLayout9.xml" Id="R30f6eb6bd7274e47" /><Relationship Type="http://schemas.openxmlformats.org/officeDocument/2006/relationships/slideLayout" Target="/ppt/slideLayouts/slideLayout10.xml" Id="R729cc51cb73141d8" /><Relationship Type="http://schemas.openxmlformats.org/officeDocument/2006/relationships/slideLayout" Target="/ppt/slideLayouts/slideLayout11.xml" Id="R33320b67d35742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B0081DB-61D9-4B07-9FF0-15947ACEE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DCCBF6-9501-4B50-B618-287518680B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69F807-FB9C-45DC-8613-45201FA1D8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AC0F0B2-DC44-4D7F-B9BC-23EB46679998}" type="datetimeFigureOut">
              <a:t>2026-09-10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513F41-39B0-4B70-8CED-63F4F61D8A4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D1B7D8-989E-4F18-A553-D7606BB94DC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BF5F6E0-E4C1-4D32-8605-C37E4FBD9F94}" type="slidenum">
              <a:t>‹#›</a:t>
            </a:fld>
            <a:endParaRPr/>
          </a:p>
        </p:txBody>
      </p:sp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4eff2afaa64d73"/>
          <a:srcRect xmlns:a="http://schemas.openxmlformats.org/drawingml/2006/main" l="0" t="1" r="0" b="88495"/>
          <a:stretch xmlns:a="http://schemas.openxmlformats.org/drawingml/2006/main"/>
        </p:blipFill>
        <p:spPr>
          <a:xfrm xmlns:a="http://schemas.openxmlformats.org/drawingml/2006/main">
            <a:off x="0" y="0"/>
            <a:ext cx="9906000" cy="61895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e1616afe2d4d87"/>
    <p:sldLayoutId xmlns:r="http://schemas.openxmlformats.org/officeDocument/2006/relationships" id="2147483650" r:id="R61d12314850b4b20"/>
    <p:sldLayoutId xmlns:r="http://schemas.openxmlformats.org/officeDocument/2006/relationships" id="2147483651" r:id="R82e205d462a1402c"/>
    <p:sldLayoutId xmlns:r="http://schemas.openxmlformats.org/officeDocument/2006/relationships" id="2147483652" r:id="R04c9d15061b14c47"/>
    <p:sldLayoutId xmlns:r="http://schemas.openxmlformats.org/officeDocument/2006/relationships" id="2147483653" r:id="Rff3ab87077bf4f3a"/>
    <p:sldLayoutId xmlns:r="http://schemas.openxmlformats.org/officeDocument/2006/relationships" id="2147483654" r:id="Rf58b85af1f284ab0"/>
    <p:sldLayoutId xmlns:r="http://schemas.openxmlformats.org/officeDocument/2006/relationships" id="2147483655" r:id="R22ae0ae1387541a1"/>
    <p:sldLayoutId xmlns:r="http://schemas.openxmlformats.org/officeDocument/2006/relationships" id="2147483656" r:id="R27a99be712d544e0"/>
    <p:sldLayoutId xmlns:r="http://schemas.openxmlformats.org/officeDocument/2006/relationships" id="2147483657" r:id="R30f6eb6bd7274e47"/>
    <p:sldLayoutId xmlns:r="http://schemas.openxmlformats.org/officeDocument/2006/relationships" id="2147483658" r:id="R729cc51cb73141d8"/>
    <p:sldLayoutId xmlns:r="http://schemas.openxmlformats.org/officeDocument/2006/relationships" id="2147483659" r:id="R33320b67d35742b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502e1b6f14e1d" /><Relationship Type="http://schemas.openxmlformats.org/officeDocument/2006/relationships/image" Target="/ppt/media/image2.jpeg" Id="R4baba36f615c41fe" /><Relationship Type="http://schemas.openxmlformats.org/officeDocument/2006/relationships/image" Target="/ppt/media/image3.jpeg" Id="R80118901bf94403b" /><Relationship Type="http://schemas.openxmlformats.org/officeDocument/2006/relationships/notesSlide" Target="/ppt/notesSlides/notesSlide1.xml" Id="Rdde3cee9c1aa44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04feeb832b44cd" /><Relationship Type="http://schemas.openxmlformats.org/officeDocument/2006/relationships/image" Target="/ppt/media/image.png" Id="Rca8b6e2a9f12424f" /><Relationship Type="http://schemas.openxmlformats.org/officeDocument/2006/relationships/image" Target="/ppt/media/image2.png" Id="R4523b51eab1e4be6" /><Relationship Type="http://schemas.openxmlformats.org/officeDocument/2006/relationships/image" Target="/ppt/media/image.svg" Id="Raed0afccf7fa418f" /><Relationship Type="http://schemas.openxmlformats.org/officeDocument/2006/relationships/image" Target="/ppt/media/image3.png" Id="R3440696369cd4de9" /><Relationship Type="http://schemas.openxmlformats.org/officeDocument/2006/relationships/image" Target="/ppt/media/image2.svg" Id="Re6fe3a1ad1064edd" /><Relationship Type="http://schemas.openxmlformats.org/officeDocument/2006/relationships/image" Target="/ppt/media/image4.png" Id="Ref611d3d6e2f48fb" /><Relationship Type="http://schemas.openxmlformats.org/officeDocument/2006/relationships/image" Target="/ppt/media/image3.svg" Id="R947e24c94c1e49ce" /><Relationship Type="http://schemas.openxmlformats.org/officeDocument/2006/relationships/image" Target="/ppt/media/image5.png" Id="R55690bd5fe8e4033" /><Relationship Type="http://schemas.openxmlformats.org/officeDocument/2006/relationships/image" Target="/ppt/media/image4.svg" Id="R281b4a7ae9dd47e0" /><Relationship Type="http://schemas.openxmlformats.org/officeDocument/2006/relationships/image" Target="/ppt/media/image6.png" Id="R5fa67ebedcff4ed6" /><Relationship Type="http://schemas.openxmlformats.org/officeDocument/2006/relationships/image" Target="/ppt/media/image7.png" Id="Re5999ae88de94fc8" /><Relationship Type="http://schemas.openxmlformats.org/officeDocument/2006/relationships/image" Target="/ppt/media/image8.png" Id="Rf52896b4ce9f4554" /><Relationship Type="http://schemas.openxmlformats.org/officeDocument/2006/relationships/notesSlide" Target="/ppt/notesSlides/notesSlide2.xml" Id="R665a09f0a533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2afbb6c4a4837" /><Relationship Type="http://schemas.openxmlformats.org/officeDocument/2006/relationships/image" Target="/ppt/media/image.png" Id="Ra16599244cfc44bc" /><Relationship Type="http://schemas.openxmlformats.org/officeDocument/2006/relationships/image" Target="/ppt/media/image9.png" Id="R8d808171ca8b480b" /><Relationship Type="http://schemas.openxmlformats.org/officeDocument/2006/relationships/image" Target="/ppt/media/image5.svg" Id="R6d18f39ea274458e" /><Relationship Type="http://schemas.openxmlformats.org/officeDocument/2006/relationships/image" Target="/ppt/media/image10.png" Id="Rb72190665ee7410f" /><Relationship Type="http://schemas.openxmlformats.org/officeDocument/2006/relationships/image" Target="/ppt/media/image6.svg" Id="R357d778c7d534a7d" /><Relationship Type="http://schemas.openxmlformats.org/officeDocument/2006/relationships/image" Target="/ppt/media/image11.png" Id="Re612c65a46c54dba" /><Relationship Type="http://schemas.openxmlformats.org/officeDocument/2006/relationships/image" Target="/ppt/media/image7.svg" Id="R887da1012b7d457e" /><Relationship Type="http://schemas.openxmlformats.org/officeDocument/2006/relationships/image" Target="/ppt/media/image12.png" Id="R16e07908298945e1" /><Relationship Type="http://schemas.openxmlformats.org/officeDocument/2006/relationships/image" Target="/ppt/media/image8.svg" Id="Rb1dc24b32fc14ff3" /><Relationship Type="http://schemas.openxmlformats.org/officeDocument/2006/relationships/image" Target="/ppt/media/image13.png" Id="Rbb40d298b76b4c19" /><Relationship Type="http://schemas.openxmlformats.org/officeDocument/2006/relationships/image" Target="/ppt/media/image9.svg" Id="R6cc6c9c26bea4aba" /><Relationship Type="http://schemas.openxmlformats.org/officeDocument/2006/relationships/notesSlide" Target="/ppt/notesSlides/notesSlide3.xml" Id="Rd8f26f96eb07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a39aa8243b453c" /><Relationship Type="http://schemas.openxmlformats.org/officeDocument/2006/relationships/image" Target="/ppt/media/image14.png" Id="R3e24036764444a1e" /><Relationship Type="http://schemas.openxmlformats.org/officeDocument/2006/relationships/image" Target="/ppt/media/image15.png" Id="R77979369692b41d7" /><Relationship Type="http://schemas.openxmlformats.org/officeDocument/2006/relationships/image" Target="/ppt/media/image10.svg" Id="R204d7d2f97c449a5" /><Relationship Type="http://schemas.openxmlformats.org/officeDocument/2006/relationships/image" Target="/ppt/media/image.png" Id="R8b10b6c37c3a4dd4" /><Relationship Type="http://schemas.openxmlformats.org/officeDocument/2006/relationships/notesSlide" Target="/ppt/notesSlides/notesSlide4.xml" Id="Rbcfa0202ec21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f9c9b7cbd42da" /><Relationship Type="http://schemas.openxmlformats.org/officeDocument/2006/relationships/image" Target="/ppt/media/image.png" Id="Ra15cba9eedcc428b" /><Relationship Type="http://schemas.openxmlformats.org/officeDocument/2006/relationships/notesSlide" Target="/ppt/notesSlides/notesSlide5.xml" Id="R27bf6e14b9e54d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ba36f615c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906001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18901bf9440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2542" y="206132"/>
            <a:ext cx="1054351" cy="418802"/>
          </a:xfrm>
          <a:prstGeom xmlns:a="http://schemas.openxmlformats.org/drawingml/2006/main" prst="rect">
            <a:avLst/>
          </a:prstGeom>
        </p:spPr>
      </p:pic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357" y="5533834"/>
            <a:ext cx="1404000" cy="348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’26. </a:t>
            </a:r>
            <a:r>
              <a:rPr sz="2000" b="1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9</a:t>
            </a:r>
            <a:r>
              <a:rPr sz="20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. 16.</a:t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883" y="6064424"/>
            <a:ext cx="4580949" cy="351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포스코퓨처엠 송다혜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 Box 9">
            <a:extLst xmlns:a="http://schemas.openxmlformats.org/drawingml/2006/main"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33" y="2171601"/>
            <a:ext cx="9908133" cy="138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5738" tIns="75738" rIns="75738" bIns="75738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1000"/>
              </a:spcAft>
              <a:buNone/>
            </a:pPr>
            <a:r>
              <a:rPr sz="3600" b="1" spc="-100">
                <a:solidFill>
                  <a:prstClr val="black"/>
                </a:solidFill>
                <a:latin typeface="HY견고딕"/>
                <a:ea typeface="HY견고딕"/>
                <a:cs typeface="HY견고딕"/>
              </a:rPr>
              <a:t>      업무 상황을 입력하면</a:t>
            </a:r>
            <a:r>
              <a:rPr sz="3600" b="1" spc="-100">
                <a:solidFill>
                  <a:prstClr val="black"/>
                </a:solidFill>
                <a:latin typeface="HY견고딕"/>
                <a:ea typeface="HY견고딕"/>
                <a:cs typeface="HY견고딕"/>
              </a:rPr>
              <a:t>,</a:t>
            </a:r>
          </a:p>
          <a:p xmlns:a="http://schemas.openxmlformats.org/drawingml/2006/main">
            <a:pPr>
              <a:spcBef>
                <a:spcPct val="0"/>
              </a:spcBef>
              <a:spcAft>
                <a:spcPts val="1000"/>
              </a:spcAft>
              <a:buNone/>
            </a:pPr>
            <a:r>
              <a:rPr sz="3600" b="1" spc="-100">
                <a:solidFill>
                  <a:prstClr val="black"/>
                </a:solidFill>
                <a:latin typeface="HY견고딕"/>
                <a:ea typeface="HY견고딕"/>
                <a:cs typeface="HY견고딕"/>
              </a:rPr>
              <a:t>      </a:t>
            </a:r>
            <a:r>
              <a:rPr sz="3600" b="1" spc="-100">
                <a:solidFill>
                  <a:prstClr val="black"/>
                </a:solidFill>
                <a:latin typeface="HY견고딕"/>
                <a:ea typeface="HY견고딕"/>
                <a:cs typeface="HY견고딕"/>
              </a:rPr>
              <a:t>필요한 절차와 협업 부서를 안내합니다</a:t>
            </a:r>
            <a:r>
              <a:rPr sz="3600" b="1" spc="-100">
                <a:solidFill>
                  <a:prstClr val="black"/>
                </a:solidFill>
                <a:latin typeface="HY견고딕"/>
                <a:ea typeface="HY견고딕"/>
                <a:cs typeface="HY견고딕"/>
              </a:rPr>
              <a:t>.</a:t>
            </a:r>
            <a:endParaRPr sz="3600" b="1" kern="0" spc="-100">
              <a:solidFill>
                <a:prstClr val="black"/>
              </a:solidFill>
              <a:latin typeface="HY견고딕"/>
              <a:ea typeface="HY견고딕"/>
              <a:cs typeface="HY견고딕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1" y="1782172"/>
            <a:ext cx="275324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>[</a:t>
            </a:r>
            <a:r>
              <a:rPr>
                <a:latin typeface="+mn-ea"/>
                <a:ea typeface="+mn-ea"/>
                <a:cs typeface="+mn-ea"/>
              </a:rPr>
              <a:t>업무 지침 네비게이터</a:t>
            </a:r>
            <a:r>
              <a:rPr>
                <a:latin typeface="+mn-ea"/>
                <a:ea typeface="+mn-ea"/>
                <a:cs typeface="+mn-ea"/>
              </a:rPr>
              <a:t>]</a:t>
            </a:r>
            <a:endParaRPr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733" y="5147722"/>
            <a:ext cx="2386148" cy="478467"/>
          </a:xfrm>
          <a:prstGeom xmlns:a="http://schemas.openxmlformats.org/drawingml/2006/main" prst="roundRect">
            <a:avLst>
              <a:gd name="adj" fmla="val 19218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solidFill>
              <a:srgbClr val="E4DA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           내용 확인</a:t>
            </a:r>
            <a:r>
              <a:rPr sz="1400" b="1"/>
              <a:t>, </a:t>
            </a:r>
            <a:r>
              <a:rPr sz="1400" b="1"/>
              <a:t>업무 처리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48" y="118834"/>
            <a:ext cx="828135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1.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입력만으로 필요 절차와 지침을 한 번에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, 『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업무 지침 네비게이터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』</a:t>
            </a:r>
            <a:endParaRPr sz="2000" b="1" i="0" u="none" kern="1200" cap="none" spc="-10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" y="709192"/>
            <a:ext cx="7886103" cy="39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3891" tIns="73891" rIns="73891" bIns="73891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400" b="1" i="0" u="none" cap="none" spc="-2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검토 배경</a:t>
            </a:r>
            <a:r>
              <a:rPr sz="1400" i="0" u="none" cap="none" spc="-2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400" i="0" u="none" cap="none" spc="-2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누구나 필요한 업무 프로세스를 쉽게 이해하고</a:t>
            </a:r>
            <a:r>
              <a:rPr sz="1400" i="0" u="none" cap="none" spc="-2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400" i="0" u="none" cap="none" spc="-2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안정적으로 이행할 수 있는 지원 필요</a:t>
            </a:r>
            <a:endParaRPr sz="1400" i="0" u="none" kern="1200" cap="none" spc="-2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모서리가 둥근 직사각형 320">
            <a:extLst xmlns:a="http://schemas.openxmlformats.org/drawingml/2006/main">
              <a:ext uri="{FF2B5EF4-FFF2-40B4-BE49-F238E27FC236}">
                <a16:creationId xmlns:a16="http://schemas.microsoft.com/office/drawing/2014/main" id="{64991931-304B-4A79-8ABF-F87172C3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399" y="819181"/>
            <a:ext cx="194324" cy="180020"/>
          </a:xfrm>
          <a:prstGeom xmlns:a="http://schemas.openxmlformats.org/drawingml/2006/main" prst="roundRect">
            <a:avLst>
              <a:gd name="adj" fmla="val 136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1" i="0" u="none" kern="1200" cap="none" spc="-20" baseline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latin typeface="HY견고딕"/>
              <a:ea typeface="HY견고딕"/>
              <a:cs typeface="HY견고딕"/>
            </a:endParaRPr>
          </a:p>
        </p:txBody>
      </p:sp>
      <p:pic>
        <p:nvPicPr>
          <p:cNvPr id="79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b6e2a9f1242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344" y="824197"/>
            <a:ext cx="185267" cy="175004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" y="4300007"/>
            <a:ext cx="9218275" cy="40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3891" tIns="73891" rIns="73891" bIns="73891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400" b="1" i="0" u="none" cap="none" spc="-20">
                <a:ln>
                  <a:noFill/>
                </a:ln>
                <a:solidFill>
                  <a:prstClr val="black"/>
                </a:solidFill>
                <a:latin typeface="+mn-ea"/>
                <a:ea typeface="+mn-ea"/>
                <a:cs typeface="+mn-ea"/>
              </a:rPr>
              <a:t>추진 방향</a:t>
            </a:r>
            <a:r>
              <a:rPr sz="1400" i="0" u="none" cap="none" spc="-20">
                <a:ln>
                  <a:noFill/>
                </a:ln>
                <a:solidFill>
                  <a:prstClr val="black"/>
                </a:solidFill>
                <a:latin typeface="+mn-ea"/>
                <a:ea typeface="+mn-ea"/>
                <a:cs typeface="+mn-ea"/>
              </a:rPr>
              <a:t>:</a:t>
            </a:r>
            <a:r>
              <a:rPr sz="1400" b="1" i="0" u="none" cap="none" spc="-20">
                <a:ln>
                  <a:noFill/>
                </a:ln>
                <a:solidFill>
                  <a:prstClr val="black"/>
                </a:solidFill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담당자의 경험과 개별 탐색 방식에서 </a:t>
            </a:r>
            <a:r>
              <a:rPr sz="1400" b="1">
                <a:solidFill>
                  <a:srgbClr val="0000FF"/>
                </a:solidFill>
                <a:latin typeface="+mn-ea"/>
                <a:ea typeface="+mn-ea"/>
                <a:cs typeface="+mn-ea"/>
              </a:rPr>
              <a:t>업무별 처리 절차와 지침을 한 번에 안내하는 방식으로 전환</a:t>
            </a:r>
            <a:endParaRPr sz="1400" b="1" i="0" u="none" kern="1200" cap="none" spc="-20" baseline="0">
              <a:ln>
                <a:noFill/>
              </a:ln>
              <a:solidFill>
                <a:srgbClr val="0000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0" name="모서리가 둥근 직사각형 320">
            <a:extLst xmlns:a="http://schemas.openxmlformats.org/drawingml/2006/main">
              <a:ext uri="{FF2B5EF4-FFF2-40B4-BE49-F238E27FC236}">
                <a16:creationId xmlns:a16="http://schemas.microsoft.com/office/drawing/2014/main" id="{C8058689-94E4-446F-AA2A-B4307B03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399" y="4409996"/>
            <a:ext cx="194324" cy="180020"/>
          </a:xfrm>
          <a:prstGeom xmlns:a="http://schemas.openxmlformats.org/drawingml/2006/main" prst="roundRect">
            <a:avLst>
              <a:gd name="adj" fmla="val 136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1" i="0" u="none" kern="1200" cap="none" spc="-20" baseline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latin typeface="HY견고딕"/>
              <a:ea typeface="HY견고딕"/>
              <a:cs typeface="HY견고딕"/>
            </a:endParaRPr>
          </a:p>
        </p:txBody>
      </p:sp>
      <p:pic>
        <p:nvPicPr>
          <p:cNvPr id="82" name="그림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b6e2a9f1242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344" y="4415012"/>
            <a:ext cx="185267" cy="175004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2" y="5147722"/>
            <a:ext cx="2252113" cy="478467"/>
          </a:xfrm>
          <a:prstGeom xmlns:a="http://schemas.openxmlformats.org/drawingml/2006/main" prst="roundRect">
            <a:avLst>
              <a:gd name="adj" fmla="val 19218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solidFill>
              <a:srgbClr val="E4DA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            업무 입력</a:t>
            </a:r>
          </a:p>
        </p:txBody>
      </p:sp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92" y="4971163"/>
            <a:ext cx="6477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10" y="5147722"/>
            <a:ext cx="4192537" cy="478467"/>
          </a:xfrm>
          <a:prstGeom xmlns:a="http://schemas.openxmlformats.org/drawingml/2006/main" prst="roundRect">
            <a:avLst>
              <a:gd name="adj" fmla="val 15236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9525">
            <a:solidFill>
              <a:srgbClr val="E4DA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400" b="1"/>
              <a:t>             키워드</a:t>
            </a:r>
            <a:r>
              <a:rPr sz="1400" b="1"/>
              <a:t>, </a:t>
            </a:r>
            <a:r>
              <a:rPr sz="1400" b="1"/>
              <a:t>업무 유형 분석            절차</a:t>
            </a:r>
            <a:r>
              <a:rPr sz="1400" b="1"/>
              <a:t>, </a:t>
            </a:r>
            <a:r>
              <a:rPr sz="1400" b="1"/>
              <a:t>지침 안내                   </a:t>
            </a:r>
            <a:r>
              <a:rPr sz="1400" b="1"/>
              <a:t> </a:t>
            </a:r>
            <a:endParaRPr sz="1400" b="1"/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10" y="4971163"/>
            <a:ext cx="647700" cy="228600"/>
          </a:xfrm>
          <a:prstGeom xmlns:a="http://schemas.openxmlformats.org/drawingml/2006/main" prst="round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/>
              <a:t>서비스</a:t>
            </a:r>
          </a:p>
        </p:txBody>
      </p:sp>
      <p:pic>
        <p:nvPicPr>
          <p:cNvPr id="87" name="그래픽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3b51eab1e4be6">
            <a:extLst>
              <a:ext uri="{96DAC541-7B7A-43D3-8B79-37D633B846F1}">
                <asvg:svgBlip xmlns:asvg="http://schemas.microsoft.com/office/drawing/2016/SVG/main" r:embed="Raed0afccf7fa41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2478" y="5175960"/>
            <a:ext cx="525332" cy="443544"/>
          </a:xfrm>
          <a:prstGeom xmlns:a="http://schemas.openxmlformats.org/drawingml/2006/main" prst="rect">
            <a:avLst/>
          </a:prstGeom>
        </p:spPr>
      </p:pic>
      <p:pic>
        <p:nvPicPr>
          <p:cNvPr id="88" name="그래픽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0696369cd4de9">
            <a:extLst>
              <a:ext uri="{96DAC541-7B7A-43D3-8B79-37D633B846F1}">
                <asvg:svgBlip xmlns:asvg="http://schemas.microsoft.com/office/drawing/2016/SVG/main" r:embed="Re6fe3a1ad1064e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64" y="5101671"/>
            <a:ext cx="597557" cy="597557"/>
          </a:xfrm>
          <a:prstGeom xmlns:a="http://schemas.openxmlformats.org/drawingml/2006/main" prst="rect">
            <a:avLst/>
          </a:prstGeom>
        </p:spPr>
      </p:pic>
      <p:pic>
        <p:nvPicPr>
          <p:cNvPr id="89" name="그래픽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11d3d6e2f48fb">
            <a:extLst>
              <a:ext uri="{96DAC541-7B7A-43D3-8B79-37D633B846F1}">
                <asvg:svgBlip xmlns:asvg="http://schemas.microsoft.com/office/drawing/2016/SVG/main" r:embed="R947e24c94c1e49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5030" y="5167171"/>
            <a:ext cx="425550" cy="425550"/>
          </a:xfrm>
          <a:prstGeom xmlns:a="http://schemas.openxmlformats.org/drawingml/2006/main" prst="rect">
            <a:avLst/>
          </a:prstGeom>
        </p:spPr>
      </p:pic>
      <p:pic>
        <p:nvPicPr>
          <p:cNvPr id="90" name="그래픽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90bd5fe8e4033">
            <a:extLst>
              <a:ext uri="{96DAC541-7B7A-43D3-8B79-37D633B846F1}">
                <asvg:svgBlip xmlns:asvg="http://schemas.microsoft.com/office/drawing/2016/SVG/main" r:embed="R281b4a7ae9dd47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15186" y="5196056"/>
            <a:ext cx="425550" cy="425550"/>
          </a:xfrm>
          <a:prstGeom xmlns:a="http://schemas.openxmlformats.org/drawingml/2006/main" prst="rect">
            <a:avLst/>
          </a:prstGeom>
        </p:spPr>
      </p:pic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733" y="4971163"/>
            <a:ext cx="6477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95" y="5988125"/>
            <a:ext cx="9289581" cy="505290"/>
          </a:xfrm>
          <a:prstGeom xmlns:a="http://schemas.openxmlformats.org/drawingml/2006/main" prst="rect">
            <a:avLst/>
          </a:prstGeom>
          <a:pattFill xmlns:a="http://schemas.openxmlformats.org/drawingml/2006/main"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필요한 지침을 빠르게 찾아</a:t>
            </a: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, </a:t>
            </a: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시작부터 완료까지 정확하게 업무를 처리하도록 체계적으로 지원</a:t>
            </a:r>
          </a:p>
        </p:txBody>
      </p:sp>
      <p:sp>
        <p:nvSpPr>
          <p:cNvPr id="40" name="타원 39">
            <a:extLst xmlns:a="http://schemas.openxmlformats.org/drawingml/2006/main">
              <a:ext uri="{FF2B5EF4-FFF2-40B4-BE49-F238E27FC236}">
                <a16:creationId xmlns:a16="http://schemas.microsoft.com/office/drawing/2014/main" id="{DA20131F-F70E-4A56-981E-03309AF0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235" y="6025044"/>
            <a:ext cx="417209" cy="431452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82487A50-08B9-4EF0-9A7E-A9A654CF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628" y="6045346"/>
            <a:ext cx="509585" cy="390844"/>
          </a:xfrm>
          <a:prstGeom xmlns:a="http://schemas.openxmlformats.org/drawingml/2006/main" prst="rightArrow">
            <a:avLst/>
          </a:prstGeom>
          <a:pattFill xmlns:a="http://schemas.openxmlformats.org/drawingml/2006/main"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95" y="4817740"/>
            <a:ext cx="9409457" cy="999163"/>
          </a:xfrm>
          <a:prstGeom xmlns:a="http://schemas.openxmlformats.org/drawingml/2006/main" prst="roundRect">
            <a:avLst>
              <a:gd name="adj" fmla="val 5139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 b="1"/>
          </a:p>
        </p:txBody>
      </p:sp>
      <p:sp>
        <p:nvSpPr>
          <p:cNvPr id="64" name="이등변 삼각형 63">
            <a:extLst xmlns:a="http://schemas.openxmlformats.org/drawingml/2006/main"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30899" y="5328339"/>
            <a:ext cx="166088" cy="120792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이등변 삼각형 64">
            <a:extLst xmlns:a="http://schemas.openxmlformats.org/drawingml/2006/main"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03619" y="5330017"/>
            <a:ext cx="166088" cy="120792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95" y="1217806"/>
            <a:ext cx="2985462" cy="2881439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540" y="1217806"/>
            <a:ext cx="2985462" cy="2881439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393" y="1217806"/>
            <a:ext cx="2985462" cy="2881439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73" y="1335924"/>
            <a:ext cx="2520908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/>
              <a:t>회사 업무</a:t>
            </a:r>
          </a:p>
        </p:txBody>
      </p:sp>
      <p:sp>
        <p:nvSpPr>
          <p:cNvPr id="14" name="직선 연결선 13">
            <a:extLst xmlns:a="http://schemas.openxmlformats.org/drawingml/2006/main">
              <a:ext uri="{FF2B5EF4-FFF2-40B4-BE49-F238E27FC236}">
                <a16:creationId xmlns:a16="http://schemas.microsoft.com/office/drawing/2014/main" id="{71910CE7-1AA7-43D8-9410-D26A0A33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59" y="1718268"/>
            <a:ext cx="270533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919" y="1377795"/>
            <a:ext cx="2520908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/>
              <a:t>문제점</a:t>
            </a:r>
          </a:p>
        </p:txBody>
      </p:sp>
      <p:sp>
        <p:nvSpPr>
          <p:cNvPr id="52" name="직선 연결선 51">
            <a:extLst xmlns:a="http://schemas.openxmlformats.org/drawingml/2006/main">
              <a:ext uri="{FF2B5EF4-FFF2-40B4-BE49-F238E27FC236}">
                <a16:creationId xmlns:a16="http://schemas.microsoft.com/office/drawing/2014/main" id="{DBF9A54C-78EE-41F3-BCF5-6B6D3D71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705" y="1760139"/>
            <a:ext cx="270533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670" y="1369423"/>
            <a:ext cx="2520908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/>
              <a:t>개선 방안</a:t>
            </a:r>
          </a:p>
        </p:txBody>
      </p:sp>
      <p:sp>
        <p:nvSpPr>
          <p:cNvPr id="60" name="직선 연결선 59">
            <a:extLst xmlns:a="http://schemas.openxmlformats.org/drawingml/2006/main">
              <a:ext uri="{FF2B5EF4-FFF2-40B4-BE49-F238E27FC236}">
                <a16:creationId xmlns:a16="http://schemas.microsoft.com/office/drawing/2014/main" id="{BAB1C28E-22F9-4037-B778-AF43737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456" y="1751767"/>
            <a:ext cx="270533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48" y="2995774"/>
            <a:ext cx="2985461" cy="948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정해진 프로세스와 절차에 따라 처리</a:t>
            </a:r>
            <a:endParaRPr sz="130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/>
              <a:t>담당자가 바뀌어도 필수 절차 준수</a:t>
            </a:r>
            <a:endParaRPr sz="130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일관된 결과물 확보</a:t>
            </a:r>
          </a:p>
        </p:txBody>
      </p:sp>
      <p:pic>
        <p:nvPicPr>
          <p:cNvPr id="108" name="그래픽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67ebedcff4e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5519" y="1959127"/>
            <a:ext cx="755703" cy="755703"/>
          </a:xfrm>
          <a:prstGeom xmlns:a="http://schemas.openxmlformats.org/drawingml/2006/main" prst="rect">
            <a:avLst/>
          </a:prstGeom>
        </p:spPr>
      </p:pic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541" y="2995774"/>
            <a:ext cx="3114419" cy="948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 spc="-40"/>
              <a:t>필요한 절차와 지침을 찾는데 시간 소요</a:t>
            </a:r>
            <a:endParaRPr sz="1300" spc="-4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 spc="-40"/>
              <a:t> </a:t>
            </a:r>
            <a:r>
              <a:rPr sz="1300"/>
              <a:t>담당자마다 처리 방식이 다름</a:t>
            </a:r>
            <a:endParaRPr sz="130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업무 누락과 편차 발생</a:t>
            </a:r>
          </a:p>
        </p:txBody>
      </p:sp>
      <p:pic>
        <p:nvPicPr>
          <p:cNvPr id="110" name="그래픽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99ae88de94f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946" y="1959127"/>
            <a:ext cx="755703" cy="755703"/>
          </a:xfrm>
          <a:prstGeom xmlns:a="http://schemas.openxmlformats.org/drawingml/2006/main" prst="rect">
            <a:avLst/>
          </a:prstGeom>
        </p:spPr>
      </p:pic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394" y="2995774"/>
            <a:ext cx="2985461" cy="820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 spc="-4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수행하려는 업무를 </a:t>
            </a:r>
            <a:r>
              <a:rPr sz="1300"/>
              <a:t>입력하면 </a:t>
            </a:r>
            <a:endParaRPr sz="1300"/>
          </a:p>
          <a:p xmlns:a="http://schemas.openxmlformats.org/drawingml/2006/main"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sz="1300"/>
              <a:t>   </a:t>
            </a:r>
            <a:r>
              <a:rPr sz="1300" b="1"/>
              <a:t>처리 절차와 지침을 쉽게 안내하는</a:t>
            </a:r>
            <a:endParaRPr sz="1300" b="1"/>
          </a:p>
          <a:p xmlns:a="http://schemas.openxmlformats.org/drawingml/2006/main"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sz="1300" b="1"/>
              <a:t>  </a:t>
            </a:r>
            <a:r>
              <a:rPr sz="1300" b="1"/>
              <a:t> </a:t>
            </a:r>
            <a:r>
              <a:rPr sz="1300" b="1"/>
              <a:t>『</a:t>
            </a:r>
            <a:r>
              <a:rPr sz="1300" b="1"/>
              <a:t>업무 지침 네비게이터</a:t>
            </a:r>
            <a:r>
              <a:rPr sz="1300" b="1"/>
              <a:t>』 </a:t>
            </a:r>
            <a:r>
              <a:rPr sz="1300" b="1"/>
              <a:t>구축</a:t>
            </a:r>
            <a:endParaRPr sz="1300"/>
          </a:p>
        </p:txBody>
      </p:sp>
      <p:pic>
        <p:nvPicPr>
          <p:cNvPr id="112" name="그림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896b4ce9f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412" y="1814756"/>
            <a:ext cx="1899424" cy="1068994"/>
          </a:xfrm>
          <a:prstGeom xmlns:a="http://schemas.openxmlformats.org/drawingml/2006/main" prst="rect">
            <a:avLst/>
          </a:prstGeom>
        </p:spPr>
      </p:pic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918" y="283028"/>
            <a:ext cx="109131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(1/4)</a:t>
            </a:r>
            <a:endParaRPr sz="1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80" y="5947700"/>
            <a:ext cx="9420639" cy="735780"/>
          </a:xfrm>
          <a:prstGeom xmlns:a="http://schemas.openxmlformats.org/drawingml/2006/main" prst="rect">
            <a:avLst/>
          </a:prstGeom>
          <a:pattFill xmlns:a="http://schemas.openxmlformats.org/drawingml/2006/main"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10800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주요 적용 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: Document Loading → Text Splitter → Metadata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구성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→ Embedding 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→ 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Rag 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기반 질의응답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</a:t>
            </a:r>
            <a:r>
              <a:rPr sz="1500" b="1" spc="-4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</a:t>
            </a:r>
          </a:p>
        </p:txBody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69" y="6299632"/>
            <a:ext cx="370304" cy="3678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화살표: 오각형 65">
            <a:extLst xmlns:a="http://schemas.openxmlformats.org/drawingml/2006/main">
              <a:ext uri="{FF2B5EF4-FFF2-40B4-BE49-F238E27FC236}">
                <a16:creationId xmlns:a16="http://schemas.microsoft.com/office/drawing/2014/main" id="{795D8661-7EF7-466E-8604-8999B7F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208" y="1184324"/>
            <a:ext cx="2738222" cy="532286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화살표: 오각형 62">
            <a:extLst xmlns:a="http://schemas.openxmlformats.org/drawingml/2006/main">
              <a:ext uri="{FF2B5EF4-FFF2-40B4-BE49-F238E27FC236}">
                <a16:creationId xmlns:a16="http://schemas.microsoft.com/office/drawing/2014/main" id="{D95BD950-2E54-4BA9-84B1-6EDD02F5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912" y="1185998"/>
            <a:ext cx="2402470" cy="532286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48" y="118834"/>
            <a:ext cx="828135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2.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규칙 기반 구현에서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RAG</a:t>
            </a:r>
            <a:r>
              <a:rPr sz="2000" b="1" spc="-10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 적용 시도</a:t>
            </a:r>
            <a:r>
              <a:rPr sz="2000" b="1" spc="-10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활용 고도화</a:t>
            </a:r>
            <a:endParaRPr sz="2000" b="1" i="0" u="none" kern="1200" cap="none" spc="-10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7" y="702152"/>
            <a:ext cx="5271758" cy="39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3891" tIns="73891" rIns="73891" bIns="73891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400" b="1" i="0" u="none" cap="none" spc="-2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개발 과정</a:t>
            </a:r>
            <a:endParaRPr sz="1400" b="1" i="0" u="none" kern="1200" cap="none" spc="-2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" name="모서리가 둥근 직사각형 320">
            <a:extLst xmlns:a="http://schemas.openxmlformats.org/drawingml/2006/main">
              <a:ext uri="{FF2B5EF4-FFF2-40B4-BE49-F238E27FC236}">
                <a16:creationId xmlns:a16="http://schemas.microsoft.com/office/drawing/2014/main" id="{E9BE25AB-1104-4DD5-AC3E-6DDBF8D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399" y="822532"/>
            <a:ext cx="194324" cy="180020"/>
          </a:xfrm>
          <a:prstGeom xmlns:a="http://schemas.openxmlformats.org/drawingml/2006/main" prst="roundRect">
            <a:avLst>
              <a:gd name="adj" fmla="val 136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1" i="0" u="none" kern="1200" cap="none" spc="-20" baseline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latin typeface="HY견고딕"/>
              <a:ea typeface="HY견고딕"/>
              <a:cs typeface="HY견고딕"/>
            </a:endParaRPr>
          </a:p>
        </p:txBody>
      </p:sp>
      <p:pic>
        <p:nvPicPr>
          <p:cNvPr id="86" name="그림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599244cfc44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344" y="827548"/>
            <a:ext cx="185267" cy="175004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918" y="283028"/>
            <a:ext cx="109131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(2/4)</a:t>
            </a:r>
            <a:endParaRPr sz="1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1" name="화살표: 오각형 60">
            <a:extLst xmlns:a="http://schemas.openxmlformats.org/drawingml/2006/main">
              <a:ext uri="{FF2B5EF4-FFF2-40B4-BE49-F238E27FC236}">
                <a16:creationId xmlns:a16="http://schemas.microsoft.com/office/drawing/2014/main" id="{6A3F156D-487C-447A-9CFB-F967BDF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81" y="1185998"/>
            <a:ext cx="2402470" cy="532286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화살표: 오각형 13">
            <a:extLst xmlns:a="http://schemas.openxmlformats.org/drawingml/2006/main">
              <a:ext uri="{FF2B5EF4-FFF2-40B4-BE49-F238E27FC236}">
                <a16:creationId xmlns:a16="http://schemas.microsoft.com/office/drawing/2014/main" id="{7878CD41-4983-42B3-B5AB-6773A45A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37" y="1185998"/>
            <a:ext cx="2663431" cy="532286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296E0DF-4368-4548-8623-418ABF17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34" y="1290559"/>
            <a:ext cx="1366576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/>
              <a:t>문제 정의</a:t>
            </a:r>
          </a:p>
        </p:txBody>
      </p:sp>
      <p:pic>
        <p:nvPicPr>
          <p:cNvPr id="91" name="그래픽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08171ca8b480b">
            <a:extLst>
              <a:ext uri="{96DAC541-7B7A-43D3-8B79-37D633B846F1}">
                <asvg:svgBlip xmlns:asvg="http://schemas.microsoft.com/office/drawing/2016/SVG/main" r:embed="R6d18f39ea27445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315" y="1223541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BDA78A4A-243C-4F1A-B041-F48CE499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765" y="1290559"/>
            <a:ext cx="1366576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/>
              <a:t>시스템 구현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6D53ADC6-6851-42E1-9D2F-5BA596FC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63" y="1290559"/>
            <a:ext cx="153160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</a:rPr>
              <a:t>샘플링 테스트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C85FF9FE-D0AC-430C-BD6D-6040A296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59" y="1290559"/>
            <a:ext cx="153160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</a:rPr>
              <a:t>시스템 검증</a:t>
            </a:r>
          </a:p>
        </p:txBody>
      </p:sp>
      <p:pic>
        <p:nvPicPr>
          <p:cNvPr id="95" name="그래픽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190665ee7410f">
            <a:extLst>
              <a:ext uri="{96DAC541-7B7A-43D3-8B79-37D633B846F1}">
                <asvg:svgBlip xmlns:asvg="http://schemas.microsoft.com/office/drawing/2016/SVG/main" r:embed="R357d778c7d534a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5047" y="1179825"/>
            <a:ext cx="544632" cy="544632"/>
          </a:xfrm>
          <a:prstGeom xmlns:a="http://schemas.openxmlformats.org/drawingml/2006/main" prst="rect">
            <a:avLst/>
          </a:prstGeom>
        </p:spPr>
      </p:pic>
      <p:pic>
        <p:nvPicPr>
          <p:cNvPr id="96" name="그래픽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2c65a46c54dba">
            <a:extLst>
              <a:ext uri="{96DAC541-7B7A-43D3-8B79-37D633B846F1}">
                <asvg:svgBlip xmlns:asvg="http://schemas.microsoft.com/office/drawing/2016/SVG/main" r:embed="R887da1012b7d45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5004" y="1159064"/>
            <a:ext cx="586154" cy="586154"/>
          </a:xfrm>
          <a:prstGeom xmlns:a="http://schemas.openxmlformats.org/drawingml/2006/main" prst="rect">
            <a:avLst/>
          </a:prstGeom>
        </p:spPr>
      </p:pic>
      <p:pic>
        <p:nvPicPr>
          <p:cNvPr id="97" name="그래픽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07908298945e1">
            <a:extLst>
              <a:ext uri="{96DAC541-7B7A-43D3-8B79-37D633B846F1}">
                <asvg:svgBlip xmlns:asvg="http://schemas.microsoft.com/office/drawing/2016/SVG/main" r:embed="Rb1dc24b32fc14f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9450" y="1238854"/>
            <a:ext cx="426575" cy="426575"/>
          </a:xfrm>
          <a:prstGeom xmlns:a="http://schemas.openxmlformats.org/drawingml/2006/main" prst="rect">
            <a:avLst/>
          </a:prstGeom>
        </p:spPr>
      </p:pic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93" y="1848909"/>
            <a:ext cx="2237155" cy="1889088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93" y="1848907"/>
            <a:ext cx="2237155" cy="53228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spc="-1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2487" y="1846300"/>
            <a:ext cx="2237155" cy="1889088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2487" y="1846298"/>
            <a:ext cx="2237155" cy="53228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5881" y="1846300"/>
            <a:ext cx="2237155" cy="1889088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5881" y="1846298"/>
            <a:ext cx="2237155" cy="53228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275" y="1846299"/>
            <a:ext cx="2237155" cy="1889089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275" y="1846298"/>
            <a:ext cx="2237155" cy="53228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④ 정확성 검토</a:t>
            </a: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r>
              <a:rPr sz="1500" b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및 보완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56" y="2439977"/>
            <a:ext cx="2237154" cy="1336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사규</a:t>
            </a:r>
            <a:r>
              <a:rPr sz="1300"/>
              <a:t>, </a:t>
            </a:r>
            <a:r>
              <a:rPr sz="1300"/>
              <a:t>정책</a:t>
            </a:r>
            <a:r>
              <a:rPr sz="1300"/>
              <a:t>, </a:t>
            </a:r>
            <a:r>
              <a:rPr sz="1300"/>
              <a:t>프로세스 등</a:t>
            </a:r>
            <a:r>
              <a:rPr sz="1300"/>
              <a:t> </a:t>
            </a:r>
          </a:p>
          <a:p xmlns:a="http://schemas.openxmlformats.org/drawingml/2006/main"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sz="1300"/>
              <a:t>   </a:t>
            </a:r>
            <a:r>
              <a:rPr sz="1300"/>
              <a:t>회사 문서 </a:t>
            </a:r>
            <a:r>
              <a:rPr sz="1300"/>
              <a:t>3,450</a:t>
            </a:r>
            <a:r>
              <a:rPr sz="1300"/>
              <a:t>여개 </a:t>
            </a:r>
            <a:endParaRPr sz="130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/>
              <a:t>조직 </a:t>
            </a:r>
            <a:r>
              <a:rPr sz="1300"/>
              <a:t>126</a:t>
            </a:r>
            <a:r>
              <a:rPr sz="1300"/>
              <a:t>개 </a:t>
            </a:r>
            <a:r>
              <a:rPr sz="1300"/>
              <a:t>(</a:t>
            </a:r>
            <a:r>
              <a:rPr sz="1300"/>
              <a:t>섹션</a:t>
            </a:r>
            <a:r>
              <a:rPr sz="1300"/>
              <a:t>, </a:t>
            </a:r>
            <a:r>
              <a:rPr sz="1300"/>
              <a:t>팀 제외</a:t>
            </a:r>
            <a:r>
              <a:rPr sz="1300"/>
              <a:t>)</a:t>
            </a:r>
          </a:p>
          <a:p xmlns:a="http://schemas.openxmlformats.org/drawingml/2006/main"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/>
              <a:t>업무 특성</a:t>
            </a:r>
            <a:r>
              <a:rPr sz="1300"/>
              <a:t>, </a:t>
            </a:r>
            <a:r>
              <a:rPr sz="1300"/>
              <a:t>협업빈도 기준 </a:t>
            </a:r>
            <a:endParaRPr sz="1300"/>
          </a:p>
          <a:p xmlns:a="http://schemas.openxmlformats.org/drawingml/2006/main"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sz="1300"/>
              <a:t>   </a:t>
            </a:r>
            <a:r>
              <a:rPr sz="1300"/>
              <a:t>대표부서 선정 </a:t>
            </a:r>
            <a:r>
              <a:rPr sz="1300"/>
              <a:t>(10 </a:t>
            </a:r>
            <a:r>
              <a:rPr sz="1300"/>
              <a:t>→ </a:t>
            </a:r>
            <a:r>
              <a:rPr sz="1300"/>
              <a:t>35</a:t>
            </a:r>
            <a:r>
              <a:rPr sz="1300"/>
              <a:t>개</a:t>
            </a:r>
            <a:r>
              <a:rPr sz="1300"/>
              <a:t>)</a:t>
            </a:r>
            <a:endParaRPr sz="1300"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487" y="2673600"/>
            <a:ext cx="2416771" cy="8848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업무</a:t>
            </a:r>
            <a:r>
              <a:rPr sz="1300"/>
              <a:t> </a:t>
            </a:r>
            <a:r>
              <a:rPr sz="1300"/>
              <a:t>절차</a:t>
            </a:r>
            <a:r>
              <a:rPr sz="1300"/>
              <a:t>, </a:t>
            </a:r>
            <a:r>
              <a:rPr sz="1300"/>
              <a:t>관련 지침</a:t>
            </a:r>
            <a:r>
              <a:rPr sz="1300"/>
              <a:t>, </a:t>
            </a:r>
            <a:r>
              <a:rPr sz="1300"/>
              <a:t>조직</a:t>
            </a:r>
            <a:endParaRPr sz="1300"/>
          </a:p>
          <a:p xmlns:a="http://schemas.openxmlformats.org/drawingml/2006/main"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sz="1300"/>
              <a:t>   </a:t>
            </a:r>
            <a:r>
              <a:rPr sz="1300"/>
              <a:t>정보 수집 </a:t>
            </a:r>
            <a:endParaRPr sz="130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 spc="-100">
                <a:latin typeface="+mn-ea"/>
                <a:ea typeface="+mn-ea"/>
                <a:cs typeface="+mn-ea"/>
              </a:rPr>
              <a:t>P-GPT</a:t>
            </a:r>
            <a:r>
              <a:rPr sz="1300" spc="-100">
                <a:latin typeface="+mn-ea"/>
                <a:ea typeface="+mn-ea"/>
                <a:cs typeface="+mn-ea"/>
              </a:rPr>
              <a:t> 활용 더미 데이터 생성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526" y="2673600"/>
            <a:ext cx="2363750" cy="6206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사용자 중심 대표 질의 검토</a:t>
            </a:r>
            <a:endParaRPr sz="130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 spc="-100">
                <a:latin typeface="+mn-ea"/>
                <a:ea typeface="+mn-ea"/>
                <a:cs typeface="+mn-ea"/>
              </a:rPr>
              <a:t>웹서비스 검색 결과 확인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884" y="2496953"/>
            <a:ext cx="2363750" cy="1213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질의와 결과 반복 검증</a:t>
            </a:r>
            <a:endParaRPr sz="1300"/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/>
              <a:t> </a:t>
            </a:r>
            <a:r>
              <a:rPr sz="1300" spc="-100">
                <a:latin typeface="+mn-ea"/>
                <a:ea typeface="+mn-ea"/>
                <a:cs typeface="+mn-ea"/>
              </a:rPr>
              <a:t>서비스 정확도 개선</a:t>
            </a:r>
            <a:endParaRPr sz="1300" spc="-100">
              <a:latin typeface="+mn-ea"/>
              <a:ea typeface="+mn-ea"/>
              <a:cs typeface="+mn-ea"/>
            </a:endParaRPr>
          </a:p>
          <a:p xmlns:a="http://schemas.openxmlformats.org/drawingml/2006/main"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300" spc="-100">
                <a:latin typeface="+mn-ea"/>
                <a:ea typeface="+mn-ea"/>
                <a:cs typeface="+mn-ea"/>
              </a:rPr>
              <a:t> </a:t>
            </a:r>
            <a:r>
              <a:rPr sz="1300"/>
              <a:t>검색 편중 확인 </a:t>
            </a:r>
            <a:endParaRPr sz="1300"/>
          </a:p>
          <a:p xmlns:a="http://schemas.openxmlformats.org/drawingml/2006/main"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sz="1300"/>
              <a:t> </a:t>
            </a:r>
            <a:r>
              <a:rPr sz="1300"/>
              <a:t>→ 투자</a:t>
            </a:r>
            <a:r>
              <a:rPr sz="1300">
                <a:latin typeface="맑은 고딕"/>
                <a:ea typeface="맑은 고딕"/>
                <a:cs typeface="맑은 고딕"/>
              </a:rPr>
              <a:t>〮</a:t>
            </a:r>
            <a:r>
              <a:rPr sz="1300"/>
              <a:t>회계</a:t>
            </a:r>
            <a:r>
              <a:rPr sz="1300"/>
              <a:t> 9</a:t>
            </a:r>
            <a:r>
              <a:rPr sz="1300"/>
              <a:t>개 부서로 조정</a:t>
            </a:r>
            <a:endParaRPr sz="1300" spc="-100">
              <a:latin typeface="+mn-ea"/>
              <a:ea typeface="+mn-ea"/>
              <a:cs typeface="+mn-ea"/>
            </a:endParaRPr>
          </a:p>
        </p:txBody>
      </p:sp>
      <p:cxnSp>
        <p:nvCxnSpPr>
          <p:cNvPr id="110" name="연결선: 꺾임 10"/>
          <p:cNvCxnSpPr>
            <a:stCxn xmlns:a="http://schemas.openxmlformats.org/drawingml/2006/main" id="28" idx="2"/>
            <a:endCxn xmlns:a="http://schemas.openxmlformats.org/drawingml/2006/main" id="26" idx="2"/>
          </p:cNvCxnSpPr>
          <p:nvPr/>
        </p:nvCxnSpPr>
        <p:spPr>
          <a:xfrm xmlns:a="http://schemas.openxmlformats.org/drawingml/2006/main" rot="5400000">
            <a:off x="7306156" y="2553691"/>
            <a:ext cx="12700" cy="2363394"/>
          </a:xfrm>
          <a:prstGeom xmlns:a="http://schemas.openxmlformats.org/drawingml/2006/main" prst="bentConnector3">
            <a:avLst>
              <a:gd name="adj1" fmla="val 1800000"/>
            </a:avLst>
          </a:prstGeom>
          <a:ln xmlns:a="http://schemas.openxmlformats.org/drawingml/2006/main" w="12700">
            <a:prstDash val="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DA4C810-13B8-4A1C-9DA1-DD82DC11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870" y="3799131"/>
            <a:ext cx="1138908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/>
              <a:t>반복 검증</a:t>
            </a:r>
          </a:p>
        </p:txBody>
      </p:sp>
      <p:graphicFrame>
        <p:nvGraphicFramePr>
          <p:cNvPr id="112" name="표 9"/>
          <p:cNvGraphicFramePr/>
          <p:nvPr/>
        </p:nvGraphicFramePr>
        <p:xfrm>
          <a:off xmlns:a="http://schemas.openxmlformats.org/drawingml/2006/main" x="300351" y="4143587"/>
          <a:ext xmlns:a="http://schemas.openxmlformats.org/drawingml/2006/main" cx="9306079" cy="1567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8543"/>
                <a:gridCol w="4142424"/>
                <a:gridCol w="4255112"/>
              </a:tblGrid>
              <a:tr h="298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(2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1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 서버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(3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2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 서버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LangChain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268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문장의 키워드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Embedding</a:t>
                      </a:r>
                      <a:r>
                        <a:rPr sz="1400"/>
                        <a:t>을 활용한 질문의 의미 기반 검색</a:t>
                      </a:r>
                      <a:endParaRPr sz="1300" b="0" i="0" u="none" spc="-4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사전에 정의한 규칙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질문의 의미와 유사한 관련 지침 검색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 데이터 활용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미리 정해진 로직에 따라 결과 제공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Metadata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를 활용한 부서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〮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〮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규칙에 설정된 추천 결과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검색 근거 바탕으로 주관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·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일단 동작하게 만들기</a:t>
                      </a:r>
                      <a:r>
                        <a:rPr sz="1300" b="0" i="0" u="none" spc="-4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”</a:t>
                      </a:r>
                      <a:endParaRPr sz="1300" b="0" i="0" u="none" spc="-4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 u="none" spc="-4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ea"/>
                        </a:rPr>
                        <a:t>“</a:t>
                      </a:r>
                      <a:r>
                        <a:rPr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ea"/>
                        </a:rPr>
                        <a:t>학습한 </a:t>
                      </a:r>
                      <a:r>
                        <a:rPr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ea"/>
                        </a:rPr>
                        <a:t>RAG </a:t>
                      </a:r>
                      <a:r>
                        <a:rPr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ea"/>
                        </a:rPr>
                        <a:t>개념을 적용한 구조적 고도화</a:t>
                      </a:r>
                      <a:r>
                        <a:rPr sz="1300" b="1" i="0" u="none" spc="-4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ea"/>
                        </a:rPr>
                        <a:t>“</a:t>
                      </a:r>
                      <a:endParaRPr sz="1300" b="1" i="0" u="none" spc="-4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7150" marR="7150" marT="7150" marB="0" anchor="ctr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42" y="5992996"/>
            <a:ext cx="111632" cy="63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44" y="6342024"/>
            <a:ext cx="8161407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투자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공사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재무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회계 업무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(9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개 부서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중심으로 우선 진행</a:t>
            </a:r>
          </a:p>
        </p:txBody>
      </p:sp>
      <p:pic>
        <p:nvPicPr>
          <p:cNvPr id="115" name="그래픽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0d298b76b4c19">
            <a:extLst>
              <a:ext uri="{96DAC541-7B7A-43D3-8B79-37D633B846F1}">
                <asvg:svgBlip xmlns:asvg="http://schemas.microsoft.com/office/drawing/2016/SVG/main" r:embed="R6cc6c9c26bea4a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275" y="6323331"/>
            <a:ext cx="320492" cy="3204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337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48" y="118834"/>
            <a:ext cx="828135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3.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업무 입력부터 협업 요청까지 연결 </a:t>
            </a:r>
            <a:endParaRPr sz="2000" b="1" i="0" u="none" kern="1200" cap="none" spc="-10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918" y="283028"/>
            <a:ext cx="109131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(3/4)</a:t>
            </a:r>
            <a:endParaRPr sz="1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97" name="그림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24036764444a1e"/>
          <a:srcRect xmlns:a="http://schemas.openxmlformats.org/drawingml/2006/main" l="0" t="0" r="0" b="6610"/>
          <a:stretch xmlns:a="http://schemas.openxmlformats.org/drawingml/2006/main"/>
        </p:blipFill>
        <p:spPr>
          <a:xfrm xmlns:a="http://schemas.openxmlformats.org/drawingml/2006/main">
            <a:off x="272416" y="1331647"/>
            <a:ext cx="3984739" cy="2495639"/>
          </a:xfrm>
          <a:prstGeom xmlns:a="http://schemas.openxmlformats.org/drawingml/2006/main" prst="rect">
            <a:avLst/>
          </a:prstGeom>
        </p:spPr>
      </p:pic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55" y="1519494"/>
            <a:ext cx="1657198" cy="4064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1F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3D9B"/>
                </a:solidFill>
                <a:latin typeface="+mn-ea"/>
                <a:ea typeface="+mn-ea"/>
                <a:cs typeface="+mn-ea"/>
              </a:rPr>
              <a:t>1.</a:t>
            </a:r>
            <a:r>
              <a:rPr sz="1500" b="1">
                <a:solidFill>
                  <a:srgbClr val="003D9B"/>
                </a:solidFill>
                <a:latin typeface="+mn-ea"/>
                <a:ea typeface="+mn-ea"/>
                <a:cs typeface="+mn-ea"/>
              </a:rPr>
              <a:t>업무 입력</a:t>
            </a:r>
          </a:p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55" y="2325037"/>
            <a:ext cx="1657198" cy="4064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7C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chemeClr val="bg1"/>
                </a:solidFill>
                <a:latin typeface="+mn-ea"/>
                <a:ea typeface="+mn-ea"/>
                <a:cs typeface="+mn-ea"/>
              </a:rPr>
              <a:t>2.</a:t>
            </a:r>
            <a:r>
              <a:rPr sz="1500" b="1">
                <a:solidFill>
                  <a:schemeClr val="bg1"/>
                </a:solidFill>
                <a:latin typeface="+mn-ea"/>
                <a:ea typeface="+mn-ea"/>
                <a:cs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56" y="3185632"/>
            <a:ext cx="1657197" cy="4064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D9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latin typeface="+mn-ea"/>
                <a:ea typeface="+mn-ea"/>
                <a:cs typeface="+mn-ea"/>
              </a:rPr>
              <a:t>3.</a:t>
            </a:r>
            <a:r>
              <a:rPr sz="1500" b="1">
                <a:latin typeface="+mn-ea"/>
                <a:ea typeface="+mn-ea"/>
                <a:cs typeface="+mn-ea"/>
              </a:rPr>
              <a:t>협업 요청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403" y="1457274"/>
            <a:ext cx="4221088" cy="5309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87313" indent="-87313">
              <a:spcBef>
                <a:spcPts val="300"/>
              </a:spcBef>
              <a:buFont typeface="Wingdings"/>
              <a:buChar char="§"/>
            </a:pP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업무 내용을 자연어로 입력</a:t>
            </a:r>
            <a:endParaRPr sz="1300" spc="-40">
              <a:latin typeface="+mn-ea"/>
              <a:ea typeface="+mn-ea"/>
              <a:cs typeface="+mn-ea"/>
            </a:endParaRPr>
          </a:p>
          <a:p xmlns:a="http://schemas.openxmlformats.org/drawingml/2006/main">
            <a:pPr marL="87313" indent="-87313">
              <a:spcBef>
                <a:spcPts val="300"/>
              </a:spcBef>
              <a:buFont typeface="Wingdings"/>
              <a:buChar char="§"/>
            </a:pP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사업장과 업무 유형 선택 </a:t>
            </a:r>
            <a:r>
              <a:rPr sz="1300" spc="-40">
                <a:latin typeface="+mn-ea"/>
                <a:ea typeface="+mn-ea"/>
                <a:cs typeface="+mn-ea"/>
              </a:rPr>
              <a:t>(</a:t>
            </a:r>
            <a:r>
              <a:rPr sz="1300" spc="-40">
                <a:latin typeface="+mn-ea"/>
                <a:ea typeface="+mn-ea"/>
                <a:cs typeface="+mn-ea"/>
              </a:rPr>
              <a:t>모르는 경우</a:t>
            </a:r>
            <a:r>
              <a:rPr sz="1300" spc="-40">
                <a:latin typeface="+mn-ea"/>
                <a:ea typeface="+mn-ea"/>
                <a:cs typeface="+mn-ea"/>
              </a:rPr>
              <a:t>, </a:t>
            </a:r>
            <a:r>
              <a:rPr sz="1300" spc="-40">
                <a:latin typeface="+mn-ea"/>
                <a:ea typeface="+mn-ea"/>
                <a:cs typeface="+mn-ea"/>
              </a:rPr>
              <a:t>미선택 가능</a:t>
            </a:r>
            <a:r>
              <a:rPr sz="1300" spc="-40">
                <a:latin typeface="+mn-ea"/>
                <a:ea typeface="+mn-ea"/>
                <a:cs typeface="+mn-ea"/>
              </a:rPr>
              <a:t>)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403" y="2262817"/>
            <a:ext cx="4101344" cy="5309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87313" indent="-87313">
              <a:spcBef>
                <a:spcPts val="300"/>
              </a:spcBef>
              <a:buFont typeface="Wingdings"/>
              <a:buChar char="§"/>
            </a:pP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관련 규정</a:t>
            </a:r>
            <a:r>
              <a:rPr sz="1300" spc="-40">
                <a:latin typeface="+mn-ea"/>
                <a:ea typeface="+mn-ea"/>
                <a:cs typeface="+mn-ea"/>
              </a:rPr>
              <a:t>, </a:t>
            </a:r>
            <a:r>
              <a:rPr sz="1300" spc="-40">
                <a:latin typeface="+mn-ea"/>
                <a:ea typeface="+mn-ea"/>
                <a:cs typeface="+mn-ea"/>
              </a:rPr>
              <a:t>지침 해석 →</a:t>
            </a: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업무 프로세스 안내</a:t>
            </a:r>
            <a:endParaRPr sz="1300" spc="-40">
              <a:latin typeface="+mn-ea"/>
              <a:ea typeface="+mn-ea"/>
              <a:cs typeface="+mn-ea"/>
            </a:endParaRPr>
          </a:p>
          <a:p xmlns:a="http://schemas.openxmlformats.org/drawingml/2006/main">
            <a:pPr marL="87313" indent="-87313">
              <a:spcBef>
                <a:spcPts val="300"/>
              </a:spcBef>
              <a:buFont typeface="Wingdings"/>
              <a:buChar char="§"/>
            </a:pP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주관</a:t>
            </a:r>
            <a:r>
              <a:rPr sz="1300" spc="-40">
                <a:latin typeface="+mn-ea"/>
                <a:ea typeface="+mn-ea"/>
                <a:cs typeface="+mn-ea"/>
              </a:rPr>
              <a:t>(</a:t>
            </a:r>
            <a:r>
              <a:rPr sz="1300" spc="-40">
                <a:latin typeface="+mn-ea"/>
                <a:ea typeface="+mn-ea"/>
                <a:cs typeface="+mn-ea"/>
              </a:rPr>
              <a:t>협업</a:t>
            </a:r>
            <a:r>
              <a:rPr sz="1300" spc="-40">
                <a:latin typeface="+mn-ea"/>
                <a:ea typeface="+mn-ea"/>
                <a:cs typeface="+mn-ea"/>
              </a:rPr>
              <a:t>) </a:t>
            </a:r>
            <a:r>
              <a:rPr sz="1300" spc="-40">
                <a:latin typeface="+mn-ea"/>
                <a:ea typeface="+mn-ea"/>
                <a:cs typeface="+mn-ea"/>
              </a:rPr>
              <a:t>부서 세부내용 확인 → 요청부서 선택</a:t>
            </a:r>
            <a:endParaRPr sz="1300" spc="-40">
              <a:latin typeface="+mn-ea"/>
              <a:ea typeface="+mn-ea"/>
              <a:cs typeface="+mn-ea"/>
            </a:endParaR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403" y="3004149"/>
            <a:ext cx="4101344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87313" indent="-87313">
              <a:spcBef>
                <a:spcPts val="300"/>
              </a:spcBef>
              <a:buFont typeface="Wingdings"/>
              <a:buChar char="§"/>
            </a:pP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요청 내용을 바탕으로 협업 메일 초안 작성</a:t>
            </a:r>
            <a:endParaRPr sz="1300" spc="-40">
              <a:latin typeface="+mn-ea"/>
              <a:ea typeface="+mn-ea"/>
              <a:cs typeface="+mn-ea"/>
            </a:endParaRPr>
          </a:p>
          <a:p xmlns:a="http://schemas.openxmlformats.org/drawingml/2006/main">
            <a:pPr marL="87313" indent="-87313">
              <a:spcBef>
                <a:spcPts val="300"/>
              </a:spcBef>
              <a:buFont typeface="Wingdings"/>
              <a:buChar char="§"/>
            </a:pP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사용자가 내용 수정</a:t>
            </a:r>
            <a:r>
              <a:rPr sz="1300" spc="-40">
                <a:latin typeface="+mn-ea"/>
                <a:ea typeface="+mn-ea"/>
                <a:cs typeface="+mn-ea"/>
              </a:rPr>
              <a:t>(</a:t>
            </a:r>
            <a:r>
              <a:rPr sz="1300" spc="-40">
                <a:latin typeface="+mn-ea"/>
                <a:ea typeface="+mn-ea"/>
                <a:cs typeface="+mn-ea"/>
              </a:rPr>
              <a:t>보완</a:t>
            </a:r>
            <a:r>
              <a:rPr sz="1300" spc="-40">
                <a:latin typeface="+mn-ea"/>
                <a:ea typeface="+mn-ea"/>
                <a:cs typeface="+mn-ea"/>
              </a:rPr>
              <a:t>) </a:t>
            </a:r>
            <a:r>
              <a:rPr sz="1300" spc="-40">
                <a:latin typeface="+mn-ea"/>
                <a:ea typeface="+mn-ea"/>
                <a:cs typeface="+mn-ea"/>
              </a:rPr>
              <a:t>후</a:t>
            </a:r>
            <a:r>
              <a:rPr sz="1300" spc="-40">
                <a:latin typeface="+mn-ea"/>
                <a:ea typeface="+mn-ea"/>
                <a:cs typeface="+mn-ea"/>
              </a:rPr>
              <a:t>, </a:t>
            </a:r>
            <a:r>
              <a:rPr sz="1300" spc="-40">
                <a:latin typeface="+mn-ea"/>
                <a:ea typeface="+mn-ea"/>
                <a:cs typeface="+mn-ea"/>
              </a:rPr>
              <a:t>메일 발송</a:t>
            </a:r>
            <a:endParaRPr sz="1300" spc="-40">
              <a:latin typeface="+mn-ea"/>
              <a:ea typeface="+mn-ea"/>
              <a:cs typeface="+mn-ea"/>
            </a:endParaRPr>
          </a:p>
          <a:p xmlns:a="http://schemas.openxmlformats.org/drawingml/2006/main">
            <a:pPr marL="87313" indent="-87313">
              <a:spcBef>
                <a:spcPts val="300"/>
              </a:spcBef>
              <a:buFont typeface="Wingdings"/>
              <a:buChar char="§"/>
            </a:pPr>
            <a:r>
              <a:rPr sz="1300" spc="-40">
                <a:latin typeface="+mn-ea"/>
                <a:ea typeface="+mn-ea"/>
                <a:cs typeface="+mn-ea"/>
              </a:rPr>
              <a:t> </a:t>
            </a:r>
            <a:r>
              <a:rPr sz="1300" spc="-40">
                <a:latin typeface="+mn-ea"/>
                <a:ea typeface="+mn-ea"/>
                <a:cs typeface="+mn-ea"/>
              </a:rPr>
              <a:t>담당 부서의 회신 완료까지 진행 현황 확인</a:t>
            </a:r>
            <a:endParaRPr sz="1300" spc="-40">
              <a:latin typeface="+mn-ea"/>
              <a:ea typeface="+mn-ea"/>
              <a:cs typeface="+mn-ea"/>
            </a:endParaRPr>
          </a:p>
        </p:txBody>
      </p:sp>
      <p:pic>
        <p:nvPicPr>
          <p:cNvPr id="104" name="그래픽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79369692b41d7">
            <a:extLst>
              <a:ext uri="{96DAC541-7B7A-43D3-8B79-37D633B846F1}">
                <asvg:svgBlip xmlns:asvg="http://schemas.microsoft.com/office/drawing/2016/SVG/main" r:embed="R204d7d2f97c449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4904443" y="1816331"/>
            <a:ext cx="362623" cy="624548"/>
          </a:xfrm>
          <a:prstGeom xmlns:a="http://schemas.openxmlformats.org/drawingml/2006/main" prst="rect">
            <a:avLst/>
          </a:prstGeom>
        </p:spPr>
      </p:pic>
      <p:pic>
        <p:nvPicPr>
          <p:cNvPr id="105" name="그래픽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79369692b41d7">
            <a:extLst>
              <a:ext uri="{96DAC541-7B7A-43D3-8B79-37D633B846F1}">
                <asvg:svgBlip xmlns:asvg="http://schemas.microsoft.com/office/drawing/2016/SVG/main" r:embed="R204d7d2f97c449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4904443" y="2643648"/>
            <a:ext cx="362623" cy="624548"/>
          </a:xfrm>
          <a:prstGeom xmlns:a="http://schemas.openxmlformats.org/drawingml/2006/main" prst="rect">
            <a:avLst/>
          </a:prstGeom>
        </p:spPr>
      </p:pic>
      <p:sp>
        <p:nvSpPr>
          <p:cNvPr id="56" name="직선 연결선 55">
            <a:extLst xmlns:a="http://schemas.openxmlformats.org/drawingml/2006/main">
              <a:ext uri="{FF2B5EF4-FFF2-40B4-BE49-F238E27FC236}">
                <a16:creationId xmlns:a16="http://schemas.microsoft.com/office/drawing/2014/main" id="{D5981D82-081F-4AFC-91CE-9782345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95" y="5255938"/>
            <a:ext cx="84541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25" y="4744751"/>
            <a:ext cx="9372887" cy="1666446"/>
          </a:xfrm>
          <a:prstGeom xmlns:a="http://schemas.openxmlformats.org/drawingml/2006/main" prst="roundRect">
            <a:avLst>
              <a:gd name="adj" fmla="val 51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 b="1"/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73" y="4897921"/>
            <a:ext cx="271486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업무 탐색 간소화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04" y="5446512"/>
            <a:ext cx="29598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spc="-40">
                <a:latin typeface="+mn-ea"/>
                <a:ea typeface="+mn-ea"/>
                <a:cs typeface="+mn-ea"/>
              </a:rPr>
              <a:t>자연어로 업무 상황 입력</a:t>
            </a:r>
            <a:endParaRPr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C3D0CDE1-A2C1-4848-84AD-DCE199AB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04" y="5929615"/>
            <a:ext cx="29598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spc="-40"/>
              <a:t>별도 메뉴 서치 부담 감소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68" y="5437035"/>
            <a:ext cx="2788979" cy="301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spc="-60"/>
              <a:t>추천 부서와 업무분장 근거 확인</a:t>
            </a:r>
            <a:endParaRPr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68" y="5929615"/>
            <a:ext cx="2788979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spc="-40"/>
              <a:t>추천 이유와 책임업무 확인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901A7707-AD0F-4F28-9EE6-829FAF62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618" y="5446512"/>
            <a:ext cx="2888062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spc="-40"/>
              <a:t>검토 요청 초안 작성 및 진행현황 확인</a:t>
            </a:r>
            <a:endParaRPr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B7BC22A9-1F26-4FA6-AB17-90A69871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749" y="5929615"/>
            <a:ext cx="29598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spc="-40"/>
              <a:t>사용자가 내용 확인 및 수정 후 요청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026" y="4897921"/>
            <a:ext cx="271486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근거 기반 안내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218" y="4873885"/>
            <a:ext cx="271486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협업 요청 연결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" y="4207467"/>
            <a:ext cx="7886103" cy="39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3891" tIns="73891" rIns="73891" bIns="73891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400" b="1" spc="-2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주요 기능 및 기대효과</a:t>
            </a:r>
            <a:endParaRPr sz="1400" b="0" i="0" u="none" kern="1200" cap="none" spc="-2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9" name="모서리가 둥근 직사각형 320">
            <a:extLst xmlns:a="http://schemas.openxmlformats.org/drawingml/2006/main">
              <a:ext uri="{FF2B5EF4-FFF2-40B4-BE49-F238E27FC236}">
                <a16:creationId xmlns:a16="http://schemas.microsoft.com/office/drawing/2014/main" id="{F1230FAB-EAE2-49BF-94C7-F4C677DC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399" y="4317456"/>
            <a:ext cx="194324" cy="180020"/>
          </a:xfrm>
          <a:prstGeom xmlns:a="http://schemas.openxmlformats.org/drawingml/2006/main" prst="roundRect">
            <a:avLst>
              <a:gd name="adj" fmla="val 136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1" i="0" u="none" kern="1200" cap="none" spc="-20" baseline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latin typeface="HY견고딕"/>
              <a:ea typeface="HY견고딕"/>
              <a:cs typeface="HY견고딕"/>
            </a:endParaRPr>
          </a:p>
        </p:txBody>
      </p:sp>
      <p:pic>
        <p:nvPicPr>
          <p:cNvPr id="119" name="그림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0b6c37c3a4d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344" y="4322472"/>
            <a:ext cx="185267" cy="175004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" y="702152"/>
            <a:ext cx="5271758" cy="39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3891" tIns="73891" rIns="73891" bIns="73891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400" b="1" spc="-2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『</a:t>
            </a:r>
            <a:r>
              <a:rPr sz="1400" b="1" spc="-2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업무 지침 네비게이터</a:t>
            </a:r>
            <a:r>
              <a:rPr sz="1400" b="1" spc="-2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』 </a:t>
            </a:r>
            <a:r>
              <a:rPr sz="1400" b="1" spc="-2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주요 기능 구현 결과</a:t>
            </a:r>
            <a:endParaRPr sz="1400" b="0" i="0" u="none" kern="1200" cap="none" spc="-2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모서리가 둥근 직사각형 320">
            <a:extLst xmlns:a="http://schemas.openxmlformats.org/drawingml/2006/main">
              <a:ext uri="{FF2B5EF4-FFF2-40B4-BE49-F238E27FC236}">
                <a16:creationId xmlns:a16="http://schemas.microsoft.com/office/drawing/2014/main" id="{D5C715E3-3D6B-443B-959D-43AB6A20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399" y="822532"/>
            <a:ext cx="194324" cy="180020"/>
          </a:xfrm>
          <a:prstGeom xmlns:a="http://schemas.openxmlformats.org/drawingml/2006/main" prst="roundRect">
            <a:avLst>
              <a:gd name="adj" fmla="val 136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1" i="0" u="none" kern="1200" cap="none" spc="-20" baseline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latin typeface="HY견고딕"/>
              <a:ea typeface="HY견고딕"/>
              <a:cs typeface="HY견고딕"/>
            </a:endParaRPr>
          </a:p>
        </p:txBody>
      </p:sp>
      <p:pic>
        <p:nvPicPr>
          <p:cNvPr id="122" name="그림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0b6c37c3a4d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344" y="827548"/>
            <a:ext cx="185267" cy="175004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22616815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48" y="118834"/>
            <a:ext cx="828135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4. AI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활용을 위한 첫걸음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000" b="1" i="0" u="none" cap="none" spc="-10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그리고 다음 과제</a:t>
            </a:r>
            <a:endParaRPr sz="2000" b="1" i="0" u="none" kern="1200" cap="none" spc="-10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" y="3764791"/>
            <a:ext cx="9034370" cy="40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3891" tIns="73891" rIns="73891" bIns="73891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400" b="1" spc="-2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향후 계획</a:t>
            </a:r>
            <a:r>
              <a:rPr sz="1400" spc="-20"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400"/>
              <a:t>데이터 보완과 현업 검증을 거쳐 적용 범위를 단계적으로 확대</a:t>
            </a:r>
            <a:endParaRPr sz="1400" b="1" i="0" u="none" kern="1200" cap="none" spc="-20" baseline="0">
              <a:ln>
                <a:noFill/>
              </a:ln>
              <a:solidFill>
                <a:prstClr val="black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" name="모서리가 둥근 직사각형 320">
            <a:extLst xmlns:a="http://schemas.openxmlformats.org/drawingml/2006/main">
              <a:ext uri="{FF2B5EF4-FFF2-40B4-BE49-F238E27FC236}">
                <a16:creationId xmlns:a16="http://schemas.microsoft.com/office/drawing/2014/main" id="{E9BE25AB-1104-4DD5-AC3E-6DDBF8D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399" y="3874780"/>
            <a:ext cx="194324" cy="180020"/>
          </a:xfrm>
          <a:prstGeom xmlns:a="http://schemas.openxmlformats.org/drawingml/2006/main" prst="roundRect">
            <a:avLst>
              <a:gd name="adj" fmla="val 136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1" i="0" u="none" kern="1200" cap="none" spc="-20" baseline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latin typeface="HY견고딕"/>
              <a:ea typeface="HY견고딕"/>
              <a:cs typeface="HY견고딕"/>
            </a:endParaRPr>
          </a:p>
        </p:txBody>
      </p:sp>
      <p:pic>
        <p:nvPicPr>
          <p:cNvPr id="101" name="그림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cba9eedcc42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344" y="3879796"/>
            <a:ext cx="185267" cy="175004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918" y="283028"/>
            <a:ext cx="109131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(4/4)</a:t>
            </a:r>
            <a:endParaRPr sz="1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99" y="6132995"/>
            <a:ext cx="9289581" cy="505290"/>
          </a:xfrm>
          <a:prstGeom xmlns:a="http://schemas.openxmlformats.org/drawingml/2006/main" prst="rect">
            <a:avLst/>
          </a:prstGeom>
          <a:pattFill xmlns:a="http://schemas.openxmlformats.org/drawingml/2006/main"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tx1"/>
                </a:solidFill>
              </a:rPr>
              <a:t>             </a:t>
            </a:r>
            <a:r>
              <a:rPr sz="1500" b="1" spc="-40">
                <a:solidFill>
                  <a:schemeClr val="tx1"/>
                </a:solidFill>
              </a:rPr>
              <a:t>실제 업무 검증을 바탕으로 </a:t>
            </a:r>
            <a:r>
              <a:rPr sz="1500" b="1">
                <a:solidFill>
                  <a:schemeClr val="tx1"/>
                </a:solidFill>
              </a:rPr>
              <a:t>서비스의 완성도를 높이고</a:t>
            </a:r>
            <a:r>
              <a:rPr sz="1500" b="1">
                <a:solidFill>
                  <a:schemeClr val="tx1"/>
                </a:solidFill>
              </a:rPr>
              <a:t>, </a:t>
            </a:r>
            <a:r>
              <a:rPr sz="1500" b="1">
                <a:solidFill>
                  <a:schemeClr val="tx1"/>
                </a:solidFill>
              </a:rPr>
              <a:t>효과가 확인된 업무부터 적용 범위를 확대</a:t>
            </a:r>
            <a:endParaRPr sz="1500" b="1" spc="-40">
              <a:solidFill>
                <a:schemeClr val="tx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1" name="타원 60">
            <a:extLst xmlns:a="http://schemas.openxmlformats.org/drawingml/2006/main">
              <a:ext uri="{FF2B5EF4-FFF2-40B4-BE49-F238E27FC236}">
                <a16:creationId xmlns:a16="http://schemas.microsoft.com/office/drawing/2014/main" id="{FE250C78-B1EC-4C84-B61C-88D384CA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139" y="6169914"/>
            <a:ext cx="417209" cy="431452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화살표: 오른쪽 62">
            <a:extLst xmlns:a="http://schemas.openxmlformats.org/drawingml/2006/main">
              <a:ext uri="{FF2B5EF4-FFF2-40B4-BE49-F238E27FC236}">
                <a16:creationId xmlns:a16="http://schemas.microsoft.com/office/drawing/2014/main" id="{665DD529-1989-4A76-A5A4-B68BE9A4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532" y="6190216"/>
            <a:ext cx="509585" cy="390844"/>
          </a:xfrm>
          <a:prstGeom xmlns:a="http://schemas.openxmlformats.org/drawingml/2006/main" prst="rightArrow">
            <a:avLst/>
          </a:prstGeom>
          <a:pattFill xmlns:a="http://schemas.openxmlformats.org/drawingml/2006/main"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직선 연결선 35">
            <a:extLst xmlns:a="http://schemas.openxmlformats.org/drawingml/2006/main">
              <a:ext uri="{FF2B5EF4-FFF2-40B4-BE49-F238E27FC236}">
                <a16:creationId xmlns:a16="http://schemas.microsoft.com/office/drawing/2014/main" id="{32B8AD56-0BE4-40B3-A060-1EB0706B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1" y="4561113"/>
            <a:ext cx="929960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4D2E093-91DA-45AF-A8B9-B128F972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747" y="4206252"/>
            <a:ext cx="9058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단기 </a:t>
            </a:r>
            <a:r>
              <a:rPr sz="1400" b="1">
                <a:solidFill>
                  <a:schemeClr val="bg1">
                    <a:lumMod val="75000"/>
                  </a:schemeClr>
                </a:solidFill>
              </a:rPr>
              <a:t>ㅣ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EB108567-8770-4855-A685-5EF08269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4120" y="4206252"/>
            <a:ext cx="21518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기반 보완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8BE8EAA6-2743-4783-8EE2-08BE5D46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12776" y="4206252"/>
            <a:ext cx="9058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중기 </a:t>
            </a:r>
            <a:r>
              <a:rPr sz="1400" b="1">
                <a:solidFill>
                  <a:schemeClr val="bg1">
                    <a:lumMod val="75000"/>
                  </a:schemeClr>
                </a:solidFill>
              </a:rPr>
              <a:t>ㅣ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80F45BD0-6251-45BC-866F-75BE3288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4149" y="4206252"/>
            <a:ext cx="21518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현업 검증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2C8B14B0-E30E-4CF7-A7A7-E5B7580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8887" y="4206252"/>
            <a:ext cx="9058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향후 </a:t>
            </a:r>
            <a:r>
              <a:rPr sz="1400" b="1">
                <a:solidFill>
                  <a:schemeClr val="bg1">
                    <a:lumMod val="75000"/>
                  </a:schemeClr>
                </a:solidFill>
              </a:rPr>
              <a:t>ㅣ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7A750E79-6577-482D-9CF9-C671BF81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0260" y="4206252"/>
            <a:ext cx="21518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단계적 확대</a:t>
            </a: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41" y="4710123"/>
            <a:ext cx="29598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>
                <a:latin typeface="+mn-ea"/>
                <a:ea typeface="+mn-ea"/>
                <a:cs typeface="+mn-ea"/>
              </a:rPr>
              <a:t>대표 </a:t>
            </a:r>
            <a:r>
              <a:rPr sz="1300" spc="-40">
                <a:latin typeface="+mn-ea"/>
                <a:ea typeface="+mn-ea"/>
                <a:cs typeface="+mn-ea"/>
              </a:rPr>
              <a:t>3~5</a:t>
            </a:r>
            <a:r>
              <a:rPr sz="1300" spc="-40">
                <a:latin typeface="+mn-ea"/>
                <a:ea typeface="+mn-ea"/>
                <a:cs typeface="+mn-ea"/>
              </a:rPr>
              <a:t>개 </a:t>
            </a:r>
            <a:r>
              <a:rPr sz="1300" spc="-40"/>
              <a:t>부서의 업무 데이터 정비</a:t>
            </a:r>
            <a:endParaRPr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41" y="5142038"/>
            <a:ext cx="29598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/>
              <a:t>명확한 업무부터 핵심 기능 검증</a:t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40" y="5588351"/>
            <a:ext cx="3177515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/>
              <a:t>검색 결과의 정확성과 화면 사용성 개선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140" y="4710123"/>
            <a:ext cx="3631368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60"/>
              <a:t>과제제안자와 실제 담당자 대상 소규모 시범 운영</a:t>
            </a:r>
            <a:endParaRPr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 xmlns:a="http://schemas.openxmlformats.org/drawingml/2006/main"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141" y="5142038"/>
            <a:ext cx="344966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/>
              <a:t>시범 대상 업무의 문서 및 용어 기준 정리</a:t>
            </a: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140" y="5588351"/>
            <a:ext cx="3177515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/>
              <a:t>사용자 의견 반영해 안내 방식 보완</a:t>
            </a: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887" y="4710123"/>
            <a:ext cx="2670365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/>
              <a:t>검증된 업무 중심 적용 범위 확대</a:t>
            </a:r>
            <a:endParaRPr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888" y="5142038"/>
            <a:ext cx="29598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/>
              <a:t>데이터 관리 및 최신화 체계 검토</a:t>
            </a:r>
          </a:p>
        </p:txBody>
      </p:sp>
      <p:sp>
        <p:nvSpPr>
          <p:cNvPr id="95" name="TextBox 94">
            <a:extLst xmlns:a="http://schemas.openxmlformats.org/drawingml/2006/main"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887" y="5588351"/>
            <a:ext cx="3177515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spc="-40"/>
              <a:t>사규 앱</a:t>
            </a:r>
            <a:r>
              <a:rPr sz="1300" spc="-40"/>
              <a:t>(</a:t>
            </a:r>
            <a:r>
              <a:rPr sz="1300" spc="-40"/>
              <a:t>사내 시스템</a:t>
            </a:r>
            <a:r>
              <a:rPr sz="1300" spc="-40"/>
              <a:t>)</a:t>
            </a:r>
            <a:r>
              <a:rPr sz="1300" spc="-40"/>
              <a:t>과 연계 가능성 검토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47" y="1356790"/>
            <a:ext cx="4637654" cy="2207293"/>
          </a:xfrm>
          <a:prstGeom xmlns:a="http://schemas.openxmlformats.org/drawingml/2006/main" prst="roundRect">
            <a:avLst>
              <a:gd name="adj" fmla="val 51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 b="1"/>
          </a:p>
        </p:txBody>
      </p:sp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47" y="1223492"/>
            <a:ext cx="3359671" cy="31438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82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458" y="1356790"/>
            <a:ext cx="4637654" cy="2207293"/>
          </a:xfrm>
          <a:prstGeom xmlns:a="http://schemas.openxmlformats.org/drawingml/2006/main" prst="roundRect">
            <a:avLst>
              <a:gd name="adj" fmla="val 51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 b="1"/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058" y="1223492"/>
            <a:ext cx="3359671" cy="31438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82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/>
              <a:t>앞으로 보완할 점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91" y="1712246"/>
            <a:ext cx="4568663" cy="1618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업무 문제를 </a:t>
            </a:r>
            <a:r>
              <a:rPr sz="1400">
                <a:latin typeface="+mn-ea"/>
                <a:ea typeface="+mn-ea"/>
                <a:cs typeface="+mn-ea"/>
              </a:rPr>
              <a:t>AI </a:t>
            </a:r>
            <a:r>
              <a:rPr sz="1400">
                <a:latin typeface="+mn-ea"/>
                <a:ea typeface="+mn-ea"/>
                <a:cs typeface="+mn-ea"/>
              </a:rPr>
              <a:t>관점에서 다시 바라보는 경험</a:t>
            </a:r>
            <a:endParaRPr sz="1400">
              <a:latin typeface="+mn-ea"/>
              <a:ea typeface="+mn-ea"/>
              <a:cs typeface="+mn-ea"/>
            </a:endParaRPr>
          </a:p>
          <a:p xmlns:a="http://schemas.openxmlformats.org/drawingml/2006/main"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Python </a:t>
            </a:r>
            <a:r>
              <a:rPr sz="1400">
                <a:latin typeface="+mn-ea"/>
                <a:ea typeface="+mn-ea"/>
                <a:cs typeface="+mn-ea"/>
              </a:rPr>
              <a:t>기초</a:t>
            </a:r>
            <a:r>
              <a:rPr sz="1400">
                <a:latin typeface="+mn-ea"/>
                <a:ea typeface="+mn-ea"/>
                <a:cs typeface="+mn-ea"/>
              </a:rPr>
              <a:t>, VS</a:t>
            </a:r>
            <a:r>
              <a:rPr sz="1400"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Code,</a:t>
            </a:r>
            <a:r>
              <a:rPr sz="1400"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GitHub, </a:t>
            </a:r>
            <a:r>
              <a:rPr sz="1400">
                <a:latin typeface="+mn-ea"/>
                <a:ea typeface="+mn-ea"/>
                <a:cs typeface="+mn-ea"/>
              </a:rPr>
              <a:t>랭체인</a:t>
            </a:r>
            <a:r>
              <a:rPr sz="1400">
                <a:latin typeface="+mn-ea"/>
                <a:ea typeface="+mn-ea"/>
                <a:cs typeface="+mn-ea"/>
              </a:rPr>
              <a:t>, RAG </a:t>
            </a:r>
            <a:r>
              <a:rPr sz="1400">
                <a:latin typeface="+mn-ea"/>
                <a:ea typeface="+mn-ea"/>
                <a:cs typeface="+mn-ea"/>
              </a:rPr>
              <a:t>등</a:t>
            </a:r>
            <a:endParaRPr sz="1400">
              <a:latin typeface="+mn-ea"/>
              <a:ea typeface="+mn-ea"/>
              <a:cs typeface="+mn-ea"/>
            </a:endParaRPr>
          </a:p>
          <a:p xmlns:a="http://schemas.openxmlformats.org/drawingml/2006/main"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sz="1400">
                <a:latin typeface="+mn-ea"/>
                <a:ea typeface="+mn-ea"/>
                <a:cs typeface="+mn-ea"/>
              </a:rPr>
              <a:t>  </a:t>
            </a:r>
            <a:r>
              <a:rPr sz="1400">
                <a:latin typeface="+mn-ea"/>
                <a:ea typeface="+mn-ea"/>
                <a:cs typeface="+mn-ea"/>
              </a:rPr>
              <a:t>새로운 개념 학습</a:t>
            </a:r>
            <a:r>
              <a:rPr sz="1400">
                <a:latin typeface="+mn-ea"/>
                <a:ea typeface="+mn-ea"/>
                <a:cs typeface="+mn-ea"/>
              </a:rPr>
              <a:t> </a:t>
            </a:r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학습한 개념을 실제 웹 서비스 구현에 활용</a:t>
            </a:r>
            <a:endParaRPr sz="1400">
              <a:latin typeface="+mn-ea"/>
              <a:ea typeface="+mn-ea"/>
              <a:cs typeface="+mn-ea"/>
            </a:endParaRPr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데이터와 검색 결과를 검증하며 </a:t>
            </a:r>
            <a:r>
              <a:rPr sz="1400">
                <a:latin typeface="+mn-ea"/>
                <a:ea typeface="+mn-ea"/>
                <a:cs typeface="+mn-ea"/>
              </a:rPr>
              <a:t>AI </a:t>
            </a:r>
            <a:r>
              <a:rPr sz="1400">
                <a:latin typeface="+mn-ea"/>
                <a:ea typeface="+mn-ea"/>
                <a:cs typeface="+mn-ea"/>
              </a:rPr>
              <a:t>구동방식 이해</a:t>
            </a:r>
            <a:endParaRPr sz="1400">
              <a:latin typeface="+mn-ea"/>
              <a:ea typeface="+mn-ea"/>
              <a:cs typeface="+mn-ea"/>
            </a:endParaR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46" y="1712246"/>
            <a:ext cx="4568663" cy="1682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회사 지침</a:t>
            </a:r>
            <a:r>
              <a:rPr sz="1400">
                <a:latin typeface="+mn-ea"/>
                <a:ea typeface="+mn-ea"/>
                <a:cs typeface="+mn-ea"/>
              </a:rPr>
              <a:t>, </a:t>
            </a:r>
            <a:r>
              <a:rPr sz="1400">
                <a:latin typeface="+mn-ea"/>
                <a:ea typeface="+mn-ea"/>
                <a:cs typeface="+mn-ea"/>
              </a:rPr>
              <a:t>규정</a:t>
            </a:r>
            <a:r>
              <a:rPr sz="1400">
                <a:latin typeface="+mn-ea"/>
                <a:ea typeface="+mn-ea"/>
                <a:cs typeface="+mn-ea"/>
              </a:rPr>
              <a:t>, </a:t>
            </a:r>
            <a:r>
              <a:rPr sz="1400">
                <a:latin typeface="+mn-ea"/>
                <a:ea typeface="+mn-ea"/>
                <a:cs typeface="+mn-ea"/>
              </a:rPr>
              <a:t>프로세스 데이터 추가 확보</a:t>
            </a:r>
            <a:endParaRPr sz="1400">
              <a:latin typeface="+mn-ea"/>
              <a:ea typeface="+mn-ea"/>
              <a:cs typeface="+mn-ea"/>
            </a:endParaRPr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실제 업무 데이터 기반 검증</a:t>
            </a:r>
            <a:endParaRPr sz="1400">
              <a:latin typeface="+mn-ea"/>
              <a:ea typeface="+mn-ea"/>
              <a:cs typeface="+mn-ea"/>
            </a:endParaRPr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다양한 업무 상황에 대한 추천 정확성 확인</a:t>
            </a:r>
            <a:endParaRPr sz="1400">
              <a:latin typeface="+mn-ea"/>
              <a:ea typeface="+mn-ea"/>
              <a:cs typeface="+mn-ea"/>
            </a:endParaRPr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RAG</a:t>
            </a:r>
            <a:r>
              <a:rPr sz="1400">
                <a:latin typeface="+mn-ea"/>
                <a:ea typeface="+mn-ea"/>
                <a:cs typeface="+mn-ea"/>
              </a:rPr>
              <a:t>와 검색 품질에 대한 추가 학습</a:t>
            </a:r>
            <a:endParaRPr sz="1400">
              <a:latin typeface="+mn-ea"/>
              <a:ea typeface="+mn-ea"/>
              <a:cs typeface="+mn-ea"/>
            </a:endParaRPr>
          </a:p>
          <a:p xmlns:a="http://schemas.openxmlformats.org/drawingml/2006/main"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sz="1400">
                <a:latin typeface="+mn-ea"/>
                <a:ea typeface="+mn-ea"/>
                <a:cs typeface="+mn-ea"/>
              </a:rPr>
              <a:t> </a:t>
            </a:r>
            <a:r>
              <a:rPr sz="1400">
                <a:latin typeface="+mn-ea"/>
                <a:ea typeface="+mn-ea"/>
                <a:cs typeface="+mn-ea"/>
              </a:rPr>
              <a:t>현업 담당자 의견을 반영한 서비스 개선</a:t>
            </a:r>
            <a:endParaRPr sz="1400">
              <a:latin typeface="+mn-ea"/>
              <a:ea typeface="+mn-ea"/>
              <a:cs typeface="+mn-ea"/>
            </a:endParaRP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6" y="702152"/>
            <a:ext cx="5271758" cy="39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3891" tIns="73891" rIns="73891" bIns="73891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1400" b="1">
                <a:latin typeface="+mn-ea"/>
                <a:ea typeface="+mn-ea"/>
                <a:cs typeface="+mn-ea"/>
              </a:rPr>
              <a:t>AI </a:t>
            </a:r>
            <a:r>
              <a:rPr sz="1400" b="1">
                <a:latin typeface="+mn-ea"/>
                <a:ea typeface="+mn-ea"/>
                <a:cs typeface="+mn-ea"/>
              </a:rPr>
              <a:t>개념을 적용해 보며 얻은 경험과 앞으로의 과제</a:t>
            </a:r>
            <a:endParaRPr sz="1400" b="1" i="0" u="none" kern="1200" cap="none" spc="-20" baseline="0">
              <a:ln>
                <a:noFill/>
              </a:ln>
              <a:solidFill>
                <a:prstClr val="black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4" name="모서리가 둥근 직사각형 320">
            <a:extLst xmlns:a="http://schemas.openxmlformats.org/drawingml/2006/main">
              <a:ext uri="{FF2B5EF4-FFF2-40B4-BE49-F238E27FC236}">
                <a16:creationId xmlns:a16="http://schemas.microsoft.com/office/drawing/2014/main" id="{47DF7EC9-150A-4771-90D3-56B6A491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399" y="822532"/>
            <a:ext cx="194324" cy="180020"/>
          </a:xfrm>
          <a:prstGeom xmlns:a="http://schemas.openxmlformats.org/drawingml/2006/main" prst="roundRect">
            <a:avLst>
              <a:gd name="adj" fmla="val 136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1" i="0" u="none" kern="1200" cap="none" spc="-20" baseline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latin typeface="HY견고딕"/>
              <a:ea typeface="HY견고딕"/>
              <a:cs typeface="HY견고딕"/>
            </a:endParaRPr>
          </a:p>
        </p:txBody>
      </p:sp>
      <p:pic>
        <p:nvPicPr>
          <p:cNvPr id="130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cba9eedcc42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344" y="827548"/>
            <a:ext cx="185267" cy="175004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2996038939"/>
      </p:ext>
    </p:extLst>
  </p:cSld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2026-09-11T05:19:26.8200000Z</dcterms:created>
  <dcterms:modified xsi:type="dcterms:W3CDTF">2026-09-11T05:19:26.8200000Z</dcterms:modified>
</coreProperties>
</file>