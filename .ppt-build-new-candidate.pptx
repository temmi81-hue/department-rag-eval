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2603c251ed4311" /><Relationship Type="http://schemas.openxmlformats.org/officeDocument/2006/relationships/extended-properties" Target="/docProps/app.xml" Id="R2f71ba70b02a46e5" /><Relationship Type="http://schemas.openxmlformats.org/officeDocument/2006/relationships/officeDocument" Target="/ppt/presentation.xml" Id="Rbae1d5f76ed541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64a252b1154330"/>
  </p:sldMasterIdLst>
  <p:notesMasterIdLst>
    <p:notesMasterId xmlns:r="http://schemas.openxmlformats.org/officeDocument/2006/relationships" r:id="R059711fe849d4fc8"/>
  </p:notesMasterIdLst>
  <p:sldIdLst>
    <p:sldId xmlns:r="http://schemas.openxmlformats.org/officeDocument/2006/relationships" id="256" r:id="R86b8c916acd743ff"/>
    <p:sldId xmlns:r="http://schemas.openxmlformats.org/officeDocument/2006/relationships" id="257" r:id="Rf15fbabbf83b4113"/>
    <p:sldId xmlns:r="http://schemas.openxmlformats.org/officeDocument/2006/relationships" id="258" r:id="Rc28faf1a82c440c0"/>
    <p:sldId xmlns:r="http://schemas.openxmlformats.org/officeDocument/2006/relationships" id="259" r:id="R441042e7caba4d88"/>
    <p:sldId xmlns:r="http://schemas.openxmlformats.org/officeDocument/2006/relationships" id="260" r:id="Ra491ba33e3f84214"/>
    <p:sldId xmlns:r="http://schemas.openxmlformats.org/officeDocument/2006/relationships" id="261" r:id="R937077fe10c34c5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aee6b46fbc489b" /><Relationship Type="http://schemas.openxmlformats.org/officeDocument/2006/relationships/slideMaster" Target="/ppt/slideMasters/slideMaster1.xml" Id="Reb64a252b1154330" /><Relationship Type="http://schemas.openxmlformats.org/officeDocument/2006/relationships/notesMaster" Target="/ppt/notesMasters/notesMaster1.xml" Id="R059711fe849d4fc8" /><Relationship Type="http://schemas.openxmlformats.org/officeDocument/2006/relationships/presProps" Target="/ppt/presProps.xml" Id="R2a102ac77d4c4f48" /><Relationship Type="http://schemas.openxmlformats.org/officeDocument/2006/relationships/tableStyles" Target="/ppt/tableStyles.xml" Id="Rfab5608c66dc48c5" /><Relationship Type="http://schemas.openxmlformats.org/officeDocument/2006/relationships/slide" Target="/ppt/slides/slide1.xml" Id="R86b8c916acd743ff" /><Relationship Type="http://schemas.openxmlformats.org/officeDocument/2006/relationships/slide" Target="/ppt/slides/slide2.xml" Id="Rf15fbabbf83b4113" /><Relationship Type="http://schemas.openxmlformats.org/officeDocument/2006/relationships/slide" Target="/ppt/slides/slide3.xml" Id="Rc28faf1a82c440c0" /><Relationship Type="http://schemas.openxmlformats.org/officeDocument/2006/relationships/slide" Target="/ppt/slides/slide4.xml" Id="R441042e7caba4d88" /><Relationship Type="http://schemas.openxmlformats.org/officeDocument/2006/relationships/slide" Target="/ppt/slides/slide5.xml" Id="Ra491ba33e3f84214" /><Relationship Type="http://schemas.openxmlformats.org/officeDocument/2006/relationships/slide" Target="/ppt/slides/slide6.xml" Id="R937077fe10c34c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9acd49ba2f4a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993b4ed4014efd" /><Relationship Type="http://schemas.openxmlformats.org/officeDocument/2006/relationships/notesMaster" Target="/ppt/notesMasters/notesMaster1.xml" Id="R3a7b3367e4b04c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777afc85ff49cc" /><Relationship Type="http://schemas.openxmlformats.org/officeDocument/2006/relationships/notesMaster" Target="/ppt/notesMasters/notesMaster1.xml" Id="R0a093f8ac61a4d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44fecdb73b64137" /><Relationship Type="http://schemas.openxmlformats.org/officeDocument/2006/relationships/notesMaster" Target="/ppt/notesMasters/notesMaster1.xml" Id="R0b9d9f2d76cb49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15084d5b044e19" /><Relationship Type="http://schemas.openxmlformats.org/officeDocument/2006/relationships/notesMaster" Target="/ppt/notesMasters/notesMaster1.xml" Id="Raf98bd95cea84f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8f759a860be4668" /><Relationship Type="http://schemas.openxmlformats.org/officeDocument/2006/relationships/notesMaster" Target="/ppt/notesMasters/notesMaster1.xml" Id="R2302abdaff724f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d265a3636f42a4" /><Relationship Type="http://schemas.openxmlformats.org/officeDocument/2006/relationships/notesMaster" Target="/ppt/notesMasters/notesMaster1.xml" Id="Rae9bab68cd9b42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25e3f9b2ad43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3a50b6d4d54b61" /><Relationship Type="http://schemas.openxmlformats.org/officeDocument/2006/relationships/slideLayout" Target="/ppt/slideLayouts/slideLayout1.xml" Id="R93abcc69853c40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abcc69853c40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e6590e0cbc44a5" /><Relationship Type="http://schemas.openxmlformats.org/officeDocument/2006/relationships/image" Target="/ppt/media/image.png" Id="Rd1151e7748a844d5" /><Relationship Type="http://schemas.openxmlformats.org/officeDocument/2006/relationships/notesSlide" Target="/ppt/notesSlides/notesSlide1.xml" Id="Rf236a2e14b3349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beb5180b2948aa" /><Relationship Type="http://schemas.openxmlformats.org/officeDocument/2006/relationships/notesSlide" Target="/ppt/notesSlides/notesSlide2.xml" Id="Rd6d46fbe97ed494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a87e09bcec4eb8" /><Relationship Type="http://schemas.openxmlformats.org/officeDocument/2006/relationships/notesSlide" Target="/ppt/notesSlides/notesSlide3.xml" Id="R2887269807e54ff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4bbe1383734c0a" /><Relationship Type="http://schemas.openxmlformats.org/officeDocument/2006/relationships/notesSlide" Target="/ppt/notesSlides/notesSlide4.xml" Id="Rb0f6d976c2364f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7079678767415e" /><Relationship Type="http://schemas.openxmlformats.org/officeDocument/2006/relationships/image" Target="/ppt/media/image2.png" Id="R318f187d2fe64919" /><Relationship Type="http://schemas.openxmlformats.org/officeDocument/2006/relationships/image" Target="/ppt/media/image3.png" Id="R36b4015e330c4e7d" /><Relationship Type="http://schemas.openxmlformats.org/officeDocument/2006/relationships/image" Target="/ppt/media/image4.png" Id="R5f3a0e0f6307476d" /><Relationship Type="http://schemas.openxmlformats.org/officeDocument/2006/relationships/image" Target="/ppt/media/image5.png" Id="R6a7fec97fe7646d0" /><Relationship Type="http://schemas.openxmlformats.org/officeDocument/2006/relationships/notesSlide" Target="/ppt/notesSlides/notesSlide5.xml" Id="R1b99cdbdefe441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75e9c659ac4a43" /><Relationship Type="http://schemas.openxmlformats.org/officeDocument/2006/relationships/notesSlide" Target="/ppt/notesSlides/notesSlide6.xml" Id="Re3119a2399164c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AF2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151e7748a844d5"/>
          <a:stretch xmlns:a="http://schemas.openxmlformats.org/drawingml/2006/main"/>
        </p:blipFill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4E1F1A-03C2-422C-831C-B8067F75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F71705-7A64-4620-815F-06A08C56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5810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C385C0-01C1-48E0-97CA-66405196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9B7"/>
          </a:solidFill>
          <a:ln xmlns:a="http://schemas.openxmlformats.org/drawingml/2006/main" w="0">
            <a:solidFill>
              <a:srgbClr val="08A9B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86E01C-2373-4AFA-BDB9-1855F002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6296B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06296B"/>
                </a:solidFill>
                <a:latin typeface="Malgun Gothic"/>
                <a:ea typeface="Malgun Gothic"/>
                <a:cs typeface="Malgun Gothic"/>
              </a:rPr>
              <a:t>업무 지침</a:t>
            </a:r>
          </a:p>
          <a:p xmlns:a="http://schemas.openxmlformats.org/drawingml/2006/main">
            <a:pPr>
              <a:defRPr sz="3300" b="1">
                <a:solidFill>
                  <a:srgbClr val="06296B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06296B"/>
                </a:solidFill>
                <a:latin typeface="Malgun Gothic"/>
                <a:ea typeface="Malgun Gothic"/>
                <a:cs typeface="Malgun Gothic"/>
              </a:rPr>
              <a:t>네비게이터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83B05D-E621-4893-8FC2-52AE0923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62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B73D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B73D1"/>
                </a:solidFill>
                <a:latin typeface="Malgun Gothic"/>
                <a:ea typeface="Malgun Gothic"/>
                <a:cs typeface="Malgun Gothic"/>
              </a:rPr>
              <a:t>서버 구현 결과 및 서비스 시연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91696A-E52A-4FC2-98F7-D484C8E3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5748B"/>
                </a:solidFill>
                <a:latin typeface="Malgun Gothic"/>
                <a:ea typeface="Malgun Gothic"/>
                <a:cs typeface="Malgun Gothic"/>
              </a:rPr>
              <a:t>포스코그룹 AI활용전문가 과정 · 2026. 09. 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D2F678-5D49-4FE8-8D0D-8C305C2B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673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5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5748B"/>
                </a:solidFill>
                <a:latin typeface="Malgun Gothic"/>
                <a:ea typeface="Malgun Gothic"/>
                <a:cs typeface="Malgun Gothic"/>
              </a:rPr>
              <a:t>POSCO FUTURE M</a:t>
            </a:r>
          </a:p>
        </p:txBody>
      </p:sp>
    </p:spTree>
    <p:extLst>
      <p:ext uri="{BB962C8B-B14F-4D97-AF65-F5344CB8AC3E}">
        <p14:creationId xmlns:p14="http://schemas.microsoft.com/office/powerpoint/2010/main" val="9061820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55A27A-348B-4B3D-A9CA-74D40F3F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9B7"/>
          </a:solidFill>
          <a:ln xmlns:a="http://schemas.openxmlformats.org/drawingml/2006/main" w="0">
            <a:solidFill>
              <a:srgbClr val="08A9B7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2E347-75C4-44A9-953E-3BCA5688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무엇을 구현했는가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D56D90-385C-4D30-A8FD-AA183D85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8B"/>
                </a:solidFill>
                <a:latin typeface="Malgun Gothic"/>
                <a:ea typeface="Malgun Gothic"/>
                <a:cs typeface="Malgun Gothic"/>
              </a:rPr>
              <a:t>자연어 업무 상황을 입력하면 지침 근거와 협업 요청까지 연결하는 웹서비스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546A80-0B03-4E69-9851-E4E81216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61950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5748B"/>
                </a:solidFill>
                <a:latin typeface="Malgun Gothic"/>
                <a:ea typeface="Malgun Gothic"/>
                <a:cs typeface="Malgun Gothic"/>
              </a:rPr>
              <a:t>02 /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82B007-D9E1-4C2C-9406-616904DF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6296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6296B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124131-5BC6-4FA9-87DB-959EF1B3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A9B7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A9B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CD9223-E713-4CED-801C-0100DD07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3812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6296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6296B"/>
                </a:solidFill>
                <a:latin typeface="Malgun Gothic"/>
                <a:ea typeface="Malgun Gothic"/>
                <a:cs typeface="Malgun Gothic"/>
              </a:rPr>
              <a:t>문제와 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C20E89-F9E8-4E6D-A7D7-5BF1C618C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69557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5748B"/>
                </a:solidFill>
                <a:latin typeface="Malgun Gothic"/>
                <a:ea typeface="Malgun Gothic"/>
                <a:cs typeface="Malgun Gothic"/>
              </a:rPr>
              <a:t>업무 지침 탐색의 편차를 줄이고 필요한 부서를 빠르게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7C6A14-92BC-44B7-A116-B0FAF90F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A9B7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A9B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98E3DE-036C-401F-B68F-9A748FE7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333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6296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6296B"/>
                </a:solidFill>
                <a:latin typeface="Malgun Gothic"/>
                <a:ea typeface="Malgun Gothic"/>
                <a:cs typeface="Malgun Gothic"/>
              </a:rPr>
              <a:t>서버 구조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43289B-DCDA-419A-8708-90D84980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64807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5748B"/>
                </a:solidFill>
                <a:latin typeface="Malgun Gothic"/>
                <a:ea typeface="Malgun Gothic"/>
                <a:cs typeface="Malgun Gothic"/>
              </a:rPr>
              <a:t>DOCX 문서를 RAG 검색 파이프라인으로 연결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711F06-29D6-4FDF-BA6C-AE4F0522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A9B7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A9B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BDCE2C-26AF-4F81-9870-666B0C4E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2862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6296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6296B"/>
                </a:solidFill>
                <a:latin typeface="Malgun Gothic"/>
                <a:ea typeface="Malgun Gothic"/>
                <a:cs typeface="Malgun Gothic"/>
              </a:rPr>
              <a:t>서비스 흐름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270C25-5276-48F6-853D-22D976B9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60057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5748B"/>
                </a:solidFill>
                <a:latin typeface="Malgun Gothic"/>
                <a:ea typeface="Malgun Gothic"/>
                <a:cs typeface="Malgun Gothic"/>
              </a:rPr>
              <a:t>질문 입력부터 협업 요청과 상태 추적까지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0CAA3E-F540-4299-A925-1097E0FC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A9B7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A9B7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74B59E-8642-4BE8-8353-AA91C5EC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3812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6296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6296B"/>
                </a:solidFill>
                <a:latin typeface="Malgun Gothic"/>
                <a:ea typeface="Malgun Gothic"/>
                <a:cs typeface="Malgun Gothic"/>
              </a:rPr>
              <a:t>구현 결과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048C3E-C8AA-49C8-B2C8-2C83E71B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9557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5748B"/>
                </a:solidFill>
                <a:latin typeface="Malgun Gothic"/>
                <a:ea typeface="Malgun Gothic"/>
                <a:cs typeface="Malgun Gothic"/>
              </a:rPr>
              <a:t>실제 화면과 검증 결과로 동작을 확인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407EE3-ED61-4AE9-AC1B-F17FBB71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337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A9B7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A9B7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0BB8E1-8F14-4111-A29F-7B4ADA21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33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6296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6296B"/>
                </a:solidFill>
                <a:latin typeface="Malgun Gothic"/>
                <a:ea typeface="Malgun Gothic"/>
                <a:cs typeface="Malgun Gothic"/>
              </a:rPr>
              <a:t>다음 단계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566204-948E-4C43-B204-FC97D7DD0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64807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5748B"/>
                </a:solidFill>
                <a:latin typeface="Malgun Gothic"/>
                <a:ea typeface="Malgun Gothic"/>
                <a:cs typeface="Malgun Gothic"/>
              </a:rPr>
              <a:t>현업 데이터와 품질 검증을 중심으로 확대</a:t>
            </a:r>
          </a:p>
        </p:txBody>
      </p:sp>
    </p:spTree>
    <p:extLst>
      <p:ext uri="{BB962C8B-B14F-4D97-AF65-F5344CB8AC3E}">
        <p14:creationId xmlns:p14="http://schemas.microsoft.com/office/powerpoint/2010/main" val="19720237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6AA1B7-EA41-41EC-9B1E-7FB8F7346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9B7"/>
          </a:solidFill>
          <a:ln xmlns:a="http://schemas.openxmlformats.org/drawingml/2006/main" w="0">
            <a:solidFill>
              <a:srgbClr val="08A9B7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DE2380-D904-405A-B944-7DB460C1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업무 지침 탐색을 서비스로 바꿨습니다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9785EA-1E94-474F-BA76-5796AC86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8B"/>
                </a:solidFill>
                <a:latin typeface="Malgun Gothic"/>
                <a:ea typeface="Malgun Gothic"/>
                <a:cs typeface="Malgun Gothic"/>
              </a:rPr>
              <a:t>담당자의 경험과 문서 검색에 의존하던 흐름을 질문 중심으로 단순화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942A83-BD20-49CF-88BC-C2173F6D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61950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5748B"/>
                </a:solidFill>
                <a:latin typeface="Malgun Gothic"/>
                <a:ea typeface="Malgun Gothic"/>
                <a:cs typeface="Malgun Gothic"/>
              </a:rPr>
              <a:t>03 /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554E23-964C-4720-A4D5-7B2454A1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857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2014F2-7D21-41DC-93AC-6D60C458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4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F4A9A2-1B6E-4619-87F3-83D40F6F4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문제 상황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498492-016D-4F86-A364-7ED940A6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2428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04A4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F04A4A"/>
                </a:solidFill>
                <a:latin typeface="Malgun Gothic"/>
                <a:ea typeface="Malgun Gothic"/>
                <a:cs typeface="Malgun Gothic"/>
              </a:rPr>
              <a:t>탐색 시간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0500C7-0663-419D-9848-729D7346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242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5748B"/>
                </a:solidFill>
                <a:latin typeface="Malgun Gothic"/>
                <a:ea typeface="Malgun Gothic"/>
                <a:cs typeface="Malgun Gothic"/>
              </a:rPr>
              <a:t>규정과 업무분장 문서를 찾아도</a:t>
            </a:r>
          </a:p>
          <a:p xmlns:a="http://schemas.openxmlformats.org/drawingml/2006/main">
            <a:pPr>
              <a:defRPr sz="1125" b="0">
                <a:solidFill>
                  <a:srgbClr val="65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5748B"/>
                </a:solidFill>
                <a:latin typeface="Malgun Gothic"/>
                <a:ea typeface="Malgun Gothic"/>
                <a:cs typeface="Malgun Gothic"/>
              </a:rPr>
              <a:t>어떤 부서와 협의할지 판단이 필요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C9F0DF-EB3C-4CB3-9FF7-44C41674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09750"/>
            <a:ext cx="2857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687A8B-0B46-421E-950B-D814328E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0975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3D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D35549-8C23-4D20-958F-A64AB13C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000250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구현 목표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B4588E-0189-43DC-8884-28BD8FCD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286000"/>
            <a:ext cx="2428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B73D1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B73D1"/>
                </a:solidFill>
                <a:latin typeface="Malgun Gothic"/>
                <a:ea typeface="Malgun Gothic"/>
                <a:cs typeface="Malgun Gothic"/>
              </a:rPr>
              <a:t>질문 한 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54D5D2-E32C-4CDB-BC2B-E8EE36E0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762250"/>
            <a:ext cx="242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5748B"/>
                </a:solidFill>
                <a:latin typeface="Malgun Gothic"/>
                <a:ea typeface="Malgun Gothic"/>
                <a:cs typeface="Malgun Gothic"/>
              </a:rPr>
              <a:t>업무 상황을 자연어로 입력하면</a:t>
            </a:r>
          </a:p>
          <a:p xmlns:a="http://schemas.openxmlformats.org/drawingml/2006/main">
            <a:pPr>
              <a:defRPr sz="1125" b="0">
                <a:solidFill>
                  <a:srgbClr val="65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5748B"/>
                </a:solidFill>
                <a:latin typeface="Malgun Gothic"/>
                <a:ea typeface="Malgun Gothic"/>
                <a:cs typeface="Malgun Gothic"/>
              </a:rPr>
              <a:t>관련 절차와 담당 근거를 함께 제시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DF3799-646F-486B-AD80-0DC1CD10A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14500"/>
            <a:ext cx="43434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06296B"/>
          </a:solidFill>
          <a:ln xmlns:a="http://schemas.openxmlformats.org/drawingml/2006/main" w="9525">
            <a:solidFill>
              <a:srgbClr val="06296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248414-FDFA-4BE0-BF16-CBDFA8AD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383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서비스가 제공하는 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F79975-8ED3-4FF2-8563-BD675BCA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717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DEE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BDEEFF"/>
                </a:solidFill>
                <a:latin typeface="Malgun Gothic"/>
                <a:ea typeface="Malgun Gothic"/>
                <a:cs typeface="Malgun Gothic"/>
              </a:rPr>
              <a:t>5억 원 이상 설비 투자 검토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1C547E-E744-4B8A-8745-D977D836D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7180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투자관리그룹을 주관 부서로 추천하고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관련 지침과 협업 부서를 근거와 함께 안내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0ED8C6-C7B2-4A9B-A2F4-04C0D510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905250"/>
            <a:ext cx="16192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7448F"/>
          </a:solidFill>
          <a:ln xmlns:a="http://schemas.openxmlformats.org/drawingml/2006/main" w="9525">
            <a:solidFill>
              <a:srgbClr val="17448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47C9A9-8777-4094-AE93-2931D4F6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905250"/>
            <a:ext cx="16192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7448F"/>
          </a:solidFill>
          <a:ln xmlns:a="http://schemas.openxmlformats.org/drawingml/2006/main" w="9525">
            <a:solidFill>
              <a:srgbClr val="17448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3724B6-D44D-4746-8127-215E3847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0386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근거 확인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8D0F83-F136-4642-BCE6-363C4293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386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요청 연결</a:t>
            </a:r>
          </a:p>
        </p:txBody>
      </p:sp>
    </p:spTree>
    <p:extLst>
      <p:ext uri="{BB962C8B-B14F-4D97-AF65-F5344CB8AC3E}">
        <p14:creationId xmlns:p14="http://schemas.microsoft.com/office/powerpoint/2010/main" val="19341850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B7E553-9FF3-4B53-B082-E81DBCC7D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9B7"/>
          </a:solidFill>
          <a:ln xmlns:a="http://schemas.openxmlformats.org/drawingml/2006/main" w="0">
            <a:solidFill>
              <a:srgbClr val="08A9B7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C6DAAF-35EF-4B1D-8BEF-40E286CD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서버는 문서에서 답변까지 한 흐름으로 처리합니다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0AB3F9-0B21-4C86-9A34-F16AC77D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8B"/>
                </a:solidFill>
                <a:latin typeface="Malgun Gothic"/>
                <a:ea typeface="Malgun Gothic"/>
                <a:cs typeface="Malgun Gothic"/>
              </a:rPr>
              <a:t>Next.js API와 LangChain RAG를 중심으로 문서 로딩, 검색, 응답 생성을 연결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10F935-CA9E-432B-BA76-7D5D7650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61950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5748B"/>
                </a:solidFill>
                <a:latin typeface="Malgun Gothic"/>
                <a:ea typeface="Malgun Gothic"/>
                <a:cs typeface="Malgun Gothic"/>
              </a:rPr>
              <a:t>04 /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2C8723-DCB5-4B74-9F25-C2982B08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809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3B449F-1A69-443C-A2F8-466080C3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A9B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A9B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2DFB0C-ABE0-4EA2-A122-C16180CB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629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6296B"/>
                </a:solidFill>
                <a:latin typeface="Malgun Gothic"/>
                <a:ea typeface="Malgun Gothic"/>
                <a:cs typeface="Malgun Gothic"/>
              </a:rPr>
              <a:t>DOCX Loader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40714D-7366-42A1-8545-01BF9417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95625"/>
            <a:ext cx="1476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5748B"/>
                </a:solidFill>
                <a:latin typeface="Malgun Gothic"/>
                <a:ea typeface="Malgun Gothic"/>
                <a:cs typeface="Malgun Gothic"/>
              </a:rPr>
              <a:t>사내 지침 문서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122AAE-4E96-42E6-AFA4-257A904F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72415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A9B7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A9B7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1EC978-17B3-4034-A6D8-7B36D92F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095500"/>
            <a:ext cx="1809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C0831D-1A2D-49D9-85D4-0B604E1D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3241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A9B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A9B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7ECE8A-8C0B-42B5-807F-DEE2C0EF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686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629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6296B"/>
                </a:solidFill>
                <a:latin typeface="Malgun Gothic"/>
                <a:ea typeface="Malgun Gothic"/>
                <a:cs typeface="Malgun Gothic"/>
              </a:rPr>
              <a:t>Text Splitter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53EEB0-6F96-466B-AC14-D88034A4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095625"/>
            <a:ext cx="1476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5748B"/>
                </a:solidFill>
                <a:latin typeface="Malgun Gothic"/>
                <a:ea typeface="Malgun Gothic"/>
                <a:cs typeface="Malgun Gothic"/>
              </a:rPr>
              <a:t>문서 chunk 분할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7A938A-E713-44DF-A7ED-4CA1DC2E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72415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A9B7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A9B7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BED706-8496-484A-8FCE-1C7F708A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095500"/>
            <a:ext cx="1809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0DB48C-2C1A-41E0-AE94-1D036BBC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241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A9B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A9B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9028FB-FC17-493B-A290-4A37BE98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86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629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6296B"/>
                </a:solidFill>
                <a:latin typeface="Malgun Gothic"/>
                <a:ea typeface="Malgun Gothic"/>
                <a:cs typeface="Malgun Gothic"/>
              </a:rPr>
              <a:t>Embedding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8358BA-A08C-4581-A24C-A58A4F80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95625"/>
            <a:ext cx="1476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5748B"/>
                </a:solidFill>
                <a:latin typeface="Malgun Gothic"/>
                <a:ea typeface="Malgun Gothic"/>
                <a:cs typeface="Malgun Gothic"/>
              </a:rPr>
              <a:t>의미 벡터 생성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83426E-9A20-4142-A656-405B2632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2415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A9B7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A9B7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223FB8-271B-4617-B88E-7F6E76A4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095500"/>
            <a:ext cx="1809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21BAEC-FCE9-4CCC-800B-32D9EDBD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3241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A9B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A9B7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AF9D52-F529-4EA9-BB09-794CAFAF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686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629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6296B"/>
                </a:solidFill>
                <a:latin typeface="Malgun Gothic"/>
                <a:ea typeface="Malgun Gothic"/>
                <a:cs typeface="Malgun Gothic"/>
              </a:rPr>
              <a:t>Retriever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723E9E-2568-4DF1-A7CB-1F1A489E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095625"/>
            <a:ext cx="1476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5748B"/>
                </a:solidFill>
                <a:latin typeface="Malgun Gothic"/>
                <a:ea typeface="Malgun Gothic"/>
                <a:cs typeface="Malgun Gothic"/>
              </a:rPr>
              <a:t>관련 근거 검색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89D541-EE36-4446-A8CB-B1CE77CC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72415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A9B7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A9B7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8AA774-7B4F-4755-B413-31882788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95500"/>
            <a:ext cx="1809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08A9B7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755625-DEE4-41EE-B801-8B83505C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3241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A9B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A9B7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9FB1C6-96E3-4703-B9CF-B140AC19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686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629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6296B"/>
                </a:solidFill>
                <a:latin typeface="Malgun Gothic"/>
                <a:ea typeface="Malgun Gothic"/>
                <a:cs typeface="Malgun Gothic"/>
              </a:rPr>
              <a:t>LLM JSON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15E470-76C4-4A05-A171-E34D65F82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095625"/>
            <a:ext cx="1476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5748B"/>
                </a:solidFill>
                <a:latin typeface="Malgun Gothic"/>
                <a:ea typeface="Malgun Gothic"/>
                <a:cs typeface="Malgun Gothic"/>
              </a:rPr>
              <a:t>부서·절차·근거 응답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F644FF-AA87-4D5B-BCF1-D2FA63CD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10572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C5D8F3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CF968B-25EB-4363-9B5B-AA351090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73D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B73D1"/>
                </a:solidFill>
                <a:latin typeface="Malgun Gothic"/>
                <a:ea typeface="Malgun Gothic"/>
                <a:cs typeface="Malgun Gothic"/>
              </a:rPr>
              <a:t>응답 원칙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2DC19F-5CB4-4F67-B3F2-62AC781C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43425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4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검색된 문서와 metadata를 근거로 답변하며, 근거가 부족하면 추가 확인이 필요하다고 안내</a:t>
            </a:r>
          </a:p>
        </p:txBody>
      </p:sp>
    </p:spTree>
    <p:extLst>
      <p:ext uri="{BB962C8B-B14F-4D97-AF65-F5344CB8AC3E}">
        <p14:creationId xmlns:p14="http://schemas.microsoft.com/office/powerpoint/2010/main" val="20784647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738747-CD14-4089-8965-FA2B5FC3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9B7"/>
          </a:solidFill>
          <a:ln xmlns:a="http://schemas.openxmlformats.org/drawingml/2006/main" w="0">
            <a:solidFill>
              <a:srgbClr val="08A9B7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411CB9-D283-46B8-BA2D-4540716F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질문 입력부터 협업 요청까지 연결됩니다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3D9AEE-EAA5-4BAA-94BE-21907046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8B"/>
                </a:solidFill>
                <a:latin typeface="Malgun Gothic"/>
                <a:ea typeface="Malgun Gothic"/>
                <a:cs typeface="Malgun Gothic"/>
              </a:rPr>
              <a:t>사용자는 업무 상황을 입력하고 추천 결과를 확인한 뒤 메일 요청을 보냅니다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5A5F1C-FE7F-490F-91AA-C6B7C5F4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61950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5748B"/>
                </a:solidFill>
                <a:latin typeface="Malgun Gothic"/>
                <a:ea typeface="Malgun Gothic"/>
                <a:cs typeface="Malgun Gothic"/>
              </a:rPr>
              <a:t>05 /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16702B-7630-40EE-82E4-2DE53835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A9B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8A9B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FC9C4D-8B4D-4D1B-AC15-4FAF13D6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954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6296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6296B"/>
                </a:solidFill>
                <a:latin typeface="Malgun Gothic"/>
                <a:ea typeface="Malgun Gothic"/>
                <a:cs typeface="Malgun Gothic"/>
              </a:rPr>
              <a:t>입력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8f187d2fe64919"/>
          <a:stretch xmlns:a="http://schemas.openxmlformats.org/drawingml/2006/main"/>
        </p:blipFill>
        <p:spPr>
          <a:xfrm xmlns:a="http://schemas.openxmlformats.org/drawingml/2006/main">
            <a:off x="609600" y="2095500"/>
            <a:ext cx="2381250" cy="2571750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B6B1B0-9FEC-4A14-881A-C518D17E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432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A9B7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A9B7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26D7A0-6D33-48AF-B907-75529C21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69545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A9B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8A9B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26F9DD-D712-40B1-98DC-740682B4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6954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6296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6296B"/>
                </a:solidFill>
                <a:latin typeface="Malgun Gothic"/>
                <a:ea typeface="Malgun Gothic"/>
                <a:cs typeface="Malgun Gothic"/>
              </a:rPr>
              <a:t>결과 확인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b4015e330c4e7d"/>
          <a:stretch xmlns:a="http://schemas.openxmlformats.org/drawingml/2006/main"/>
        </p:blipFill>
        <p:spPr>
          <a:xfrm xmlns:a="http://schemas.openxmlformats.org/drawingml/2006/main">
            <a:off x="3371850" y="2095500"/>
            <a:ext cx="2381250" cy="2571750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4E3288-586A-4727-9BA4-AE99BE9E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1432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A9B7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A9B7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91F525-8190-4BB9-9A61-256E8D1C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9545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A9B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8A9B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724A02-C721-42ED-AA36-26EA65F0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6954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6296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6296B"/>
                </a:solidFill>
                <a:latin typeface="Malgun Gothic"/>
                <a:ea typeface="Malgun Gothic"/>
                <a:cs typeface="Malgun Gothic"/>
              </a:rPr>
              <a:t>근거 확인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3a0e0f6307476d"/>
          <a:stretch xmlns:a="http://schemas.openxmlformats.org/drawingml/2006/main"/>
        </p:blipFill>
        <p:spPr>
          <a:xfrm xmlns:a="http://schemas.openxmlformats.org/drawingml/2006/main">
            <a:off x="6134100" y="2095500"/>
            <a:ext cx="2381250" cy="2571750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0E23E2-8112-462C-A269-E71F6A10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432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A9B7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A9B7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C416C7-9D94-4001-9C2B-1A330052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69545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A9B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8A9B7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E49DA3-12F4-4BB4-B495-5C02CE3C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16954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6296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6296B"/>
                </a:solidFill>
                <a:latin typeface="Malgun Gothic"/>
                <a:ea typeface="Malgun Gothic"/>
                <a:cs typeface="Malgun Gothic"/>
              </a:rPr>
              <a:t>요청 완료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7fec97fe7646d0"/>
          <a:stretch xmlns:a="http://schemas.openxmlformats.org/drawingml/2006/main"/>
        </p:blipFill>
        <p:spPr>
          <a:xfrm xmlns:a="http://schemas.openxmlformats.org/drawingml/2006/main">
            <a:off x="8896350" y="2095500"/>
            <a:ext cx="2381250" cy="2571750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60B5C7-3BE6-41E3-9C14-8EBCBAF7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5748B"/>
                </a:solidFill>
                <a:latin typeface="Malgun Gothic"/>
                <a:ea typeface="Malgun Gothic"/>
                <a:cs typeface="Malgun Gothic"/>
              </a:rPr>
              <a:t>실제 시연 영상은 4단계 흐름을 약 71초로 녹화해 함께 제공합니다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79A5CB-18D4-4B7E-A587-3C4807A3D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219700"/>
            <a:ext cx="2000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6296B"/>
          </a:solidFill>
          <a:ln xmlns:a="http://schemas.openxmlformats.org/drawingml/2006/main" w="9525">
            <a:solidFill>
              <a:srgbClr val="06296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282AE7-3A5C-46BD-858B-FF2BFBFC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32447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VIDEO · MP4</a:t>
            </a:r>
          </a:p>
        </p:txBody>
      </p:sp>
    </p:spTree>
    <p:extLst>
      <p:ext uri="{BB962C8B-B14F-4D97-AF65-F5344CB8AC3E}">
        <p14:creationId xmlns:p14="http://schemas.microsoft.com/office/powerpoint/2010/main" val="9485533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7D8E12-689D-4C7F-A3A1-9B6B03B1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9B7"/>
          </a:solidFill>
          <a:ln xmlns:a="http://schemas.openxmlformats.org/drawingml/2006/main" w="0">
            <a:solidFill>
              <a:srgbClr val="08A9B7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D9F44E-7284-4C6F-B525-154FFD7B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구현 결과와 다음 검증 과제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DF637C-429D-4704-9F94-A0B18579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8B"/>
                </a:solidFill>
                <a:latin typeface="Malgun Gothic"/>
                <a:ea typeface="Malgun Gothic"/>
                <a:cs typeface="Malgun Gothic"/>
              </a:rPr>
              <a:t>이번 결과는 서버 동작을 확인할 수 있는 파일럿이며, 다음 단계는 현업 데이터 검증입니다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617286-3AA1-4623-A7BD-30DCD2EE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61950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5748B"/>
                </a:solidFill>
                <a:latin typeface="Malgun Gothic"/>
                <a:ea typeface="Malgun Gothic"/>
                <a:cs typeface="Malgun Gothic"/>
              </a:rPr>
              <a:t>06 /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5D9191-BF5E-4CA3-946C-ACA24F307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CEB56A-CEE8-4CEB-AC2F-CAF1D274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9B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F12246-050F-4E45-9A6A-35073EFC1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검색 경험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1A861D-9963-43FE-BD78-8B65A29C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A9B7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08A9B7"/>
                </a:solidFill>
                <a:latin typeface="Malgun Gothic"/>
                <a:ea typeface="Malgun Gothic"/>
                <a:cs typeface="Malgun Gothic"/>
              </a:rPr>
              <a:t>RAG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7D55F0-11D3-4957-9517-B346FF60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5748B"/>
                </a:solidFill>
                <a:latin typeface="Malgun Gothic"/>
                <a:ea typeface="Malgun Gothic"/>
                <a:cs typeface="Malgun Gothic"/>
              </a:rPr>
              <a:t>질문 입력 → 추천 부서</a:t>
            </a:r>
          </a:p>
          <a:p xmlns:a="http://schemas.openxmlformats.org/drawingml/2006/main">
            <a:pPr>
              <a:defRPr sz="1125" b="0">
                <a:solidFill>
                  <a:srgbClr val="65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5748B"/>
                </a:solidFill>
                <a:latin typeface="Malgun Gothic"/>
                <a:ea typeface="Malgun Gothic"/>
                <a:cs typeface="Malgun Gothic"/>
              </a:rPr>
              <a:t>→ 근거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2032E8-B899-49D4-B7B2-4094FC2E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09750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4C5CCF-D690-4464-914B-DDFC6728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0975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3D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F5E0D0-3A55-46F7-A06D-098016BC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0025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업무 연결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EB8C3C-94D7-4F45-BD98-28CD3DD3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8600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B73D1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B73D1"/>
                </a:solidFill>
                <a:latin typeface="Malgun Gothic"/>
                <a:ea typeface="Malgun Gothic"/>
                <a:cs typeface="Malgun Gothic"/>
              </a:rPr>
              <a:t>WORKFLOW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ACAB61-63AC-45A0-A87E-3CF9430E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762250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5748B"/>
                </a:solidFill>
                <a:latin typeface="Malgun Gothic"/>
                <a:ea typeface="Malgun Gothic"/>
                <a:cs typeface="Malgun Gothic"/>
              </a:rPr>
              <a:t>협업 부서 선택</a:t>
            </a:r>
          </a:p>
          <a:p xmlns:a="http://schemas.openxmlformats.org/drawingml/2006/main">
            <a:pPr>
              <a:defRPr sz="1125" b="0">
                <a:solidFill>
                  <a:srgbClr val="65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5748B"/>
                </a:solidFill>
                <a:latin typeface="Malgun Gothic"/>
                <a:ea typeface="Malgun Gothic"/>
                <a:cs typeface="Malgun Gothic"/>
              </a:rPr>
              <a:t>→ 메일 초안 → 발송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3529A7-3030-4BE9-A942-4E6DD71D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809750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FA49C4-7E6E-4268-9374-47F5055A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80975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B66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C1D262-85B4-4712-8B2B-3AF4C298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운영 확인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25463F-B73D-4F8B-8F43-D9DA8CD5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8600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1B66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1B66F"/>
                </a:solidFill>
                <a:latin typeface="Malgun Gothic"/>
                <a:ea typeface="Malgun Gothic"/>
                <a:cs typeface="Malgun Gothic"/>
              </a:rPr>
              <a:t>TRACKING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ED0F5F-C259-45D9-A953-7FB58B99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62250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5748B"/>
                </a:solidFill>
                <a:latin typeface="Malgun Gothic"/>
                <a:ea typeface="Malgun Gothic"/>
                <a:cs typeface="Malgun Gothic"/>
              </a:rPr>
              <a:t>요청 상태를 화면에서</a:t>
            </a:r>
          </a:p>
          <a:p xmlns:a="http://schemas.openxmlformats.org/drawingml/2006/main">
            <a:pPr>
              <a:defRPr sz="1125" b="0">
                <a:solidFill>
                  <a:srgbClr val="65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5748B"/>
                </a:solidFill>
                <a:latin typeface="Malgun Gothic"/>
                <a:ea typeface="Malgun Gothic"/>
                <a:cs typeface="Malgun Gothic"/>
              </a:rPr>
              <a:t>접수·검토·회신으로 추적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22F9D5-D39C-456E-8DE6-54EA38836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52600"/>
            <a:ext cx="26670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06296B"/>
          </a:solidFill>
          <a:ln xmlns:a="http://schemas.openxmlformats.org/drawingml/2006/main" w="9525">
            <a:solidFill>
              <a:srgbClr val="06296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362A5D-E157-4E7F-96E2-04DCAB47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38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다음 단계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CCC8CF-94CA-443E-B766-E402A7C8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71750"/>
            <a:ext cx="200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7F7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E7F7FF"/>
                </a:solidFill>
                <a:latin typeface="Malgun Gothic"/>
                <a:ea typeface="Malgun Gothic"/>
                <a:cs typeface="Malgun Gothic"/>
              </a:rPr>
              <a:t>대표 업무 데이터 확대</a:t>
            </a:r>
          </a:p>
          <a:p xmlns:a="http://schemas.openxmlformats.org/drawingml/2006/main">
            <a:pPr>
              <a:defRPr sz="1350" b="0">
                <a:solidFill>
                  <a:srgbClr val="E7F7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E7F7FF"/>
                </a:solidFill>
                <a:latin typeface="Malgun Gothic"/>
                <a:ea typeface="Malgun Gothic"/>
                <a:cs typeface="Malgun Gothic"/>
              </a:rPr>
              <a:t>검색 정확도 평가</a:t>
            </a:r>
          </a:p>
          <a:p xmlns:a="http://schemas.openxmlformats.org/drawingml/2006/main">
            <a:pPr>
              <a:defRPr sz="1350" b="0">
                <a:solidFill>
                  <a:srgbClr val="E7F7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E7F7FF"/>
                </a:solidFill>
                <a:latin typeface="Malgun Gothic"/>
                <a:ea typeface="Malgun Gothic"/>
                <a:cs typeface="Malgun Gothic"/>
              </a:rPr>
              <a:t>현업 담당자 피드백 반영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925EC3-8993-4757-AC17-78EA9C41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76390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F62D52-546A-411E-B960-178AC56C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73D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B73D1"/>
                </a:solidFill>
                <a:latin typeface="Malgun Gothic"/>
                <a:ea typeface="Malgun Gothic"/>
                <a:cs typeface="Malgun Gothic"/>
              </a:rPr>
              <a:t>핵심 메시지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F999A3-2DCD-485C-9A2C-C02DC60AB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05300"/>
            <a:ext cx="561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지침 검색을 넘어, 근거 있는 협업 요청까지 이어지는 업무 흐름을 구현했습니다.</a:t>
            </a:r>
          </a:p>
        </p:txBody>
      </p:sp>
    </p:spTree>
    <p:extLst>
      <p:ext uri="{BB962C8B-B14F-4D97-AF65-F5344CB8AC3E}">
        <p14:creationId xmlns:p14="http://schemas.microsoft.com/office/powerpoint/2010/main" val="17401357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2026-09-11T05:24:26.3530000Z</dcterms:created>
  <dcterms:modified xsi:type="dcterms:W3CDTF">2026-09-11T05:24:26.3530000Z</dcterms:modified>
</coreProperties>
</file>