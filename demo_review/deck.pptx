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7"/>
  </p:notesMasterIdLst>
  <p:sldIdLst>
    <p:sldId id="256" r:id="rId2"/>
    <p:sldId id="263" r:id="rId3"/>
    <p:sldId id="269" r:id="rId4"/>
    <p:sldId id="273" r:id="rId5"/>
    <p:sldId id="274" r:id="rId6"/>
  </p:sldIdLst>
  <p:sldSz cx="9906000" cy="6858000" type="A4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HY견고딕" panose="02030600000101010101" pitchFamily="18" charset="-127"/>
      <p:regular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7E0"/>
    <a:srgbClr val="EEF3FB"/>
    <a:srgbClr val="719CDF"/>
    <a:srgbClr val="709BDF"/>
    <a:srgbClr val="00CC00"/>
    <a:srgbClr val="0F64C0"/>
    <a:srgbClr val="0000FF"/>
    <a:srgbClr val="2082C8"/>
    <a:srgbClr val="003D9B"/>
    <a:srgbClr val="157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svg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department-workflow-demo.mp4" TargetMode="External"/><Relationship Id="rId10" Type="http://schemas.openxmlformats.org/officeDocument/2006/relationships/image" Target="../media/image29.svg"/><Relationship Id="rId4" Type="http://schemas.openxmlformats.org/officeDocument/2006/relationships/image" Target="../media/image4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83733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62512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69592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93719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키워드</a:t>
            </a:r>
            <a:r>
              <a:rPr lang="en-US" altLang="ko-KR" sz="1400" b="1"/>
              <a:t>, </a:t>
            </a:r>
            <a:r>
              <a:rPr lang="ko-KR" altLang="en-US" sz="1400" b="1"/>
              <a:t>업무 유형 분석            절차</a:t>
            </a:r>
            <a:r>
              <a:rPr lang="en-US" altLang="ko-KR" sz="1400" b="1"/>
              <a:t>,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93719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2478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664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4639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4795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83733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730899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103619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17149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1826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69528" y="1377795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77314" y="1760139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69423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51767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17150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555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5947700"/>
            <a:ext cx="9420639" cy="73578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주요 적용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: Document Loading → Text Splitter → Metadata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구성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→ Embedding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Rag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질의응답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E4B68A-98B1-4B98-8D5F-47110D2D88E7}"/>
              </a:ext>
            </a:extLst>
          </p:cNvPr>
          <p:cNvSpPr/>
          <p:nvPr/>
        </p:nvSpPr>
        <p:spPr>
          <a:xfrm>
            <a:off x="637369" y="6299632"/>
            <a:ext cx="370304" cy="3678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 구현을 위한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적용 시도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C7D09-164C-42A0-A9EC-E9F28CB1F4BC}"/>
              </a:ext>
            </a:extLst>
          </p:cNvPr>
          <p:cNvGrpSpPr/>
          <p:nvPr/>
        </p:nvGrpSpPr>
        <p:grpSpPr>
          <a:xfrm>
            <a:off x="279093" y="1848907"/>
            <a:ext cx="2237155" cy="1889090"/>
            <a:chOff x="319285" y="2441752"/>
            <a:chExt cx="2237155" cy="188909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1F7BC28A-8B0A-4781-A61B-331967B0BBBD}"/>
                </a:ext>
              </a:extLst>
            </p:cNvPr>
            <p:cNvSpPr/>
            <p:nvPr/>
          </p:nvSpPr>
          <p:spPr>
            <a:xfrm>
              <a:off x="319285" y="2441754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39871CD-9C0F-406B-AADC-C37FA842222B}"/>
                </a:ext>
              </a:extLst>
            </p:cNvPr>
            <p:cNvSpPr/>
            <p:nvPr/>
          </p:nvSpPr>
          <p:spPr>
            <a:xfrm>
              <a:off x="319285" y="2441752"/>
              <a:ext cx="2237155" cy="5322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 spc="-100">
                  <a:solidFill>
                    <a:schemeClr val="tx1"/>
                  </a:solidFill>
                  <a:latin typeface="+mn-ea"/>
                </a:rPr>
                <a:t>① 범위 및 대표부서 선정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1CCBB0B-06C8-4214-A6B4-99C649E4A7D4}"/>
              </a:ext>
            </a:extLst>
          </p:cNvPr>
          <p:cNvGrpSpPr/>
          <p:nvPr/>
        </p:nvGrpSpPr>
        <p:grpSpPr>
          <a:xfrm>
            <a:off x="2642487" y="1846298"/>
            <a:ext cx="2237155" cy="1889090"/>
            <a:chOff x="2682679" y="2439143"/>
            <a:chExt cx="2237155" cy="1889090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C69ECFE-782A-40A2-9BA9-888C46599EE9}"/>
                </a:ext>
              </a:extLst>
            </p:cNvPr>
            <p:cNvSpPr/>
            <p:nvPr/>
          </p:nvSpPr>
          <p:spPr>
            <a:xfrm>
              <a:off x="2682679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FF910A5D-2A7F-45DA-9187-7C5766E52393}"/>
                </a:ext>
              </a:extLst>
            </p:cNvPr>
            <p:cNvSpPr/>
            <p:nvPr/>
          </p:nvSpPr>
          <p:spPr>
            <a:xfrm>
              <a:off x="2682679" y="2439143"/>
              <a:ext cx="2237155" cy="532286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② 검증 데이터 확보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EC66B2-BD82-439D-A3F7-973604283240}"/>
              </a:ext>
            </a:extLst>
          </p:cNvPr>
          <p:cNvGrpSpPr/>
          <p:nvPr/>
        </p:nvGrpSpPr>
        <p:grpSpPr>
          <a:xfrm>
            <a:off x="5005881" y="1846298"/>
            <a:ext cx="2237155" cy="1889090"/>
            <a:chOff x="5046073" y="2439143"/>
            <a:chExt cx="2237155" cy="188909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F699BC76-A765-4B9A-89E0-AD0291BC01F0}"/>
                </a:ext>
              </a:extLst>
            </p:cNvPr>
            <p:cNvSpPr/>
            <p:nvPr/>
          </p:nvSpPr>
          <p:spPr>
            <a:xfrm>
              <a:off x="5046073" y="2439145"/>
              <a:ext cx="2237155" cy="1889088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451CED7-4E43-48BE-9EDB-E3F402E72EE1}"/>
                </a:ext>
              </a:extLst>
            </p:cNvPr>
            <p:cNvSpPr/>
            <p:nvPr/>
          </p:nvSpPr>
          <p:spPr>
            <a:xfrm>
              <a:off x="5046073" y="2439143"/>
              <a:ext cx="2237155" cy="53228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③ 대표 질의 선정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32FE20-35DD-4845-A769-99A8F42D59E4}"/>
              </a:ext>
            </a:extLst>
          </p:cNvPr>
          <p:cNvGrpSpPr/>
          <p:nvPr/>
        </p:nvGrpSpPr>
        <p:grpSpPr>
          <a:xfrm>
            <a:off x="7369275" y="1846298"/>
            <a:ext cx="2237155" cy="1889090"/>
            <a:chOff x="7409467" y="2439143"/>
            <a:chExt cx="2237155" cy="1889090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49DDBDF5-E08E-457F-A863-9A7872E1953C}"/>
                </a:ext>
              </a:extLst>
            </p:cNvPr>
            <p:cNvSpPr/>
            <p:nvPr/>
          </p:nvSpPr>
          <p:spPr>
            <a:xfrm>
              <a:off x="7409467" y="2439144"/>
              <a:ext cx="2237155" cy="1889089"/>
            </a:xfrm>
            <a:prstGeom prst="roundRect">
              <a:avLst>
                <a:gd name="adj" fmla="val 5661"/>
              </a:avLst>
            </a:prstGeom>
            <a:solidFill>
              <a:schemeClr val="bg1"/>
            </a:solidFill>
            <a:ln>
              <a:noFill/>
            </a:ln>
            <a:effectLst>
              <a:outerShdw blurRad="228600" dist="50800" dir="5400000" rotWithShape="0">
                <a:srgbClr val="1B2A4A">
                  <a:alpha val="2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AE45B53C-1156-4964-83BB-AB1AAC3ED977}"/>
                </a:ext>
              </a:extLst>
            </p:cNvPr>
            <p:cNvSpPr/>
            <p:nvPr/>
          </p:nvSpPr>
          <p:spPr>
            <a:xfrm>
              <a:off x="7409467" y="2439143"/>
              <a:ext cx="2237155" cy="53228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④ 정확성 검토</a:t>
              </a:r>
              <a:r>
                <a:rPr lang="en-US" altLang="ko-KR" sz="1500" b="1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500" b="1">
                  <a:solidFill>
                    <a:schemeClr val="tx1"/>
                  </a:solidFill>
                  <a:latin typeface="+mn-ea"/>
                </a:rPr>
                <a:t>및 보완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1336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, </a:t>
            </a:r>
            <a:r>
              <a:rPr lang="ko-KR" altLang="en-US" sz="1300"/>
              <a:t>프로세스 등</a:t>
            </a:r>
            <a:r>
              <a:rPr lang="en-US" altLang="ko-KR" sz="1300"/>
              <a:t> </a:t>
            </a:r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회사 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r>
              <a:rPr lang="en-US" altLang="ko-KR" sz="1300"/>
              <a:t>(</a:t>
            </a:r>
            <a:r>
              <a:rPr lang="ko-KR" altLang="en-US" sz="1300"/>
              <a:t>섹션</a:t>
            </a:r>
            <a:r>
              <a:rPr lang="en-US" altLang="ko-KR" sz="1300"/>
              <a:t>, </a:t>
            </a:r>
            <a:r>
              <a:rPr lang="ko-KR" altLang="en-US" sz="1300"/>
              <a:t>팀 제외</a:t>
            </a:r>
            <a:r>
              <a:rPr lang="en-US" altLang="ko-KR" sz="1300"/>
              <a:t>)</a:t>
            </a:r>
          </a:p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업무 특성</a:t>
            </a:r>
            <a:r>
              <a:rPr lang="en-US" altLang="ko-KR" sz="1300"/>
              <a:t>, </a:t>
            </a:r>
            <a:r>
              <a:rPr lang="ko-KR" altLang="en-US" sz="1300"/>
              <a:t>협업빈도 기준 </a:t>
            </a:r>
            <a:endParaRPr lang="en-US" altLang="ko-KR" sz="1300"/>
          </a:p>
          <a:p>
            <a:pPr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대표부서 선정 </a:t>
            </a:r>
            <a:r>
              <a:rPr lang="en-US" altLang="ko-KR" sz="1300"/>
              <a:t>(10 </a:t>
            </a:r>
            <a:r>
              <a:rPr lang="ko-KR" altLang="en-US" sz="1300"/>
              <a:t>→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673600"/>
            <a:ext cx="2416771" cy="884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관련 지침</a:t>
            </a:r>
            <a:r>
              <a:rPr lang="en-US" altLang="ko-KR" sz="1300"/>
              <a:t>, </a:t>
            </a:r>
            <a:r>
              <a:rPr lang="ko-KR" altLang="en-US" sz="1300"/>
              <a:t>조직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/>
              <a:t>정보 수집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673600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96953"/>
            <a:ext cx="2363750" cy="1213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서비스 정확도 개선</a:t>
            </a:r>
            <a:endParaRPr lang="en-US" altLang="ko-KR" sz="1300" spc="-1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100">
                <a:latin typeface="+mn-ea"/>
              </a:rPr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투자〮회계</a:t>
            </a:r>
            <a:r>
              <a:rPr lang="en-US" altLang="ko-KR" sz="1300" spc="-40">
                <a:latin typeface="+mn-ea"/>
              </a:rPr>
              <a:t> 9</a:t>
            </a:r>
            <a:r>
              <a:rPr lang="ko-KR" altLang="en-US" sz="1300" spc="-40"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stCxn id="28" idx="2"/>
            <a:endCxn id="26" idx="2"/>
          </p:cNvCxnSpPr>
          <p:nvPr/>
        </p:nvCxnSpPr>
        <p:spPr>
          <a:xfrm rot="5400000">
            <a:off x="7306156" y="2553691"/>
            <a:ext cx="12700" cy="2363394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F2CCD23-797B-42D2-8D72-34A900E4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16640"/>
              </p:ext>
            </p:extLst>
          </p:nvPr>
        </p:nvGraphicFramePr>
        <p:xfrm>
          <a:off x="300351" y="4143587"/>
          <a:ext cx="9306079" cy="1567394"/>
        </p:xfrm>
        <a:graphic>
          <a:graphicData uri="http://schemas.openxmlformats.org/drawingml/2006/table">
            <a:tbl>
              <a:tblPr/>
              <a:tblGrid>
                <a:gridCol w="908543">
                  <a:extLst>
                    <a:ext uri="{9D8B030D-6E8A-4147-A177-3AD203B41FA5}">
                      <a16:colId xmlns:a16="http://schemas.microsoft.com/office/drawing/2014/main" val="1870208288"/>
                    </a:ext>
                  </a:extLst>
                </a:gridCol>
                <a:gridCol w="4142424">
                  <a:extLst>
                    <a:ext uri="{9D8B030D-6E8A-4147-A177-3AD203B41FA5}">
                      <a16:colId xmlns:a16="http://schemas.microsoft.com/office/drawing/2014/main" val="3900199093"/>
                    </a:ext>
                  </a:extLst>
                </a:gridCol>
                <a:gridCol w="4255112">
                  <a:extLst>
                    <a:ext uri="{9D8B030D-6E8A-4147-A177-3AD203B41FA5}">
                      <a16:colId xmlns:a16="http://schemas.microsoft.com/office/drawing/2014/main" val="2961036538"/>
                    </a:ext>
                  </a:extLst>
                </a:gridCol>
              </a:tblGrid>
              <a:tr h="29883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1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기반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주차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2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서버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LangChain </a:t>
                      </a: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17267"/>
                  </a:ext>
                </a:extLst>
              </a:tr>
              <a:tr h="268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이해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문장의 키워드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 매칭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/>
                        <a:t>Embedding</a:t>
                      </a:r>
                      <a:r>
                        <a:rPr lang="ko-KR" altLang="en-US" sz="1300"/>
                        <a:t>을 활용한 질문의 의미 기반 검색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6399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검색 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사전에 정의한 규칙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점수로 부서 탐색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의미와 유사한 관련 지침 검색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94852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데이터 활용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미리 정해진 로직에 따라 결과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Metadata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활용한 부서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〮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출처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검색결과 답변 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148958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규칙에 설정된 추천 결과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사유 제공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검색 근거 바탕으로 주관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협업 부서와 추천 이유 제시</a:t>
                      </a: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2129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</a:p>
                  </a:txBody>
                  <a:tcPr marL="7150" marR="7150" marT="71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 동작하게 만들기</a:t>
                      </a:r>
                      <a:r>
                        <a:rPr lang="en-US" altLang="ko-KR" sz="1300" b="0" i="0" u="none" strike="noStrike" spc="-4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1300" b="0" i="0" u="none" strike="noStrike" spc="-40" baseline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학습한 </a:t>
                      </a:r>
                      <a:r>
                        <a:rPr lang="en-US" altLang="ko-KR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3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개념을 적용한 구조적 고도화</a:t>
                      </a:r>
                      <a:r>
                        <a:rPr lang="en-US" altLang="ko-KR" sz="1300" b="1" i="0" u="none" strike="noStrike" spc="-40" baseline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“</a:t>
                      </a:r>
                      <a:endParaRPr lang="ko-KR" altLang="en-US" sz="1300" b="1" i="0" u="none" strike="noStrike" spc="-40" baseline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150" marR="7150" marT="71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7281377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99610E-E518-491C-8E63-ADD98AA18941}"/>
              </a:ext>
            </a:extLst>
          </p:cNvPr>
          <p:cNvSpPr/>
          <p:nvPr/>
        </p:nvSpPr>
        <p:spPr>
          <a:xfrm>
            <a:off x="310742" y="5992996"/>
            <a:ext cx="111632" cy="638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1A7A-7924-44F7-8CF1-FEEC52933EEC}"/>
              </a:ext>
            </a:extLst>
          </p:cNvPr>
          <p:cNvSpPr txBox="1"/>
          <p:nvPr/>
        </p:nvSpPr>
        <p:spPr>
          <a:xfrm>
            <a:off x="976744" y="6342024"/>
            <a:ext cx="816140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정확도 검증은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투자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공사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재무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·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회계 업무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(9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개 부서</a:t>
            </a:r>
            <a:r>
              <a:rPr lang="en-US" altLang="ko-KR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1500" b="1">
                <a:solidFill>
                  <a:schemeClr val="tx1">
                    <a:lumMod val="95000"/>
                    <a:lumOff val="5000"/>
                  </a:schemeClr>
                </a:solidFill>
              </a:rPr>
              <a:t>중심</a:t>
            </a:r>
            <a:r>
              <a:rPr lang="ko-KR" altLang="en-US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으로 우선 진행</a:t>
            </a:r>
          </a:p>
        </p:txBody>
      </p:sp>
      <p:pic>
        <p:nvPicPr>
          <p:cNvPr id="20" name="그래픽 19" descr="느낌표 단색으로 채워진">
            <a:extLst>
              <a:ext uri="{FF2B5EF4-FFF2-40B4-BE49-F238E27FC236}">
                <a16:creationId xmlns:a16="http://schemas.microsoft.com/office/drawing/2014/main" id="{AAAE69F0-C1CB-4EAC-8625-E1A7C2D27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275" y="6323331"/>
            <a:ext cx="320492" cy="320492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29243" y="3810987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603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(3/4)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절차〮부서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405774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6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418221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418221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709182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33299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712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56287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274537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70094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2/9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질문대응 거부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70984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이메일 수신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91765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</a:rPr>
              <a:t>수작업 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5" y="6297716"/>
            <a:ext cx="16707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할루시네이션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83169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8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764791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3874780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(4/4)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13299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16991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561113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206252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206252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206252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710123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E941C6-F195-4AD3-A77C-CF50ED01D45B}"/>
              </a:ext>
            </a:extLst>
          </p:cNvPr>
          <p:cNvSpPr txBox="1"/>
          <p:nvPr/>
        </p:nvSpPr>
        <p:spPr>
          <a:xfrm>
            <a:off x="3603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검색 결과의 정확성과 화면 사용성 개선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710123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과제제안자와 실제 담당자 대상 소규모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722681-AF6A-4617-8FFF-3A4DA9F3990E}"/>
              </a:ext>
            </a:extLst>
          </p:cNvPr>
          <p:cNvSpPr txBox="1"/>
          <p:nvPr/>
        </p:nvSpPr>
        <p:spPr>
          <a:xfrm>
            <a:off x="3332141" y="5142038"/>
            <a:ext cx="34496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시범 대상 업무의 문서 및 용어 기준 정리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710123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16B1D5F-06A3-4A12-9C30-F1563EA41284}"/>
              </a:ext>
            </a:extLst>
          </p:cNvPr>
          <p:cNvSpPr txBox="1"/>
          <p:nvPr/>
        </p:nvSpPr>
        <p:spPr>
          <a:xfrm>
            <a:off x="6868888" y="514203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데이터 관리 및 최신화 체계 검토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588351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208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712246"/>
            <a:ext cx="4568663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</a:t>
            </a:r>
            <a:r>
              <a:rPr lang="ko-KR" altLang="en-US" sz="1400">
                <a:latin typeface="+mn-ea"/>
              </a:rPr>
              <a:t>랭체인</a:t>
            </a:r>
            <a:r>
              <a:rPr lang="en-US" altLang="ko-KR" sz="1400">
                <a:latin typeface="+mn-ea"/>
              </a:rPr>
              <a:t>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학습한 개념을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데이터와 검색 결과를 검증하며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구동방식 이해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712246"/>
            <a:ext cx="4568663" cy="1682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 기반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다양한 업무 상황에 대한 추천 정확성 확인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</a:t>
            </a:r>
            <a:r>
              <a:rPr lang="ko-KR" altLang="en-US" sz="1400">
                <a:latin typeface="+mn-ea"/>
              </a:rPr>
              <a:t>와 검색 품질에 대한 추가 학습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담당자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99603893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849</Words>
  <Application>Microsoft Office PowerPoint</Application>
  <DocSecurity>0</DocSecurity>
  <PresentationFormat>A4 용지(210x297mm)</PresentationFormat>
  <Paragraphs>139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Calibri</vt:lpstr>
      <vt:lpstr>Wingdings</vt:lpstr>
      <vt:lpstr>HY견고딕</vt:lpstr>
      <vt:lpstr>맑은 고딕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186</cp:revision>
  <dcterms:created xsi:type="dcterms:W3CDTF">2026-09-04T08:20:33Z</dcterms:created>
  <dcterms:modified xsi:type="dcterms:W3CDTF">2026-09-11T02:11:49Z</dcterms:modified>
</cp:coreProperties>
</file>